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1"/>
  </p:notesMasterIdLst>
  <p:sldIdLst>
    <p:sldId id="1004" r:id="rId2"/>
    <p:sldId id="257" r:id="rId3"/>
    <p:sldId id="1323" r:id="rId4"/>
    <p:sldId id="1314" r:id="rId5"/>
    <p:sldId id="1263" r:id="rId6"/>
    <p:sldId id="672" r:id="rId7"/>
    <p:sldId id="1320" r:id="rId8"/>
    <p:sldId id="1269" r:id="rId9"/>
    <p:sldId id="1265" r:id="rId10"/>
    <p:sldId id="1321" r:id="rId11"/>
    <p:sldId id="1324" r:id="rId12"/>
    <p:sldId id="1322" r:id="rId13"/>
    <p:sldId id="1325" r:id="rId14"/>
    <p:sldId id="1326" r:id="rId15"/>
    <p:sldId id="1327" r:id="rId16"/>
    <p:sldId id="1328" r:id="rId17"/>
    <p:sldId id="1329" r:id="rId18"/>
    <p:sldId id="1356" r:id="rId19"/>
    <p:sldId id="1330" r:id="rId20"/>
    <p:sldId id="1331" r:id="rId21"/>
    <p:sldId id="1332" r:id="rId22"/>
    <p:sldId id="1334" r:id="rId23"/>
    <p:sldId id="1333" r:id="rId24"/>
    <p:sldId id="1335" r:id="rId25"/>
    <p:sldId id="1336" r:id="rId26"/>
    <p:sldId id="1342" r:id="rId27"/>
    <p:sldId id="1345" r:id="rId28"/>
    <p:sldId id="1346" r:id="rId29"/>
    <p:sldId id="1341" r:id="rId30"/>
    <p:sldId id="1344" r:id="rId31"/>
    <p:sldId id="1337" r:id="rId32"/>
    <p:sldId id="1340" r:id="rId33"/>
    <p:sldId id="1343" r:id="rId34"/>
    <p:sldId id="694" r:id="rId35"/>
    <p:sldId id="704" r:id="rId36"/>
    <p:sldId id="1347" r:id="rId37"/>
    <p:sldId id="1348" r:id="rId38"/>
    <p:sldId id="1349" r:id="rId39"/>
    <p:sldId id="703" r:id="rId40"/>
    <p:sldId id="1350" r:id="rId41"/>
    <p:sldId id="1351" r:id="rId42"/>
    <p:sldId id="1357" r:id="rId43"/>
    <p:sldId id="1352" r:id="rId44"/>
    <p:sldId id="1353" r:id="rId45"/>
    <p:sldId id="1358" r:id="rId46"/>
    <p:sldId id="1354" r:id="rId47"/>
    <p:sldId id="1355" r:id="rId48"/>
    <p:sldId id="706" r:id="rId49"/>
    <p:sldId id="813" r:id="rId50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2"/>
    </p:embeddedFont>
    <p:embeddedFont>
      <p:font typeface="Kim jung chul Gothic Regular" panose="020B0503000000000000" pitchFamily="50" charset="-127"/>
      <p:regular r:id="rId53"/>
    </p:embeddedFont>
    <p:embeddedFont>
      <p:font typeface="Pretendard Black" panose="02000A03000000020004" pitchFamily="2" charset="-127"/>
      <p:bold r:id="rId54"/>
    </p:embeddedFont>
    <p:embeddedFont>
      <p:font typeface="Pretendard Light" panose="02000403000000020004" pitchFamily="2" charset="-127"/>
      <p:regular r:id="rId55"/>
    </p:embeddedFont>
    <p:embeddedFont>
      <p:font typeface="Pretendard Medium" panose="02000603000000020004" pitchFamily="2" charset="-127"/>
      <p:regular r:id="rId56"/>
    </p:embeddedFont>
    <p:embeddedFont>
      <p:font typeface="메이플스토리" panose="02000300000000000000" pitchFamily="2" charset="-127"/>
      <p:regular r:id="rId57"/>
      <p:bold r:id="rId5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99B2-FFA8-624E-4A9A-D96FC5D0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6B2D5-B0CF-A8FF-A111-97C973F31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7975B-0D64-9F66-B6A6-FCC74C89F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99EB3E-84B1-67B2-C6BE-B6CFF582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52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matplotlib.org/stable/content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F493BE6-F4FB-63E0-6D09-F15719C841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B8AEBF07-C084-BB3E-32BC-C7952D6EB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A901D5E-7040-2314-8408-78BC92DA48F0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B36952-C500-4117-3083-4907D93CC759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346B09C-549D-61B2-813B-66B6A9FDC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4309326-6183-8D54-611C-FB58C7DDF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22B32AD8-B751-51F6-DB9E-BE4001581092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B3EAD61-1F5F-5883-CC64-CC35B85315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3567" y="2600493"/>
            <a:ext cx="4584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시각화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5422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데이터를 시각적 요소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차트 등</a:t>
            </a:r>
            <a:r>
              <a:rPr lang="en-US" altLang="ko-KR" dirty="0"/>
              <a:t>)</a:t>
            </a:r>
            <a:r>
              <a:rPr lang="ko-KR" altLang="en-US" dirty="0"/>
              <a:t>로 표현하여 정보를 명확하고 효과적으로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전달하는 과정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25F1C1F-63F7-25FE-FAD0-266C23F2B910}"/>
              </a:ext>
            </a:extLst>
          </p:cNvPr>
          <p:cNvGrpSpPr/>
          <p:nvPr/>
        </p:nvGrpSpPr>
        <p:grpSpPr>
          <a:xfrm>
            <a:off x="2819400" y="2519365"/>
            <a:ext cx="6553200" cy="3655329"/>
            <a:chOff x="2819400" y="2510971"/>
            <a:chExt cx="6553200" cy="3655329"/>
          </a:xfrm>
        </p:grpSpPr>
        <p:pic>
          <p:nvPicPr>
            <p:cNvPr id="1026" name="Picture 2" descr="데이터 시각화(Data visualization)란? - 알테어 블로그">
              <a:extLst>
                <a:ext uri="{FF2B5EF4-FFF2-40B4-BE49-F238E27FC236}">
                  <a16:creationId xmlns:a16="http://schemas.microsoft.com/office/drawing/2014/main" id="{65BF0BEA-587C-999B-A9DB-2553A5079F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510971"/>
              <a:ext cx="65532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D6E41A-0984-810D-0C67-F755D8BBD069}"/>
                </a:ext>
              </a:extLst>
            </p:cNvPr>
            <p:cNvSpPr txBox="1"/>
            <p:nvPr/>
          </p:nvSpPr>
          <p:spPr>
            <a:xfrm>
              <a:off x="4558572" y="5889301"/>
              <a:ext cx="30620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https://blog.altair.co.kr/69196/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필요성과 목적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0997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데이터 시각화의 필요성과 목적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데이터의 의미를 한눈에 파악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숫자나 표 형태의 데이터는 인간이 직관적으로 이해하기 어려움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시각화를 통해 데이터의 경향</a:t>
            </a:r>
            <a:r>
              <a:rPr lang="en-US" altLang="ko-KR" sz="1800" dirty="0"/>
              <a:t>, </a:t>
            </a:r>
            <a:r>
              <a:rPr lang="ko-KR" altLang="en-US" sz="1800" dirty="0"/>
              <a:t>패턴</a:t>
            </a:r>
            <a:r>
              <a:rPr lang="en-US" altLang="ko-KR" sz="1800" dirty="0"/>
              <a:t>, </a:t>
            </a:r>
            <a:r>
              <a:rPr lang="ko-KR" altLang="en-US" sz="1800" dirty="0"/>
              <a:t>이상치</a:t>
            </a:r>
            <a:r>
              <a:rPr lang="en-US" altLang="ko-KR" sz="1800" dirty="0"/>
              <a:t>(Outlier) </a:t>
            </a:r>
            <a:r>
              <a:rPr lang="ko-KR" altLang="en-US" sz="1800" dirty="0"/>
              <a:t>등을 빠르게 파악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의사결정 지원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분석 결과를 시각적으로 제시하여 이해관계자</a:t>
            </a:r>
            <a:r>
              <a:rPr lang="en-US" altLang="ko-KR" sz="1800" dirty="0"/>
              <a:t>(</a:t>
            </a:r>
            <a:r>
              <a:rPr lang="ko-KR" altLang="en-US" sz="1800" dirty="0"/>
              <a:t>팀</a:t>
            </a:r>
            <a:r>
              <a:rPr lang="en-US" altLang="ko-KR" sz="1800" dirty="0"/>
              <a:t>, </a:t>
            </a:r>
            <a:r>
              <a:rPr lang="ko-KR" altLang="en-US" sz="1800" dirty="0"/>
              <a:t>경영진 등</a:t>
            </a:r>
            <a:r>
              <a:rPr lang="en-US" altLang="ko-KR" sz="1800" dirty="0"/>
              <a:t>)</a:t>
            </a:r>
            <a:r>
              <a:rPr lang="ko-KR" altLang="en-US" sz="1800" dirty="0"/>
              <a:t>의 빠르고 정확한 의사결정 지원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소통과 설득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복잡한 정보를 간단명료하게 전달하여 소통의 효율성 및 설득력 증대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패턴 및 트렌드 발견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 err="1"/>
              <a:t>시각화된</a:t>
            </a:r>
            <a:r>
              <a:rPr lang="ko-KR" altLang="en-US" sz="1800" dirty="0"/>
              <a:t> 데이터를 통해 시간의 흐름에 따른 변화</a:t>
            </a:r>
            <a:r>
              <a:rPr lang="en-US" altLang="ko-KR" sz="1800" dirty="0"/>
              <a:t>, </a:t>
            </a:r>
            <a:r>
              <a:rPr lang="ko-KR" altLang="en-US" sz="1800" dirty="0"/>
              <a:t>비교</a:t>
            </a:r>
            <a:r>
              <a:rPr lang="en-US" altLang="ko-KR" sz="1800" dirty="0"/>
              <a:t>, </a:t>
            </a:r>
            <a:r>
              <a:rPr lang="ko-KR" altLang="en-US" sz="1800" dirty="0"/>
              <a:t>분포 등을 쉽게 발견 가능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파이썬에서</a:t>
            </a:r>
            <a:r>
              <a:rPr lang="ko-KR" altLang="en-US" dirty="0"/>
              <a:t> 가장 널리 사용되는 데이터 시각화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/>
              <a:t>Matplotlib = MATLAB + plotting + library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“MATLAB </a:t>
            </a:r>
            <a:r>
              <a:rPr lang="ko-KR" altLang="en-US" dirty="0"/>
              <a:t>스타일의 </a:t>
            </a:r>
            <a:r>
              <a:rPr lang="ko-KR" altLang="en-US" dirty="0" err="1"/>
              <a:t>플로팅</a:t>
            </a:r>
            <a:r>
              <a:rPr lang="ko-KR" altLang="en-US" dirty="0"/>
              <a:t> </a:t>
            </a:r>
            <a:r>
              <a:rPr lang="ko-KR" altLang="en-US" dirty="0" err="1"/>
              <a:t>라이브러리”라는</a:t>
            </a:r>
            <a:r>
              <a:rPr lang="ko-KR" altLang="en-US" dirty="0"/>
              <a:t> 의미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62DC5207-B95E-F877-8A48-C3463FBCC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형태의 그래프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애니메이션</a:t>
            </a:r>
            <a:r>
              <a:rPr lang="en-US" altLang="ko-KR" dirty="0"/>
              <a:t>, </a:t>
            </a:r>
            <a:r>
              <a:rPr lang="ko-KR" altLang="en-US" dirty="0"/>
              <a:t>인터랙티브 플롯 지원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세밀한 커스터마이즈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출력 포맷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NumPy</a:t>
            </a:r>
            <a:r>
              <a:rPr lang="ko-KR" altLang="en-US" dirty="0"/>
              <a:t>와 긴밀한 호환성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D3B7917-B050-1CAB-04FD-B6A90FCD5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https://matplotlib.org/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전체 문서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https://matplotlib.org/stable/contents.html</a:t>
            </a:r>
            <a:r>
              <a:rPr lang="en-US" altLang="ko-KR" sz="2400" dirty="0"/>
              <a:t> 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AD5DACA-7922-3219-92C3-C04244851A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C1D0EA-58FE-7073-F174-795A5E253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50863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372D7E-93B2-6385-8A6D-1E70E3D6D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145407"/>
            <a:ext cx="87439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pyplot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pyplot</a:t>
            </a:r>
            <a:r>
              <a:rPr lang="ko-KR" altLang="en-US" dirty="0"/>
              <a:t>은 </a:t>
            </a:r>
            <a:r>
              <a:rPr lang="en-US" altLang="ko-KR" dirty="0"/>
              <a:t>Matplotlib</a:t>
            </a:r>
            <a:r>
              <a:rPr lang="ko-KR" altLang="en-US" dirty="0"/>
              <a:t>에서 가장 많이 사용하는 서브패키지로</a:t>
            </a:r>
            <a:r>
              <a:rPr lang="en-US" altLang="ko-KR" dirty="0"/>
              <a:t>, </a:t>
            </a:r>
            <a:r>
              <a:rPr lang="ko-KR" altLang="en-US" dirty="0"/>
              <a:t>간단한 명령으로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그래프를 빠르게 생성할 수 있도록 함수 기반 인터페이스를 제공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FE5845-3165-730A-C957-8DA8037533AD}"/>
              </a:ext>
            </a:extLst>
          </p:cNvPr>
          <p:cNvSpPr/>
          <p:nvPr/>
        </p:nvSpPr>
        <p:spPr>
          <a:xfrm>
            <a:off x="886229" y="3273744"/>
            <a:ext cx="10406743" cy="2401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collection of functions that make Matplotlib work like MATLAB. 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Each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function makes some change to a figure: e.g., creates a figure, creates a plotting area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 a figure, plots some lines in a plotting area, decorates the plot with labels, etc."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7B70-DBBA-7F8E-C2AF-4F70216C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958E26-A3CB-1F5E-A9DE-0E22BEC4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9783E70-0328-9B24-5C1A-9CAE829047A1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8310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plot() </a:t>
            </a:r>
            <a:r>
              <a:rPr lang="ko-KR" altLang="en-US" dirty="0"/>
              <a:t>함수 </a:t>
            </a:r>
            <a:r>
              <a:rPr lang="en-US" altLang="ko-KR" dirty="0"/>
              <a:t>: x</a:t>
            </a:r>
            <a:r>
              <a:rPr lang="ko-KR" altLang="en-US" dirty="0"/>
              <a:t>와 </a:t>
            </a:r>
            <a:r>
              <a:rPr lang="en-US" altLang="ko-KR" dirty="0"/>
              <a:t>y </a:t>
            </a:r>
            <a:r>
              <a:rPr lang="ko-KR" altLang="en-US" dirty="0"/>
              <a:t>데이터를 선 또는 마커 형태로 그래프에 그리는 함수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F5FF2D-D978-1679-1B14-A47DDF6EDEB4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plot() function plots y versus x as lines and/or markers.”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58626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B9E9-EB0B-0983-22CE-9DBD8761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AD60A4-E8F2-519D-7D1E-441F837A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5BCD9-6381-06DA-977D-D310D200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8" t="21519" r="9986" b="21711"/>
          <a:stretch>
            <a:fillRect/>
          </a:stretch>
        </p:blipFill>
        <p:spPr>
          <a:xfrm>
            <a:off x="2600324" y="2020570"/>
            <a:ext cx="6991351" cy="24549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086A0-8538-0DDA-80F6-2969D7E3682D}"/>
              </a:ext>
            </a:extLst>
          </p:cNvPr>
          <p:cNvSpPr txBox="1"/>
          <p:nvPr/>
        </p:nvSpPr>
        <p:spPr>
          <a:xfrm>
            <a:off x="2463402" y="139558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사용법</a:t>
            </a:r>
            <a:endParaRPr lang="en-US" altLang="ko-KR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6F264-A1AB-4DD6-F47E-7AE3AA90F176}"/>
              </a:ext>
            </a:extLst>
          </p:cNvPr>
          <p:cNvSpPr txBox="1"/>
          <p:nvPr/>
        </p:nvSpPr>
        <p:spPr>
          <a:xfrm>
            <a:off x="2600324" y="4475480"/>
            <a:ext cx="635873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불러와서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대응하는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sz="2000" dirty="0"/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그래프를 그림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2C596-E42E-F14D-0827-0272741625BA}"/>
              </a:ext>
            </a:extLst>
          </p:cNvPr>
          <p:cNvSpPr/>
          <p:nvPr/>
        </p:nvSpPr>
        <p:spPr>
          <a:xfrm>
            <a:off x="7024007" y="3058784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963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E402-F8ED-EC58-15E2-434FDC59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E675F7F-6A32-3D5C-7711-DAFCFDFC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9653A-263C-FF0D-4597-FF0A6C6FA77A}"/>
              </a:ext>
            </a:extLst>
          </p:cNvPr>
          <p:cNvSpPr txBox="1"/>
          <p:nvPr/>
        </p:nvSpPr>
        <p:spPr>
          <a:xfrm>
            <a:off x="887336" y="143548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7EDF7-229F-021E-B248-B35D0B48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" t="16184" r="7606" b="15982"/>
          <a:stretch>
            <a:fillRect/>
          </a:stretch>
        </p:blipFill>
        <p:spPr>
          <a:xfrm>
            <a:off x="1016828" y="2053275"/>
            <a:ext cx="7906187" cy="31892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FD021F-8B32-85B7-B461-FAFBC173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869" y="2292674"/>
            <a:ext cx="3566795" cy="2710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EA409-03C4-2400-D79E-412D56B01497}"/>
              </a:ext>
            </a:extLst>
          </p:cNvPr>
          <p:cNvSpPr txBox="1"/>
          <p:nvPr/>
        </p:nvSpPr>
        <p:spPr>
          <a:xfrm>
            <a:off x="887336" y="524248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plt.show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 창을 화면에 표시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4681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B7D3-306F-5C89-D8C4-05098C1B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30AA10F-6194-4395-7CB8-81939969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20EA912-7C2C-8C1F-C924-D59187AA61E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show()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현재까지 그려진 모든 그래프를 화면에 출력함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savefig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현재 그려진 그래프를 이미지 파일로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121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C454-4FC4-F74C-BF8E-93A4F4F1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6777499-87E7-2C08-1EAD-40294103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29A1E-65E2-2164-BB75-022C79320510}"/>
              </a:ext>
            </a:extLst>
          </p:cNvPr>
          <p:cNvSpPr txBox="1"/>
          <p:nvPr/>
        </p:nvSpPr>
        <p:spPr>
          <a:xfrm>
            <a:off x="2848997" y="114540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9CECB4-861C-28C1-0BFD-4D960F170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7" t="15376" r="9868" b="15440"/>
          <a:stretch>
            <a:fillRect/>
          </a:stretch>
        </p:blipFill>
        <p:spPr>
          <a:xfrm>
            <a:off x="2985477" y="1755102"/>
            <a:ext cx="6221046" cy="376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6FAAE-79D7-5D6C-90A1-C316DFF4C968}"/>
              </a:ext>
            </a:extLst>
          </p:cNvPr>
          <p:cNvSpPr txBox="1"/>
          <p:nvPr/>
        </p:nvSpPr>
        <p:spPr>
          <a:xfrm>
            <a:off x="2916633" y="5521022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확장자에 따라 다양한 포맷 지원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jpg,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svg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75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052B-E9D5-3B1F-6022-D599B70B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B41505-AAF5-904C-B1DB-94E87DA6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4123"/>
            <a:ext cx="12192000" cy="3304965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AF821-6E4D-36BF-BDAE-1276007DC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7383"/>
            <a:ext cx="12192000" cy="33049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C33DD6-A79D-A1C2-E696-7305D58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한글 깨짐 방지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BD231-5F81-6300-F519-954FF9D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58AC66-D4F1-D928-3719-8F5CE483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F11AE-0403-7054-E518-FA4ACACBC0E2}"/>
              </a:ext>
            </a:extLst>
          </p:cNvPr>
          <p:cNvSpPr txBox="1"/>
          <p:nvPr/>
        </p:nvSpPr>
        <p:spPr>
          <a:xfrm>
            <a:off x="577452" y="102210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</a:t>
            </a:r>
            <a:r>
              <a:rPr lang="ko-KR" altLang="en-US" sz="2400" dirty="0"/>
              <a:t>윈도우</a:t>
            </a:r>
            <a:r>
              <a:rPr lang="en-US" altLang="ko-KR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0F7A-0951-86D4-7743-A11F4D212992}"/>
              </a:ext>
            </a:extLst>
          </p:cNvPr>
          <p:cNvSpPr txBox="1"/>
          <p:nvPr/>
        </p:nvSpPr>
        <p:spPr>
          <a:xfrm>
            <a:off x="577452" y="36327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(Mac)</a:t>
            </a:r>
          </a:p>
        </p:txBody>
      </p:sp>
    </p:spTree>
    <p:extLst>
      <p:ext uri="{BB962C8B-B14F-4D97-AF65-F5344CB8AC3E}">
        <p14:creationId xmlns:p14="http://schemas.microsoft.com/office/powerpoint/2010/main" val="92943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764D-5A39-E3ED-EBB7-397878D1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23C86-A02E-CEE3-503A-5256B67E9843}"/>
              </a:ext>
            </a:extLst>
          </p:cNvPr>
          <p:cNvSpPr txBox="1"/>
          <p:nvPr/>
        </p:nvSpPr>
        <p:spPr>
          <a:xfrm>
            <a:off x="2826539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그래프의 구성 요소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78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0505-1E09-831A-B5A7-20FB1302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092F9FA-1846-1B95-9A5A-2C69DC9D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3D5DEB2-D8C6-EEC9-C676-78321B3CF2E6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1263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 </a:t>
            </a:r>
            <a:r>
              <a:rPr lang="en-US" altLang="ko-KR" dirty="0"/>
              <a:t>Figure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모든 그래프</a:t>
            </a:r>
            <a:r>
              <a:rPr lang="en-US" altLang="ko-KR" dirty="0"/>
              <a:t>(</a:t>
            </a:r>
            <a:r>
              <a:rPr lang="ko-KR" altLang="en-US" dirty="0"/>
              <a:t>도표</a:t>
            </a:r>
            <a:r>
              <a:rPr lang="en-US" altLang="ko-KR" dirty="0"/>
              <a:t>)</a:t>
            </a:r>
            <a:r>
              <a:rPr lang="ko-KR" altLang="en-US" dirty="0"/>
              <a:t>를 담고 있는 최상위 컨테이너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</a:t>
            </a:r>
            <a:r>
              <a:rPr lang="en-US" altLang="ko-KR" dirty="0"/>
              <a:t>Figure </a:t>
            </a:r>
            <a:r>
              <a:rPr lang="ko-KR" altLang="en-US" dirty="0"/>
              <a:t>안에는 여러 개의 </a:t>
            </a:r>
            <a:r>
              <a:rPr lang="en-US" altLang="ko-KR" dirty="0"/>
              <a:t>Axes(</a:t>
            </a:r>
            <a:r>
              <a:rPr lang="ko-KR" altLang="en-US" dirty="0"/>
              <a:t>좌표축 영역</a:t>
            </a:r>
            <a:r>
              <a:rPr lang="en-US" altLang="ko-KR" dirty="0"/>
              <a:t>, subplot)</a:t>
            </a:r>
            <a:r>
              <a:rPr lang="ko-KR" altLang="en-US" dirty="0"/>
              <a:t>가 포함될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Axes</a:t>
            </a:r>
            <a:r>
              <a:rPr lang="ko-KR" altLang="en-US" dirty="0"/>
              <a:t>는 실제로 데이터가 그려지는 영역</a:t>
            </a:r>
            <a:r>
              <a:rPr lang="en-US" altLang="ko-KR" dirty="0"/>
              <a:t>.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(2D), </a:t>
            </a:r>
            <a:r>
              <a:rPr lang="ko-KR" altLang="en-US" dirty="0"/>
              <a:t>또는 </a:t>
            </a:r>
            <a:r>
              <a:rPr lang="en-US" altLang="ko-KR" dirty="0"/>
              <a:t>x, y, z</a:t>
            </a:r>
            <a:r>
              <a:rPr lang="ko-KR" altLang="en-US" dirty="0"/>
              <a:t>축</a:t>
            </a:r>
            <a:r>
              <a:rPr lang="en-US" altLang="ko-KR" dirty="0"/>
              <a:t>(3D)</a:t>
            </a:r>
            <a:r>
              <a:rPr lang="ko-KR" altLang="en-US" dirty="0"/>
              <a:t>을 가질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</a:t>
            </a:r>
            <a:r>
              <a:rPr lang="ko-KR" altLang="en-US" dirty="0"/>
              <a:t>는 </a:t>
            </a:r>
            <a:r>
              <a:rPr lang="en-US" altLang="ko-KR" dirty="0"/>
              <a:t>Axes </a:t>
            </a:r>
            <a:r>
              <a:rPr lang="ko-KR" altLang="en-US" dirty="0"/>
              <a:t>안에 있는 실제 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축은 눈금</a:t>
            </a:r>
            <a:r>
              <a:rPr lang="en-US" altLang="ko-KR" dirty="0"/>
              <a:t>, </a:t>
            </a:r>
            <a:r>
              <a:rPr lang="ko-KR" altLang="en-US" dirty="0"/>
              <a:t>레이블</a:t>
            </a:r>
            <a:r>
              <a:rPr lang="en-US" altLang="ko-KR" dirty="0"/>
              <a:t>, </a:t>
            </a:r>
            <a:r>
              <a:rPr lang="ko-KR" altLang="en-US" dirty="0"/>
              <a:t>눈금선</a:t>
            </a:r>
            <a:r>
              <a:rPr lang="en-US" altLang="ko-KR" dirty="0"/>
              <a:t>, </a:t>
            </a:r>
            <a:r>
              <a:rPr lang="ko-KR" altLang="en-US" dirty="0"/>
              <a:t>그리드</a:t>
            </a:r>
            <a:r>
              <a:rPr lang="en-US" altLang="ko-KR" dirty="0"/>
              <a:t> </a:t>
            </a:r>
            <a:r>
              <a:rPr lang="ko-KR" altLang="en-US" dirty="0"/>
              <a:t>등 다양한 속성을 가짐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089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7CDD-A223-9D9E-DB33-D0C143FD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326D35-0CC0-A541-D1AF-1A3051D0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186CD-D776-89EC-1784-9C8BC7A1AC14}"/>
              </a:ext>
            </a:extLst>
          </p:cNvPr>
          <p:cNvGrpSpPr/>
          <p:nvPr/>
        </p:nvGrpSpPr>
        <p:grpSpPr>
          <a:xfrm>
            <a:off x="2676525" y="1398912"/>
            <a:ext cx="6838950" cy="4590680"/>
            <a:chOff x="2676525" y="1398912"/>
            <a:chExt cx="6838950" cy="4590680"/>
          </a:xfrm>
        </p:grpSpPr>
        <p:pic>
          <p:nvPicPr>
            <p:cNvPr id="11266" name="Picture 2" descr="8.1 matplotlib 다루기 - 나만 모르는 파이썬의 신비한 세상">
              <a:extLst>
                <a:ext uri="{FF2B5EF4-FFF2-40B4-BE49-F238E27FC236}">
                  <a16:creationId xmlns:a16="http://schemas.microsoft.com/office/drawing/2014/main" id="{6D74FA30-F80B-7E0E-7C92-65F9B4B0F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6525" y="1398912"/>
              <a:ext cx="6838950" cy="4060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FA48D8-4E00-B839-BA12-079797CCAE73}"/>
                </a:ext>
              </a:extLst>
            </p:cNvPr>
            <p:cNvSpPr txBox="1"/>
            <p:nvPr/>
          </p:nvSpPr>
          <p:spPr>
            <a:xfrm>
              <a:off x="4625886" y="5712593"/>
              <a:ext cx="2940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https://wikidocs.net/256428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968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B32DD-79CC-C1C5-B06D-B7A93240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571A211-96A9-CAE0-4303-9E3295AE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plt.subplots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2F79D638-29B3-4D9C-097C-31E7C64B8AD5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plt.subplots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) - 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한 번에 만드는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동시에 반환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여러 개의 그래프를 만들고 싶을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, </a:t>
            </a:r>
            <a:r>
              <a:rPr lang="ko-KR" altLang="en-US" dirty="0"/>
              <a:t>열은 그래프</a:t>
            </a:r>
            <a:r>
              <a:rPr lang="en-US" altLang="ko-KR" dirty="0"/>
              <a:t>(</a:t>
            </a:r>
            <a:r>
              <a:rPr lang="ko-KR" altLang="en-US" dirty="0" err="1"/>
              <a:t>서브플롯</a:t>
            </a:r>
            <a:r>
              <a:rPr lang="en-US" altLang="ko-KR" dirty="0"/>
              <a:t>) </a:t>
            </a:r>
            <a:r>
              <a:rPr lang="ko-KR" altLang="en-US" dirty="0"/>
              <a:t>영역이 몇 행</a:t>
            </a:r>
            <a:r>
              <a:rPr lang="en-US" altLang="ko-KR" dirty="0"/>
              <a:t>, </a:t>
            </a:r>
            <a:r>
              <a:rPr lang="ko-KR" altLang="en-US" dirty="0"/>
              <a:t>몇 열로 배치될지를 지정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 err="1"/>
              <a:t>plt.plot</a:t>
            </a:r>
            <a:r>
              <a:rPr lang="en-US" altLang="ko-KR" dirty="0"/>
              <a:t>()</a:t>
            </a:r>
            <a:r>
              <a:rPr lang="ko-KR" altLang="en-US" dirty="0"/>
              <a:t>을 그냥 사용하면 </a:t>
            </a:r>
            <a:r>
              <a:rPr lang="en-US" altLang="ko-KR" dirty="0"/>
              <a:t>Figure 1</a:t>
            </a:r>
            <a:r>
              <a:rPr lang="ko-KR" altLang="en-US" dirty="0"/>
              <a:t>개</a:t>
            </a:r>
            <a:r>
              <a:rPr lang="en-US" altLang="ko-KR" dirty="0"/>
              <a:t>, Axes 1</a:t>
            </a:r>
            <a:r>
              <a:rPr lang="ko-KR" altLang="en-US" dirty="0"/>
              <a:t>개가 자동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239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871C-80E2-30A1-95B8-9B991B25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6DF6816-7DEB-ADED-E868-63424488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CA8E4-07CE-BE1C-C250-105AA9D0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0190" r="7611" b="20325"/>
          <a:stretch>
            <a:fillRect/>
          </a:stretch>
        </p:blipFill>
        <p:spPr>
          <a:xfrm>
            <a:off x="1250950" y="2235932"/>
            <a:ext cx="9690100" cy="2787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441DD0-BE16-3B0C-FEC6-942DEAAC81D9}"/>
              </a:ext>
            </a:extLst>
          </p:cNvPr>
          <p:cNvSpPr txBox="1"/>
          <p:nvPr/>
        </p:nvSpPr>
        <p:spPr>
          <a:xfrm>
            <a:off x="1098350" y="159161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99F4-92FB-14C7-212C-4AC325747BDD}"/>
              </a:ext>
            </a:extLst>
          </p:cNvPr>
          <p:cNvSpPr txBox="1"/>
          <p:nvPr/>
        </p:nvSpPr>
        <p:spPr>
          <a:xfrm>
            <a:off x="1158171" y="5023582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괄호안에 숫자를 입력하지 않으면 한 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생성됨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234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8ED-08B4-9B0D-9184-A3D363EE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7FA5D5-EA6E-50FE-2D44-A9AD253B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B65F2-ACD1-F56A-7D27-564357A01A79}"/>
              </a:ext>
            </a:extLst>
          </p:cNvPr>
          <p:cNvSpPr txBox="1"/>
          <p:nvPr/>
        </p:nvSpPr>
        <p:spPr>
          <a:xfrm>
            <a:off x="948621" y="444462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좌우로 나란한 그래프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4CCB2-C286-FD0C-AF3C-D3E387619CCF}"/>
              </a:ext>
            </a:extLst>
          </p:cNvPr>
          <p:cNvSpPr txBox="1"/>
          <p:nvPr/>
        </p:nvSpPr>
        <p:spPr>
          <a:xfrm>
            <a:off x="879249" y="169256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(2)</a:t>
            </a:r>
          </a:p>
        </p:txBody>
      </p:sp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41067-7426-8DDC-E91C-3B63710B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20834" r="7587" b="19925"/>
          <a:stretch>
            <a:fillRect/>
          </a:stretch>
        </p:blipFill>
        <p:spPr>
          <a:xfrm>
            <a:off x="1021870" y="2379189"/>
            <a:ext cx="7271455" cy="20805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E2BD48-B461-2229-8FC4-0B1303B5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00" y="2033001"/>
            <a:ext cx="3785050" cy="2806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E06CC-BF42-6681-23C1-8632ABC9AF05}"/>
              </a:ext>
            </a:extLst>
          </p:cNvPr>
          <p:cNvSpPr txBox="1"/>
          <p:nvPr/>
        </p:nvSpPr>
        <p:spPr>
          <a:xfrm>
            <a:off x="8220075" y="483951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78DB6-7F0E-B5B8-F20F-341AB2F86641}"/>
              </a:ext>
            </a:extLst>
          </p:cNvPr>
          <p:cNvSpPr txBox="1"/>
          <p:nvPr/>
        </p:nvSpPr>
        <p:spPr>
          <a:xfrm>
            <a:off x="10061575" y="483951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[1]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186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B746-D650-3E94-3F08-26A6277D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10490E7-7D4F-97C2-DEFA-065D5F40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제목</a:t>
            </a:r>
            <a:r>
              <a:rPr lang="en-US" altLang="ko-KR" dirty="0"/>
              <a:t>(title), </a:t>
            </a:r>
            <a:r>
              <a:rPr lang="ko-KR" altLang="en-US" dirty="0"/>
              <a:t>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7259FF-6839-AA3A-89BD-C73435DC5C20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제목</a:t>
            </a:r>
            <a:r>
              <a:rPr lang="en-US" altLang="ko-KR" dirty="0"/>
              <a:t>(title)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그래프 전체의 주제를 한눈에 보여주는 역할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축의 데이터가 무엇을 의미하는지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9885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F966-D9CC-CC9D-1145-900DD5B3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CA60B8-F15E-92B7-5808-4E9DA122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범례</a:t>
            </a:r>
            <a:r>
              <a:rPr lang="en-US" altLang="ko-KR" dirty="0"/>
              <a:t>(legend)</a:t>
            </a:r>
            <a:r>
              <a:rPr lang="ko-KR" altLang="en-US" dirty="0"/>
              <a:t>와 격자</a:t>
            </a:r>
            <a:r>
              <a:rPr lang="en-US" altLang="ko-KR" dirty="0"/>
              <a:t>(grid)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D04AED-AD15-5119-FCA2-0F82241EAF1E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범례</a:t>
            </a:r>
            <a:r>
              <a:rPr lang="en-US" altLang="ko-KR" dirty="0"/>
              <a:t>(legend)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여러 데이터 시리즈를 구분할 때 각 라인</a:t>
            </a:r>
            <a:r>
              <a:rPr lang="en-US" altLang="ko-KR" dirty="0"/>
              <a:t>(</a:t>
            </a:r>
            <a:r>
              <a:rPr lang="ko-KR" altLang="en-US" dirty="0"/>
              <a:t>혹은 마커</a:t>
            </a:r>
            <a:r>
              <a:rPr lang="en-US" altLang="ko-KR" dirty="0"/>
              <a:t>)</a:t>
            </a:r>
            <a:r>
              <a:rPr lang="ko-KR" altLang="en-US" dirty="0"/>
              <a:t>이 의미하는 바를 표기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격자</a:t>
            </a:r>
            <a:r>
              <a:rPr lang="en-US" altLang="ko-KR" dirty="0"/>
              <a:t>(grid)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ax.grid</a:t>
            </a:r>
            <a:r>
              <a:rPr lang="en-US" altLang="ko-KR" dirty="0"/>
              <a:t>(True, </a:t>
            </a:r>
            <a:r>
              <a:rPr lang="en-US" altLang="ko-KR" dirty="0" err="1"/>
              <a:t>linestyle</a:t>
            </a:r>
            <a:r>
              <a:rPr lang="en-US" altLang="ko-KR" dirty="0"/>
              <a:t>='--', color='gray', alpha=0.7)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값의 대략적인 위치를 쉽게 파악할 수 있게 </a:t>
            </a:r>
            <a:r>
              <a:rPr lang="ko-KR" altLang="en-US" dirty="0" err="1"/>
              <a:t>도와줌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8627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C9EC-3F30-6AB5-B722-0B59ECF0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6D33E1B-4963-5259-CF08-E5EE5BE2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F73C714-9AB8-0A76-66D7-DBB33504023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색상</a:t>
            </a:r>
            <a:r>
              <a:rPr lang="en-US" altLang="ko-KR" dirty="0"/>
              <a:t>(color):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'r', 'g', 'b' </a:t>
            </a:r>
            <a:r>
              <a:rPr lang="ko-KR" altLang="en-US" dirty="0"/>
              <a:t>등 축약코드 또는 </a:t>
            </a:r>
            <a:r>
              <a:rPr lang="en-US" altLang="ko-KR" dirty="0"/>
              <a:t>'red', 'blue' </a:t>
            </a:r>
            <a:r>
              <a:rPr lang="ko-KR" altLang="en-US" dirty="0"/>
              <a:t>등 문자열 사용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선 종류</a:t>
            </a:r>
            <a:r>
              <a:rPr lang="en-US" altLang="ko-KR" dirty="0"/>
              <a:t>(</a:t>
            </a:r>
            <a:r>
              <a:rPr lang="en-US" altLang="ko-KR" dirty="0" err="1"/>
              <a:t>linestyle</a:t>
            </a:r>
            <a:r>
              <a:rPr lang="en-US" altLang="ko-KR" dirty="0"/>
              <a:t>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'-'(</a:t>
            </a:r>
            <a:r>
              <a:rPr lang="ko-KR" altLang="en-US" dirty="0"/>
              <a:t>실선</a:t>
            </a:r>
            <a:r>
              <a:rPr lang="en-US" altLang="ko-KR" dirty="0"/>
              <a:t>), '--'(</a:t>
            </a:r>
            <a:r>
              <a:rPr lang="ko-KR" altLang="en-US" dirty="0"/>
              <a:t>점선</a:t>
            </a:r>
            <a:r>
              <a:rPr lang="en-US" altLang="ko-KR" dirty="0"/>
              <a:t>), ':'(</a:t>
            </a:r>
            <a:r>
              <a:rPr lang="ko-KR" altLang="en-US" dirty="0" err="1"/>
              <a:t>점점선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마커</a:t>
            </a:r>
            <a:r>
              <a:rPr lang="en-US" altLang="ko-KR" dirty="0"/>
              <a:t>(marker):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'.'(</a:t>
            </a:r>
            <a:r>
              <a:rPr lang="ko-KR" altLang="en-US" dirty="0"/>
              <a:t>점</a:t>
            </a:r>
            <a:r>
              <a:rPr lang="en-US" altLang="ko-KR" dirty="0"/>
              <a:t>), 'o'(</a:t>
            </a:r>
            <a:r>
              <a:rPr lang="ko-KR" altLang="en-US" dirty="0"/>
              <a:t>원</a:t>
            </a:r>
            <a:r>
              <a:rPr lang="en-US" altLang="ko-KR" dirty="0"/>
              <a:t>), '^'(</a:t>
            </a:r>
            <a:r>
              <a:rPr lang="ko-KR" altLang="en-US" dirty="0"/>
              <a:t>삼각형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254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692A-96AF-EC90-29D0-B808B2C0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B22C557-4F7D-2CA0-5212-E10A645F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11B8673A-4176-5C6C-BA43-3001D6485CEB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스타일 문자열 축약 사용법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en-US" altLang="ko-KR" dirty="0" err="1"/>
              <a:t>bo</a:t>
            </a:r>
            <a:r>
              <a:rPr lang="en-US" altLang="ko-KR" dirty="0"/>
              <a:t>--＇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'b': blue(</a:t>
            </a:r>
            <a:r>
              <a:rPr lang="ko-KR" altLang="en-US" dirty="0"/>
              <a:t>파랑</a:t>
            </a:r>
            <a:r>
              <a:rPr lang="en-US" altLang="ko-KR" dirty="0"/>
              <a:t>), 'o': </a:t>
            </a:r>
            <a:r>
              <a:rPr lang="ko-KR" altLang="en-US" dirty="0"/>
              <a:t>원 마커</a:t>
            </a:r>
            <a:r>
              <a:rPr lang="en-US" altLang="ko-KR" dirty="0"/>
              <a:t>, '--': </a:t>
            </a:r>
            <a:r>
              <a:rPr lang="ko-KR" altLang="en-US" dirty="0"/>
              <a:t>점선</a:t>
            </a:r>
          </a:p>
        </p:txBody>
      </p:sp>
    </p:spTree>
    <p:extLst>
      <p:ext uri="{BB962C8B-B14F-4D97-AF65-F5344CB8AC3E}">
        <p14:creationId xmlns:p14="http://schemas.microsoft.com/office/powerpoint/2010/main" val="407975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C1E4-9A93-416C-884F-F82D92D6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808D9E-4C5E-75BF-014F-8C20FE94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12" y="1730264"/>
            <a:ext cx="8344225" cy="368536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C009AD-C2AC-E481-FAA2-5F014A08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DBD70F9-4BC4-05BD-44E1-94837478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4E751-332B-7BBC-3E11-86791206247B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 – </a:t>
            </a:r>
            <a:r>
              <a:rPr lang="ko-KR" altLang="en-US" sz="2400" dirty="0"/>
              <a:t>제목</a:t>
            </a:r>
            <a:r>
              <a:rPr lang="en-US" altLang="ko-KR" sz="2400" dirty="0"/>
              <a:t>, </a:t>
            </a:r>
            <a:r>
              <a:rPr lang="ko-KR" altLang="en-US" sz="2400" dirty="0"/>
              <a:t>레이블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DF1196-051B-6563-56D1-7A9D558DB78E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937E88-8636-D71D-2C4E-987B974B700B}"/>
              </a:ext>
            </a:extLst>
          </p:cNvPr>
          <p:cNvSpPr/>
          <p:nvPr/>
        </p:nvSpPr>
        <p:spPr>
          <a:xfrm>
            <a:off x="7977207" y="3230777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446862-5802-9D40-ACB9-9B5E14153A2D}"/>
              </a:ext>
            </a:extLst>
          </p:cNvPr>
          <p:cNvSpPr/>
          <p:nvPr/>
        </p:nvSpPr>
        <p:spPr>
          <a:xfrm>
            <a:off x="9635218" y="4754144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95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DCD-F35A-1D7C-163B-F2115360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B8FEE8-2767-E3A5-AFD0-FBF1DAF2C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4" y="1644652"/>
            <a:ext cx="9952662" cy="37654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CD8D57A-2B2C-79C5-05DE-65A4DEF0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588F233-39BF-EE95-D138-DC3BF535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92015-B8FC-34F6-7A2B-06D38666DDB4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2ED0E3-E315-7BA8-F4F4-934DC26F2D7F}"/>
              </a:ext>
            </a:extLst>
          </p:cNvPr>
          <p:cNvSpPr/>
          <p:nvPr/>
        </p:nvSpPr>
        <p:spPr>
          <a:xfrm>
            <a:off x="8279493" y="2402114"/>
            <a:ext cx="574222" cy="24674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BE262-D1DC-FD64-B5D4-5F9167F679F0}"/>
              </a:ext>
            </a:extLst>
          </p:cNvPr>
          <p:cNvSpPr txBox="1"/>
          <p:nvPr/>
        </p:nvSpPr>
        <p:spPr>
          <a:xfrm>
            <a:off x="955949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896E1AE-2379-4ACE-8931-B36767A74DFB}"/>
              </a:ext>
            </a:extLst>
          </p:cNvPr>
          <p:cNvCxnSpPr>
            <a:cxnSpLocks/>
          </p:cNvCxnSpPr>
          <p:nvPr/>
        </p:nvCxnSpPr>
        <p:spPr>
          <a:xfrm>
            <a:off x="5647269" y="3643085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94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B79B-D6E4-0E77-0AFC-95F5D6A6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6DBDB-F85F-924C-137F-4599F7C8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9" cy="41087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F4F06E6-6718-29A9-E21C-36A30F05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0F46D-9D5E-AC00-089B-2FA485366DBB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3F194F-B4E0-9F84-261A-54AA6CA1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665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1542AC6-EABC-96E9-103B-6FB4CADD9476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AC2A1-BC3D-BA08-8256-E195C8994AB5}"/>
              </a:ext>
            </a:extLst>
          </p:cNvPr>
          <p:cNvSpPr/>
          <p:nvPr/>
        </p:nvSpPr>
        <p:spPr>
          <a:xfrm>
            <a:off x="7977207" y="3211725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50103E-D097-D469-DA31-B685CE6339CB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998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ED16-63B4-387F-96DC-7B1454BC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A5E5FD-FCA4-DCAE-3852-DA52C7D53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7" cy="41087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747956-BDF6-8850-0DD1-8DD732561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287935" cy="2667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79EEC4-2E9E-41A0-3127-62B7A4F8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79708-B571-9530-8951-A70A50469CBA}"/>
              </a:ext>
            </a:extLst>
          </p:cNvPr>
          <p:cNvSpPr/>
          <p:nvPr/>
        </p:nvSpPr>
        <p:spPr>
          <a:xfrm>
            <a:off x="9251951" y="2240175"/>
            <a:ext cx="1085850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4592A4-47E4-1BB2-83A0-BF81FA77D78A}"/>
              </a:ext>
            </a:extLst>
          </p:cNvPr>
          <p:cNvSpPr/>
          <p:nvPr/>
        </p:nvSpPr>
        <p:spPr>
          <a:xfrm>
            <a:off x="7977207" y="3147061"/>
            <a:ext cx="244773" cy="76962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5EEE92-48A4-0604-FAA2-D093BEE79A37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592368-2F4C-E6DF-6E48-0096BD4E0543}"/>
              </a:ext>
            </a:extLst>
          </p:cNvPr>
          <p:cNvCxnSpPr>
            <a:cxnSpLocks/>
          </p:cNvCxnSpPr>
          <p:nvPr/>
        </p:nvCxnSpPr>
        <p:spPr>
          <a:xfrm>
            <a:off x="4972050" y="3817257"/>
            <a:ext cx="2881313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6F17623-8C5B-F1A4-841C-51F2E793BA68}"/>
              </a:ext>
            </a:extLst>
          </p:cNvPr>
          <p:cNvCxnSpPr>
            <a:cxnSpLocks/>
          </p:cNvCxnSpPr>
          <p:nvPr/>
        </p:nvCxnSpPr>
        <p:spPr>
          <a:xfrm>
            <a:off x="4972050" y="4398282"/>
            <a:ext cx="14859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790364-2F53-42C3-6030-A97893C8068F}"/>
              </a:ext>
            </a:extLst>
          </p:cNvPr>
          <p:cNvSpPr txBox="1"/>
          <p:nvPr/>
        </p:nvSpPr>
        <p:spPr>
          <a:xfrm>
            <a:off x="948621" y="502519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fontsize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color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다양한 옵션을 통해 스타일링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01243-AB95-5BAA-96C7-B89ACB13DD67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589586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159C-EE08-56D4-5196-5D572016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DF048-8887-2E63-3C5A-3288FA7F3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3" y="1500395"/>
            <a:ext cx="10753725" cy="406849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FF3E38F-DD26-C548-FF3E-A698914C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4C436-A057-00B4-67D6-2FE8BE2BFBC0}"/>
              </a:ext>
            </a:extLst>
          </p:cNvPr>
          <p:cNvSpPr txBox="1"/>
          <p:nvPr/>
        </p:nvSpPr>
        <p:spPr>
          <a:xfrm>
            <a:off x="784987" y="175227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(3)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C12A47-1204-3731-0655-5F3ED82B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00" y="2141733"/>
            <a:ext cx="3744287" cy="303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DA5439C-40FA-2396-0C7D-04EAA1E8F834}"/>
              </a:ext>
            </a:extLst>
          </p:cNvPr>
          <p:cNvSpPr/>
          <p:nvPr/>
        </p:nvSpPr>
        <p:spPr>
          <a:xfrm>
            <a:off x="8120082" y="2389384"/>
            <a:ext cx="604818" cy="23135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DF68A28-485D-A816-D44C-F9708CCFF9F3}"/>
              </a:ext>
            </a:extLst>
          </p:cNvPr>
          <p:cNvCxnSpPr>
            <a:cxnSpLocks/>
          </p:cNvCxnSpPr>
          <p:nvPr/>
        </p:nvCxnSpPr>
        <p:spPr>
          <a:xfrm>
            <a:off x="5814181" y="3693884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07B4CD-88C9-8F47-4141-8CA04CBF0D5F}"/>
              </a:ext>
            </a:extLst>
          </p:cNvPr>
          <p:cNvSpPr txBox="1"/>
          <p:nvPr/>
        </p:nvSpPr>
        <p:spPr>
          <a:xfrm>
            <a:off x="851174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876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978427"/>
            <a:ext cx="7831016" cy="53984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7CDE54-BF55-5B82-C840-CB844CEB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</p:spTree>
    <p:extLst>
      <p:ext uri="{BB962C8B-B14F-4D97-AF65-F5344CB8AC3E}">
        <p14:creationId xmlns:p14="http://schemas.microsoft.com/office/powerpoint/2010/main" val="323092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선 그래프 그리기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727" y="3031974"/>
            <a:ext cx="4242546" cy="323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E5732-5189-FB4C-F458-B69344540612}"/>
              </a:ext>
            </a:extLst>
          </p:cNvPr>
          <p:cNvSpPr txBox="1"/>
          <p:nvPr/>
        </p:nvSpPr>
        <p:spPr>
          <a:xfrm>
            <a:off x="251788" y="937113"/>
            <a:ext cx="9816137" cy="184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이용해서 예시와 같이 선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months = ['Jan', 'Feb', 'Mar', 'Apr', 'May', 'Jun', 'Jul', 'Aug', 'Sep', 'Oct', 'Nov', 'Dec’]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sales_2019 = [100,120,140,110,130,150,160,170,180,200,190,210]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sales_2020 = [90,110,130,120,140,160,170,160,150,180,200,190]</a:t>
            </a:r>
          </a:p>
        </p:txBody>
      </p:sp>
    </p:spTree>
    <p:extLst>
      <p:ext uri="{BB962C8B-B14F-4D97-AF65-F5344CB8AC3E}">
        <p14:creationId xmlns:p14="http://schemas.microsoft.com/office/powerpoint/2010/main" val="218374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1B5-2357-72D7-349D-BC8D4C47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65A6B-5B3D-ADAD-9729-595D018F4E54}"/>
              </a:ext>
            </a:extLst>
          </p:cNvPr>
          <p:cNvSpPr txBox="1"/>
          <p:nvPr/>
        </p:nvSpPr>
        <p:spPr>
          <a:xfrm>
            <a:off x="1760545" y="2600493"/>
            <a:ext cx="86709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다양한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2D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435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2F7E-74BA-17D6-95D2-24BF7D38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D2E70F5-33F7-3359-9364-450D86F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15A1A-C22D-54CF-B8DD-B5F6ABB873E3}"/>
              </a:ext>
            </a:extLst>
          </p:cNvPr>
          <p:cNvSpPr txBox="1"/>
          <p:nvPr/>
        </p:nvSpPr>
        <p:spPr>
          <a:xfrm>
            <a:off x="1091999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그리기 문법</a:t>
            </a:r>
            <a:endParaRPr lang="en-US" altLang="ko-KR" sz="2400" dirty="0"/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FFDABF-BC9A-2D8F-30D3-3E0460E95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8589" r="7555" b="18733"/>
          <a:stretch>
            <a:fillRect/>
          </a:stretch>
        </p:blipFill>
        <p:spPr>
          <a:xfrm>
            <a:off x="1247775" y="1726913"/>
            <a:ext cx="9696450" cy="316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99084D-98DF-9814-7534-FD669C653533}"/>
              </a:ext>
            </a:extLst>
          </p:cNvPr>
          <p:cNvSpPr txBox="1"/>
          <p:nvPr/>
        </p:nvSpPr>
        <p:spPr>
          <a:xfrm>
            <a:off x="1165499" y="4910696"/>
            <a:ext cx="7271454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위치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height, width: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높이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길이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8541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9AFA-F5B1-56E2-D249-20DADD33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3301C-6EA9-AAE9-075D-B814FFB79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49" y="1276731"/>
            <a:ext cx="6972302" cy="506653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FCC8499-2D5D-4D11-B06A-74567604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E883D-EB75-83E8-E28E-14EEFE46BCCA}"/>
              </a:ext>
            </a:extLst>
          </p:cNvPr>
          <p:cNvSpPr txBox="1"/>
          <p:nvPr/>
        </p:nvSpPr>
        <p:spPr>
          <a:xfrm>
            <a:off x="815774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예제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468A57-9884-9186-63BD-415D4BA1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2" y="2091610"/>
            <a:ext cx="4315751" cy="3489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228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막대 그래프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2579633"/>
            <a:ext cx="4381502" cy="3712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4E1270-817D-453F-EF15-78C6B6DD6C1C}"/>
              </a:ext>
            </a:extLst>
          </p:cNvPr>
          <p:cNvSpPr txBox="1"/>
          <p:nvPr/>
        </p:nvSpPr>
        <p:spPr>
          <a:xfrm>
            <a:off x="251788" y="979355"/>
            <a:ext cx="1108296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바탕으로 예시와 같이 막대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categories = ['Category 1','Category 2','Category 3','Category 4','Category 5’]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data = [20, 35, 15, 27, 45] </a:t>
            </a:r>
          </a:p>
        </p:txBody>
      </p:sp>
    </p:spTree>
    <p:extLst>
      <p:ext uri="{BB962C8B-B14F-4D97-AF65-F5344CB8AC3E}">
        <p14:creationId xmlns:p14="http://schemas.microsoft.com/office/powerpoint/2010/main" val="3305912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95627" y="24294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E15DD-7767-16B6-275C-24A3F24824E9}"/>
              </a:ext>
            </a:extLst>
          </p:cNvPr>
          <p:cNvSpPr txBox="1"/>
          <p:nvPr/>
        </p:nvSpPr>
        <p:spPr>
          <a:xfrm>
            <a:off x="1169127" y="4387730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 배열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구간의 개수 또는 구간 리스트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edgecolor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테두리 색상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6AF63-B6D1-2077-1542-B279031A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" t="26331" r="5841" b="26063"/>
          <a:stretch>
            <a:fillRect/>
          </a:stretch>
        </p:blipFill>
        <p:spPr>
          <a:xfrm>
            <a:off x="1230085" y="3083831"/>
            <a:ext cx="9731830" cy="1291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F37C2-79CA-E1BE-C6D6-C9AF321364D4}"/>
              </a:ext>
            </a:extLst>
          </p:cNvPr>
          <p:cNvSpPr txBox="1"/>
          <p:nvPr/>
        </p:nvSpPr>
        <p:spPr>
          <a:xfrm>
            <a:off x="1095627" y="1138533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히스토그램</a:t>
            </a:r>
            <a:r>
              <a:rPr lang="en-US" altLang="ko-KR" sz="2400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구간별로 막대의 높이로 나타내는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5057-B74E-2BC5-B6FB-F00C603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A16700-B32D-EC5C-996D-0D43F5E4D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2429"/>
            <a:ext cx="8867776" cy="437062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D0D47C-0C4B-6161-F412-F26C2B02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A7EBE-C64F-C18E-9E2C-50748C5F44AA}"/>
              </a:ext>
            </a:extLst>
          </p:cNvPr>
          <p:cNvSpPr txBox="1"/>
          <p:nvPr/>
        </p:nvSpPr>
        <p:spPr>
          <a:xfrm>
            <a:off x="371727" y="140575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예제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4EE977-5F25-D9D6-D4CF-42134F1DA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236" y="2053934"/>
            <a:ext cx="4042890" cy="3200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048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559-AD20-9C4C-2F0B-E79F5A46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E96A2-F75D-191E-ED29-D9BED154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히스토그램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B8C35-2BA7-38B3-FC9B-B8C27269614D}"/>
              </a:ext>
            </a:extLst>
          </p:cNvPr>
          <p:cNvSpPr txBox="1"/>
          <p:nvPr/>
        </p:nvSpPr>
        <p:spPr>
          <a:xfrm>
            <a:off x="251787" y="979355"/>
            <a:ext cx="1118773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💡 임의로 </a:t>
            </a:r>
            <a:r>
              <a:rPr lang="en-US" altLang="ko-KR" sz="2000" dirty="0"/>
              <a:t>1~6 </a:t>
            </a:r>
            <a:r>
              <a:rPr lang="ko-KR" altLang="en-US" sz="2000" dirty="0"/>
              <a:t>사이의 주사위 눈 </a:t>
            </a:r>
            <a:r>
              <a:rPr lang="en-US" altLang="ko-KR" sz="2000" dirty="0"/>
              <a:t>100</a:t>
            </a:r>
            <a:r>
              <a:rPr lang="ko-KR" altLang="en-US" sz="2000" dirty="0"/>
              <a:t>개를 생성해서 각 숫자가 얼마나 자주 나왔는지 히스토그램을 그려보세요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FC1E72-0BD2-B43E-69C5-E3637718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885950"/>
            <a:ext cx="53244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6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BD4-76DE-24BE-5F40-FB1428E1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6F7026F-A9F7-AF87-40E8-5A2716A26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97954-7178-6A06-72FA-A832D2968CD3}"/>
              </a:ext>
            </a:extLst>
          </p:cNvPr>
          <p:cNvSpPr txBox="1"/>
          <p:nvPr/>
        </p:nvSpPr>
        <p:spPr>
          <a:xfrm>
            <a:off x="1102884" y="2436338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96632-C4BD-87A0-FBAD-53945780D072}"/>
              </a:ext>
            </a:extLst>
          </p:cNvPr>
          <p:cNvSpPr txBox="1"/>
          <p:nvPr/>
        </p:nvSpPr>
        <p:spPr>
          <a:xfrm>
            <a:off x="1176384" y="4496204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(size,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여러 색상 지정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EA40E-D535-8A29-EB3E-5CA23BAA3E42}"/>
              </a:ext>
            </a:extLst>
          </p:cNvPr>
          <p:cNvSpPr txBox="1"/>
          <p:nvPr/>
        </p:nvSpPr>
        <p:spPr>
          <a:xfrm>
            <a:off x="1102884" y="1145407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dirty="0" err="1"/>
              <a:t>산점도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간의 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(dot)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시각화한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 descr="스크린샷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7DE92-D605-6676-2509-D3FDC2917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25967" r="5834" b="26632"/>
          <a:stretch>
            <a:fillRect/>
          </a:stretch>
        </p:blipFill>
        <p:spPr>
          <a:xfrm>
            <a:off x="1222828" y="3119444"/>
            <a:ext cx="9746344" cy="12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5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547AC-2984-B35F-E309-0FFA0B0F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67C41-4AAC-3287-7C84-A298AF56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708" y="1054060"/>
            <a:ext cx="7291670" cy="552951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2345CE4-7024-A888-91E9-A9ED3110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742D8-5D10-4E9B-1FB8-79A1DC8856A1}"/>
              </a:ext>
            </a:extLst>
          </p:cNvPr>
          <p:cNvSpPr txBox="1"/>
          <p:nvPr/>
        </p:nvSpPr>
        <p:spPr>
          <a:xfrm>
            <a:off x="348282" y="101498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54C9B2-B433-99F0-1569-71B72565B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53" y="1667285"/>
            <a:ext cx="5343525" cy="430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7633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F4D6-5A25-126A-FDB4-49E7B40C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8D63A-A630-45FC-A22A-9F562AA4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 err="1">
                <a:solidFill>
                  <a:srgbClr val="ED7D31"/>
                </a:solidFill>
              </a:rPr>
              <a:t>산점도</a:t>
            </a:r>
            <a:r>
              <a:rPr lang="ko-KR" altLang="en-US" dirty="0">
                <a:solidFill>
                  <a:srgbClr val="ED7D31"/>
                </a:solidFill>
              </a:rPr>
              <a:t>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B4D52-1153-A7DF-744D-5ADA14453C2B}"/>
              </a:ext>
            </a:extLst>
          </p:cNvPr>
          <p:cNvSpPr txBox="1"/>
          <p:nvPr/>
        </p:nvSpPr>
        <p:spPr>
          <a:xfrm>
            <a:off x="251788" y="969830"/>
            <a:ext cx="1146396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x</a:t>
            </a:r>
            <a:r>
              <a:rPr lang="ko-KR" altLang="en-US" sz="2400" dirty="0"/>
              <a:t>값은 </a:t>
            </a: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10</a:t>
            </a:r>
            <a:r>
              <a:rPr lang="ko-KR" altLang="en-US" sz="2400" dirty="0"/>
              <a:t>까지 </a:t>
            </a:r>
            <a:r>
              <a:rPr lang="en-US" altLang="ko-KR" sz="2400" b="1" dirty="0"/>
              <a:t>30</a:t>
            </a:r>
            <a:r>
              <a:rPr lang="ko-KR" altLang="en-US" sz="2400" b="1" dirty="0"/>
              <a:t>개의 균등한 간격</a:t>
            </a:r>
            <a:r>
              <a:rPr lang="ko-KR" altLang="en-US" sz="2400" dirty="0"/>
              <a:t>으로 구성된 수열을 만들고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y</a:t>
            </a:r>
            <a:r>
              <a:rPr lang="ko-KR" altLang="en-US" sz="2400" dirty="0"/>
              <a:t>값은 </a:t>
            </a:r>
            <a:r>
              <a:rPr lang="en-US" altLang="ko-KR" sz="2400" dirty="0"/>
              <a:t>y = 3x + 2 + </a:t>
            </a:r>
            <a:r>
              <a:rPr lang="ko-KR" altLang="en-US" sz="2400" dirty="0"/>
              <a:t>난수</a:t>
            </a:r>
            <a:r>
              <a:rPr lang="en-US" altLang="ko-KR" sz="2400" dirty="0"/>
              <a:t>(</a:t>
            </a:r>
            <a:r>
              <a:rPr lang="ko-KR" altLang="en-US" sz="2400" dirty="0"/>
              <a:t>정규분포</a:t>
            </a:r>
            <a:r>
              <a:rPr lang="en-US" altLang="ko-KR" sz="2400" dirty="0"/>
              <a:t>, </a:t>
            </a:r>
            <a:r>
              <a:rPr lang="ko-KR" altLang="en-US" sz="2400" dirty="0"/>
              <a:t>평균 </a:t>
            </a:r>
            <a:r>
              <a:rPr lang="en-US" altLang="ko-KR" sz="2400" dirty="0"/>
              <a:t>0, </a:t>
            </a:r>
            <a:r>
              <a:rPr lang="ko-KR" altLang="en-US" sz="2400" dirty="0"/>
              <a:t>표준편차 </a:t>
            </a:r>
            <a:r>
              <a:rPr lang="en-US" altLang="ko-KR" sz="2400" dirty="0"/>
              <a:t>3)</a:t>
            </a:r>
            <a:r>
              <a:rPr lang="ko-KR" altLang="en-US" sz="2400" dirty="0"/>
              <a:t>로 생성하여 </a:t>
            </a:r>
            <a:r>
              <a:rPr lang="ko-KR" altLang="en-US" sz="2400" dirty="0" err="1"/>
              <a:t>산점도를</a:t>
            </a:r>
            <a:r>
              <a:rPr lang="ko-KR" altLang="en-US" sz="2400" dirty="0"/>
              <a:t> 그려보세요</a:t>
            </a:r>
            <a:r>
              <a:rPr lang="en-US" altLang="ko-KR" sz="2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6B1853-843D-9626-498A-B729439D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6" y="2508302"/>
            <a:ext cx="4552950" cy="366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36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B3F6-9B29-3775-34AA-10676B06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BE91FB3-4C84-83AE-4F08-B46B2856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0DC4D-FDE3-CA4F-45E2-86180F3DEF56}"/>
              </a:ext>
            </a:extLst>
          </p:cNvPr>
          <p:cNvSpPr txBox="1"/>
          <p:nvPr/>
        </p:nvSpPr>
        <p:spPr>
          <a:xfrm>
            <a:off x="1109234" y="24075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파이 차트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A2580-FD02-4F48-5ABB-7DEC30D94548}"/>
              </a:ext>
            </a:extLst>
          </p:cNvPr>
          <p:cNvSpPr txBox="1"/>
          <p:nvPr/>
        </p:nvSpPr>
        <p:spPr>
          <a:xfrm>
            <a:off x="1182734" y="4103078"/>
            <a:ext cx="7271454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 합이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100%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autopct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조각에 비율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표시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"%1.1f%%"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startangle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각도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단위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90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 방향에서 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09BC0-3F1B-E8B8-3A11-574C6893C2D3}"/>
              </a:ext>
            </a:extLst>
          </p:cNvPr>
          <p:cNvSpPr txBox="1"/>
          <p:nvPr/>
        </p:nvSpPr>
        <p:spPr>
          <a:xfrm>
            <a:off x="1109234" y="1233315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파이 차트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 대한 부분의 비율을 원형의 조각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섹터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표현하는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6F825F-A5C1-BBCB-7FAA-17640CE2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" t="44821" r="7667" b="30347"/>
          <a:stretch>
            <a:fillRect/>
          </a:stretch>
        </p:blipFill>
        <p:spPr>
          <a:xfrm>
            <a:off x="1250950" y="3108378"/>
            <a:ext cx="9690100" cy="98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18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9BB0-133A-7AA8-2E87-22ED53A2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C6B046-29FE-64C9-27D5-E61B81C95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1" y="1029903"/>
            <a:ext cx="8982076" cy="538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2E8600-4232-BAB8-D187-E04F76A8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1781598"/>
            <a:ext cx="4905375" cy="3914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C85335E-46E9-A054-4746-D5DC9E1B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91D66-746D-F370-0A14-86F384618A03}"/>
              </a:ext>
            </a:extLst>
          </p:cNvPr>
          <p:cNvSpPr txBox="1"/>
          <p:nvPr/>
        </p:nvSpPr>
        <p:spPr>
          <a:xfrm>
            <a:off x="310182" y="111976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파이차트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551043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5400" dirty="0">
                <a:solidFill>
                  <a:srgbClr val="ED7D31"/>
                </a:solidFill>
              </a:rPr>
              <a:t>실습</a:t>
            </a:r>
            <a:r>
              <a:rPr lang="en-US" altLang="ko-KR" sz="5400" dirty="0">
                <a:solidFill>
                  <a:srgbClr val="ED7D31"/>
                </a:solidFill>
              </a:rPr>
              <a:t>5. </a:t>
            </a:r>
            <a:r>
              <a:rPr lang="ko-KR" altLang="en-US" sz="5400" dirty="0">
                <a:solidFill>
                  <a:srgbClr val="ED7D31"/>
                </a:solidFill>
              </a:rPr>
              <a:t>파이 차트 그리기</a:t>
            </a:r>
            <a:endParaRPr lang="ko-KR" altLang="en-US" sz="5400" dirty="0">
              <a:solidFill>
                <a:srgbClr val="FFC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08E91F-3FEE-7A6A-5C20-0BF1778E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1" y="3027396"/>
            <a:ext cx="4032738" cy="3069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49A405-7BBB-489C-23A0-1ECACB381752}"/>
              </a:ext>
            </a:extLst>
          </p:cNvPr>
          <p:cNvSpPr txBox="1"/>
          <p:nvPr/>
        </p:nvSpPr>
        <p:spPr>
          <a:xfrm>
            <a:off x="251788" y="979355"/>
            <a:ext cx="862551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아래와 데이터를 이용해서 예시와 같이 파이 차트를 그려보세요</a:t>
            </a:r>
            <a:r>
              <a:rPr lang="en-US" altLang="ko-KR" sz="2400" dirty="0"/>
              <a:t>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labels = ['Apple', 'Banana', 'Mango', 'Blueberry’]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sizes = [15,30,45,10] explode = (0,0.1,0,0)</a:t>
            </a:r>
          </a:p>
        </p:txBody>
      </p:sp>
    </p:spTree>
    <p:extLst>
      <p:ext uri="{BB962C8B-B14F-4D97-AF65-F5344CB8AC3E}">
        <p14:creationId xmlns:p14="http://schemas.microsoft.com/office/powerpoint/2010/main" val="26362888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7810</TotalTime>
  <Words>1535</Words>
  <Application>Microsoft Office PowerPoint</Application>
  <PresentationFormat>와이드스크린</PresentationFormat>
  <Paragraphs>202</Paragraphs>
  <Slides>49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8" baseType="lpstr">
      <vt:lpstr>G마켓 산스 TTF Bold</vt:lpstr>
      <vt:lpstr>Pretendard Black</vt:lpstr>
      <vt:lpstr>메이플스토리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PowerPoint 프레젠테이션</vt:lpstr>
      <vt:lpstr>데이터 시각화</vt:lpstr>
      <vt:lpstr>필요성과 목적</vt:lpstr>
      <vt:lpstr>Matplotlib</vt:lpstr>
      <vt:lpstr>Matplotlib</vt:lpstr>
      <vt:lpstr>Matplotlib 공식 문서</vt:lpstr>
      <vt:lpstr>Matplotlib 설치</vt:lpstr>
      <vt:lpstr>Matplotlib 사용 준비</vt:lpstr>
      <vt:lpstr>PowerPoint 프레젠테이션</vt:lpstr>
      <vt:lpstr>pyplot</vt:lpstr>
      <vt:lpstr>그래프 그리기 : pyplot.plot()</vt:lpstr>
      <vt:lpstr>그래프 그리기 : pyplot.plot()</vt:lpstr>
      <vt:lpstr>그래프 그리기 : pyplot.plot()</vt:lpstr>
      <vt:lpstr>show(), savefig() 메서드</vt:lpstr>
      <vt:lpstr>show(), savefig() 메서드</vt:lpstr>
      <vt:lpstr>한글 깨짐 방지</vt:lpstr>
      <vt:lpstr>PowerPoint 프레젠테이션</vt:lpstr>
      <vt:lpstr>Figure, Axes, Axis 구조</vt:lpstr>
      <vt:lpstr>Figure, Axes, Axis 구조</vt:lpstr>
      <vt:lpstr>plt.subplots() </vt:lpstr>
      <vt:lpstr>Figure와 Axes 생성</vt:lpstr>
      <vt:lpstr>Figure와 Axes 생성</vt:lpstr>
      <vt:lpstr>제목(title), 축 레이블(xlabel, ylabel)</vt:lpstr>
      <vt:lpstr>범례(legend)와 격자(grid)</vt:lpstr>
      <vt:lpstr>스타일 지정: 색상, 선 종류, 마커</vt:lpstr>
      <vt:lpstr>스타일 지정: 색상, 선 종류, 마커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실습1. 선 그래프 그리기</vt:lpstr>
      <vt:lpstr>PowerPoint 프레젠테이션</vt:lpstr>
      <vt:lpstr>막대그래프(Bar Chart) 그리기</vt:lpstr>
      <vt:lpstr>막대그래프(Bar Chart) 그리기</vt:lpstr>
      <vt:lpstr>실습2. 막대 그래프 그리기</vt:lpstr>
      <vt:lpstr>히스토그램(Histogram) 그리기</vt:lpstr>
      <vt:lpstr>히스토그램(Histogram) 그리기</vt:lpstr>
      <vt:lpstr>실습3. 히스토그램 그리기</vt:lpstr>
      <vt:lpstr>산점도(Scatter Plot) 그리기</vt:lpstr>
      <vt:lpstr>산점도(Scatter Plot) 그리기</vt:lpstr>
      <vt:lpstr>실습4. 산점도 그리기</vt:lpstr>
      <vt:lpstr>파이 차트 (Pie Chart) 그리기</vt:lpstr>
      <vt:lpstr>파이 차트 (Pie Chart) 그리기</vt:lpstr>
      <vt:lpstr>실습5. 파이 차트 그리기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529</cp:revision>
  <dcterms:created xsi:type="dcterms:W3CDTF">2023-01-31T04:26:23Z</dcterms:created>
  <dcterms:modified xsi:type="dcterms:W3CDTF">2025-09-01T01:01:33Z</dcterms:modified>
</cp:coreProperties>
</file>