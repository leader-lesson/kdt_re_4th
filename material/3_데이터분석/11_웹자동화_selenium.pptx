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0"/>
  </p:notesMasterIdLst>
  <p:sldIdLst>
    <p:sldId id="1004" r:id="rId2"/>
    <p:sldId id="257" r:id="rId3"/>
    <p:sldId id="672" r:id="rId4"/>
    <p:sldId id="1415" r:id="rId5"/>
    <p:sldId id="1416" r:id="rId6"/>
    <p:sldId id="1417" r:id="rId7"/>
    <p:sldId id="1419" r:id="rId8"/>
    <p:sldId id="1418" r:id="rId9"/>
    <p:sldId id="1269" r:id="rId10"/>
    <p:sldId id="1381" r:id="rId11"/>
    <p:sldId id="1396" r:id="rId12"/>
    <p:sldId id="1379" r:id="rId13"/>
    <p:sldId id="1380" r:id="rId14"/>
    <p:sldId id="1420" r:id="rId15"/>
    <p:sldId id="1421" r:id="rId16"/>
    <p:sldId id="1422" r:id="rId17"/>
    <p:sldId id="1423" r:id="rId18"/>
    <p:sldId id="1425" r:id="rId19"/>
    <p:sldId id="1424" r:id="rId20"/>
    <p:sldId id="1426" r:id="rId21"/>
    <p:sldId id="1427" r:id="rId22"/>
    <p:sldId id="1428" r:id="rId23"/>
    <p:sldId id="1429" r:id="rId24"/>
    <p:sldId id="1430" r:id="rId25"/>
    <p:sldId id="1431" r:id="rId26"/>
    <p:sldId id="1433" r:id="rId27"/>
    <p:sldId id="1432" r:id="rId28"/>
    <p:sldId id="813" r:id="rId29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1"/>
    </p:embeddedFont>
    <p:embeddedFont>
      <p:font typeface="Kim jung chul Gothic Regular" panose="020B0503000000000000" pitchFamily="50" charset="-127"/>
      <p:regular r:id="rId32"/>
    </p:embeddedFont>
    <p:embeddedFont>
      <p:font typeface="Pretendard Black" panose="02000A03000000020004" pitchFamily="2" charset="-127"/>
      <p:bold r:id="rId33"/>
    </p:embeddedFont>
    <p:embeddedFont>
      <p:font typeface="Pretendard Light" panose="02000403000000020004" pitchFamily="2" charset="-127"/>
      <p:regular r:id="rId34"/>
    </p:embeddedFont>
    <p:embeddedFont>
      <p:font typeface="Pretendard Medium" panose="02000603000000020004" pitchFamily="2" charset="-127"/>
      <p:regular r:id="rId35"/>
    </p:embeddedFont>
    <p:embeddedFont>
      <p:font typeface="메이플스토리" panose="02000300000000000000" pitchFamily="2" charset="-127"/>
      <p:regular r:id="rId36"/>
      <p:bold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8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5472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lenium.dev/documentation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CC511BC-C6A6-9E93-9933-81375CEF7C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29618E9F-D594-3F78-5608-316A00FD2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18A56999-82D1-2C7F-BA21-797724F302A7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7C8F4BD-750E-6046-D0D8-E518291C2AEC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2507FDB-0228-13AC-83C1-3DB00FA5F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9A1FAD27-4003-16D7-BAB9-9042AA451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5622C531-C035-2693-0FFA-2040D8496CD3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923BA8F-3026-55D6-E7D1-41769C2E7A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5116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웹 자동화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웹 자동화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사람이 웹 브라우저를 사용하여 수행하는 작업을 자동으로 수행할 수 있도록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도와주는 기술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 ➡️ 반복적이고 지루한 작업을 자동화하여 생산성을 향상</a:t>
            </a:r>
            <a:r>
              <a:rPr lang="en-US" altLang="ko-KR" dirty="0"/>
              <a:t>, </a:t>
            </a:r>
            <a:r>
              <a:rPr lang="ko-KR" altLang="en-US" dirty="0"/>
              <a:t>시간 절약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활용 분야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웹 개발</a:t>
            </a:r>
            <a:r>
              <a:rPr lang="en-US" altLang="ko-KR" dirty="0"/>
              <a:t>, </a:t>
            </a:r>
            <a:r>
              <a:rPr lang="ko-KR" altLang="en-US" dirty="0"/>
              <a:t>데이터 수집</a:t>
            </a:r>
            <a:r>
              <a:rPr lang="en-US" altLang="ko-KR" dirty="0"/>
              <a:t>, </a:t>
            </a:r>
            <a:r>
              <a:rPr lang="ko-KR" altLang="en-US" dirty="0"/>
              <a:t>테스트 자동화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E125-67E1-84FA-B32D-89620F55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471E674-EB37-E1C4-9B10-2F44F01A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동적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/>
              <a:t>정적 </a:t>
            </a:r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C0886C1-9F19-F9BA-D0EB-3A9E60DCDF4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정적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: HTML</a:t>
            </a:r>
            <a:r>
              <a:rPr lang="ko-KR" altLang="en-US" dirty="0"/>
              <a:t>에 이미 데이터가 다 있는 경우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동적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페이지 로딩 후 </a:t>
            </a:r>
            <a:r>
              <a:rPr lang="en-US" altLang="ko-KR" dirty="0"/>
              <a:t>JavaScript</a:t>
            </a:r>
            <a:r>
              <a:rPr lang="ko-KR" altLang="en-US" dirty="0"/>
              <a:t>가 실행돼야 데이터가 나타나는 경우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</a:t>
            </a:r>
            <a:r>
              <a:rPr lang="ko-KR" altLang="en-US" dirty="0"/>
              <a:t>➡️ </a:t>
            </a:r>
            <a:r>
              <a:rPr lang="en-US" altLang="ko-KR" dirty="0"/>
              <a:t>Selenium</a:t>
            </a:r>
            <a:r>
              <a:rPr lang="ko-KR" altLang="en-US"/>
              <a:t>은 동적 </a:t>
            </a:r>
            <a:r>
              <a:rPr lang="ko-KR" altLang="en-US" dirty="0" err="1"/>
              <a:t>크롤링에</a:t>
            </a:r>
            <a:r>
              <a:rPr lang="ko-KR" altLang="en-US" dirty="0"/>
              <a:t> 특화된 도구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4550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7D8F8-2B3F-0DE7-CF3B-638EDDC94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F3B9D-B5AC-4DB2-5331-0FB2EBF0AF9A}"/>
              </a:ext>
            </a:extLst>
          </p:cNvPr>
          <p:cNvSpPr txBox="1"/>
          <p:nvPr/>
        </p:nvSpPr>
        <p:spPr>
          <a:xfrm>
            <a:off x="3165578" y="2600493"/>
            <a:ext cx="58609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Selenium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838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00C1-00D1-14C0-9475-EB724D14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C3C6AD4-B45D-011C-FE1A-5ABD950A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E873D47-B701-AC35-87F5-264FF1A5DC1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웹 브라우저 자동화를 위한 도구 모음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 ✔️ 웹 브라우저를 프로그래밍적으로 제어하여 반복 작업을 자동화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동적 웹 페이지의 데이터 수집 가능 </a:t>
            </a:r>
            <a:r>
              <a:rPr lang="en-US" altLang="ko-KR" dirty="0"/>
              <a:t>(JavaScript</a:t>
            </a:r>
            <a:r>
              <a:rPr lang="ko-KR" altLang="en-US" dirty="0"/>
              <a:t>로 생성된 데이터 포함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활용 분야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수집</a:t>
            </a:r>
            <a:r>
              <a:rPr lang="en-US" altLang="ko-KR" dirty="0"/>
              <a:t>, </a:t>
            </a:r>
            <a:r>
              <a:rPr lang="ko-KR" altLang="en-US" dirty="0"/>
              <a:t>반복 업무 자동화</a:t>
            </a:r>
            <a:r>
              <a:rPr lang="en-US" altLang="ko-KR" dirty="0"/>
              <a:t>, QA, </a:t>
            </a:r>
            <a:r>
              <a:rPr lang="ko-KR" altLang="en-US" dirty="0"/>
              <a:t>테스트 자동화</a:t>
            </a:r>
            <a:r>
              <a:rPr lang="en-US" altLang="ko-KR" dirty="0"/>
              <a:t>, </a:t>
            </a:r>
            <a:r>
              <a:rPr lang="ko-KR" altLang="en-US" dirty="0"/>
              <a:t>웹 서비스 모니터링 등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705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A7F8-F14F-503A-5D3B-FAED20E63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E343591-0197-3F69-AF46-8B574594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191FB-4F89-DF72-FE81-EA07D111F29F}"/>
              </a:ext>
            </a:extLst>
          </p:cNvPr>
          <p:cNvSpPr txBox="1"/>
          <p:nvPr/>
        </p:nvSpPr>
        <p:spPr>
          <a:xfrm>
            <a:off x="251788" y="1145407"/>
            <a:ext cx="8422152" cy="373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 💡웹드라이버</a:t>
            </a:r>
            <a:r>
              <a:rPr lang="en-US" altLang="ko-KR" sz="2800" dirty="0"/>
              <a:t>(WebDriver)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Selenium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브라우저를 제어하기 위해 필요한 실행 프로그램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WebDriver ↔️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 간 통신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브라우저별 전용 드라이버 필요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ChromeDriver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Firefox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GeckoDriver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Edge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msedgedriver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755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F5EC0-B4A1-C3F3-CEF3-56971734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59469AD-22B9-7777-65EC-A5EBC782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2F4A55F-BB89-AEA1-A60B-208F608F5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03975"/>
              </p:ext>
            </p:extLst>
          </p:nvPr>
        </p:nvGraphicFramePr>
        <p:xfrm>
          <a:off x="1126938" y="2206485"/>
          <a:ext cx="9917580" cy="2993045"/>
        </p:xfrm>
        <a:graphic>
          <a:graphicData uri="http://schemas.openxmlformats.org/drawingml/2006/table">
            <a:tbl>
              <a:tblPr/>
              <a:tblGrid>
                <a:gridCol w="1983516">
                  <a:extLst>
                    <a:ext uri="{9D8B030D-6E8A-4147-A177-3AD203B41FA5}">
                      <a16:colId xmlns:a16="http://schemas.microsoft.com/office/drawing/2014/main" val="1359586241"/>
                    </a:ext>
                  </a:extLst>
                </a:gridCol>
                <a:gridCol w="3493357">
                  <a:extLst>
                    <a:ext uri="{9D8B030D-6E8A-4147-A177-3AD203B41FA5}">
                      <a16:colId xmlns:a16="http://schemas.microsoft.com/office/drawing/2014/main" val="877286148"/>
                    </a:ext>
                  </a:extLst>
                </a:gridCol>
                <a:gridCol w="4440707">
                  <a:extLst>
                    <a:ext uri="{9D8B030D-6E8A-4147-A177-3AD203B41FA5}">
                      <a16:colId xmlns:a16="http://schemas.microsoft.com/office/drawing/2014/main" val="1916039413"/>
                    </a:ext>
                  </a:extLst>
                </a:gridCol>
              </a:tblGrid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Selenium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BeautifulSoup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88473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 기능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브라우저를 직접 제어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332255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동적 페이지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(JS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실행 가능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미지원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정적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만 처리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753825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상대적으로 느림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36237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의존성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WebDriver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필요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텍스트만 있으면 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9737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F58E87-5DA9-6217-1B99-BEBB866FDB8F}"/>
              </a:ext>
            </a:extLst>
          </p:cNvPr>
          <p:cNvSpPr txBox="1"/>
          <p:nvPr/>
        </p:nvSpPr>
        <p:spPr>
          <a:xfrm>
            <a:off x="963895" y="1517402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 </a:t>
            </a:r>
            <a:r>
              <a:rPr lang="en-US" altLang="ko-KR" sz="2400" dirty="0"/>
              <a:t>Selenium vs </a:t>
            </a:r>
            <a:r>
              <a:rPr lang="en-US" altLang="ko-KR" sz="2400" dirty="0" err="1"/>
              <a:t>BeautifulSoup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7516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Selenium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홈페이지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https://www.selenium.dev/</a:t>
            </a:r>
            <a:r>
              <a:rPr lang="en-US" altLang="ko-KR" sz="24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문서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https://www.selenium.dev/documentation/</a:t>
            </a:r>
            <a:r>
              <a:rPr lang="en-US" altLang="ko-K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381-2034-66CD-0A0A-775E748E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345094-F6E1-20F7-2BEE-59F2C17EF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655814"/>
            <a:ext cx="11525250" cy="54102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64711EC-C1B5-9C64-D722-20D114E2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 </a:t>
            </a:r>
            <a:r>
              <a:rPr lang="ko-KR" altLang="en-US" dirty="0"/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1355861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12CF-2520-248C-D9D8-60BE7153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719088-20B8-BA3D-07FC-D9F4E4CB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 </a:t>
            </a:r>
            <a:r>
              <a:rPr lang="ko-KR" altLang="en-US" dirty="0"/>
              <a:t>불러오기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799960-5C58-1CB3-728D-13FA42594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1447800"/>
            <a:ext cx="115252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2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3B9B-6A21-ED3B-12BB-689A907A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3153D8-037C-EBCA-5E40-9980BDC7979C}"/>
              </a:ext>
            </a:extLst>
          </p:cNvPr>
          <p:cNvSpPr txBox="1"/>
          <p:nvPr/>
        </p:nvSpPr>
        <p:spPr>
          <a:xfrm>
            <a:off x="3165574" y="2600493"/>
            <a:ext cx="58609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Selenium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3634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52D2-770F-E7EE-6C7A-D1DF4D6A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E1951C-7F51-B24A-DD5A-60BFA160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DA38F-37CB-4F53-87C7-684C8874882E}"/>
              </a:ext>
            </a:extLst>
          </p:cNvPr>
          <p:cNvSpPr txBox="1"/>
          <p:nvPr/>
        </p:nvSpPr>
        <p:spPr>
          <a:xfrm>
            <a:off x="579720" y="1255474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브라우저 열기</a:t>
            </a:r>
          </a:p>
        </p:txBody>
      </p:sp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8A7F2-8CB7-EC9A-58FA-422E3308C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2" t="17675" r="5833" b="17375"/>
          <a:stretch>
            <a:fillRect/>
          </a:stretch>
        </p:blipFill>
        <p:spPr>
          <a:xfrm>
            <a:off x="708025" y="1894130"/>
            <a:ext cx="10775950" cy="2908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96B3C3-E802-CA2A-E025-C48BF08FEA80}"/>
              </a:ext>
            </a:extLst>
          </p:cNvPr>
          <p:cNvSpPr txBox="1"/>
          <p:nvPr/>
        </p:nvSpPr>
        <p:spPr>
          <a:xfrm>
            <a:off x="622055" y="4802430"/>
            <a:ext cx="1077595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webdriver.Chrome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Chrome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브라우저를 제어할 드라이버 객체 생성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ChromeDriverManager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().install() 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ChromeDriver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설치 및 경로 설정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127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E4C2-0187-D248-A8CD-C9780252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2B8C6E3-95E9-CDF4-1AC5-AB2D2B16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05267-CA8B-59B2-BD26-A92ABE48310F}"/>
              </a:ext>
            </a:extLst>
          </p:cNvPr>
          <p:cNvSpPr txBox="1"/>
          <p:nvPr/>
        </p:nvSpPr>
        <p:spPr>
          <a:xfrm>
            <a:off x="2403036" y="1936721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브라우저 닫기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50308-6267-3A6D-E809-44CEECBE813E}"/>
              </a:ext>
            </a:extLst>
          </p:cNvPr>
          <p:cNvSpPr txBox="1"/>
          <p:nvPr/>
        </p:nvSpPr>
        <p:spPr>
          <a:xfrm>
            <a:off x="2469548" y="4293645"/>
            <a:ext cx="6860608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driver.get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url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URL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이동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페이지 로딩이 완료될 때까지 기다린 후 다음 코드 실행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3" name="그림 2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40B87E-30EB-83E0-F668-11B72F9D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6" t="26052" r="9842" b="25800"/>
          <a:stretch>
            <a:fillRect/>
          </a:stretch>
        </p:blipFill>
        <p:spPr>
          <a:xfrm>
            <a:off x="2552700" y="2564621"/>
            <a:ext cx="70866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5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368C4-59CE-5809-D881-2AF7A0B7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C9C615D-7003-B98C-0D73-3DFF39DF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B7098-8644-B4E0-27C9-219142922E85}"/>
              </a:ext>
            </a:extLst>
          </p:cNvPr>
          <p:cNvSpPr txBox="1"/>
          <p:nvPr/>
        </p:nvSpPr>
        <p:spPr>
          <a:xfrm>
            <a:off x="2403036" y="1936721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웹페이지 열기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1CE67-C2DF-C73B-0623-C4ECE8C22779}"/>
              </a:ext>
            </a:extLst>
          </p:cNvPr>
          <p:cNvSpPr txBox="1"/>
          <p:nvPr/>
        </p:nvSpPr>
        <p:spPr>
          <a:xfrm>
            <a:off x="2469548" y="4293645"/>
            <a:ext cx="686060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driver.quit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열린 모든 브라우저 창 종료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세션 해제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driver.close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활성화된 탭만 닫음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다중 탭 제어 시 사용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7EC2B5-9F19-6981-9DE9-F1844CB49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6" t="25985" r="9962" b="25985"/>
          <a:stretch>
            <a:fillRect/>
          </a:stretch>
        </p:blipFill>
        <p:spPr>
          <a:xfrm>
            <a:off x="2548468" y="2564355"/>
            <a:ext cx="7086599" cy="17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33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735E-E40E-5336-4AD8-37CA1DEE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F1AA52-3CB7-58D2-F1C8-2438A4E37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4" t="17576" r="7435" b="17665"/>
          <a:stretch>
            <a:fillRect/>
          </a:stretch>
        </p:blipFill>
        <p:spPr>
          <a:xfrm>
            <a:off x="1191928" y="1463040"/>
            <a:ext cx="9808143" cy="350359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DE209B2-62E0-6384-A8B3-06191A80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B6C2A-265B-435D-3F16-20B49C803466}"/>
              </a:ext>
            </a:extLst>
          </p:cNvPr>
          <p:cNvSpPr txBox="1"/>
          <p:nvPr/>
        </p:nvSpPr>
        <p:spPr>
          <a:xfrm>
            <a:off x="1044268" y="82816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페이지 이동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C773C-FE54-AB6A-DAA3-DC4DBDF52847}"/>
              </a:ext>
            </a:extLst>
          </p:cNvPr>
          <p:cNvSpPr txBox="1"/>
          <p:nvPr/>
        </p:nvSpPr>
        <p:spPr>
          <a:xfrm>
            <a:off x="1101155" y="4937761"/>
            <a:ext cx="6860608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driver.back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 뒤로 가기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driver.forward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 앞으로 가기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driver.refresh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페이지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새로고침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863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746C4-A472-5347-496F-2BCBA644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F4CF4E-7E25-37B4-406E-50CE0E49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창 크기</a:t>
            </a:r>
            <a:r>
              <a:rPr lang="en-US" altLang="ko-KR" dirty="0"/>
              <a:t>/</a:t>
            </a:r>
            <a:r>
              <a:rPr lang="ko-KR" altLang="en-US" dirty="0"/>
              <a:t>위치 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2546F-A0DB-2337-FCDA-060B6A604EAF}"/>
              </a:ext>
            </a:extLst>
          </p:cNvPr>
          <p:cNvSpPr txBox="1"/>
          <p:nvPr/>
        </p:nvSpPr>
        <p:spPr>
          <a:xfrm>
            <a:off x="1044268" y="1419840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브라우저 창 크기</a:t>
            </a:r>
            <a:r>
              <a:rPr lang="en-US" altLang="ko-KR" sz="2400" dirty="0"/>
              <a:t>/</a:t>
            </a:r>
            <a:r>
              <a:rPr lang="ko-KR" altLang="en-US" sz="2400" dirty="0"/>
              <a:t>위치 조정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E6AAB-17EE-4DAB-6B23-0EB8EDC9BE26}"/>
              </a:ext>
            </a:extLst>
          </p:cNvPr>
          <p:cNvSpPr txBox="1"/>
          <p:nvPr/>
        </p:nvSpPr>
        <p:spPr>
          <a:xfrm>
            <a:off x="1101154" y="4821220"/>
            <a:ext cx="9002069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driver.set_window_size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(1200, 800)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1200px,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800px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크기 변경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driver.set_window_position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(100, 100)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좌측 상단 좌표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(100, 100)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창 배치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2D41BB-ABCE-2CE5-AC7B-8695F9B6B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20013" r="7375" b="20111"/>
          <a:stretch>
            <a:fillRect/>
          </a:stretch>
        </p:blipFill>
        <p:spPr>
          <a:xfrm>
            <a:off x="1183341" y="2026024"/>
            <a:ext cx="9825318" cy="280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98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E4212-25C6-3F73-FFA7-ADE92BE16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A148F8A-7C77-0E27-A70B-87461EEF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E35170-7C36-3E35-377F-9EFF982389C0}"/>
              </a:ext>
            </a:extLst>
          </p:cNvPr>
          <p:cNvSpPr txBox="1"/>
          <p:nvPr/>
        </p:nvSpPr>
        <p:spPr>
          <a:xfrm>
            <a:off x="1036920" y="191964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단일 요소 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A039C-5B34-C04A-357F-45886BAAC7F3}"/>
              </a:ext>
            </a:extLst>
          </p:cNvPr>
          <p:cNvSpPr txBox="1"/>
          <p:nvPr/>
        </p:nvSpPr>
        <p:spPr>
          <a:xfrm>
            <a:off x="1090710" y="4294094"/>
            <a:ext cx="1077595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페이지에서 조건에 맞는 첫 번째 요소를 반환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찾는 요소가 없으면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NoSuchElementException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8A3275-A1B4-2104-0B96-FF9560009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7" t="25972" r="7452" b="25973"/>
          <a:stretch>
            <a:fillRect/>
          </a:stretch>
        </p:blipFill>
        <p:spPr>
          <a:xfrm>
            <a:off x="1174375" y="2563906"/>
            <a:ext cx="9825319" cy="173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23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968C-2C05-206D-513F-5D8039D6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8A54048-A46E-E057-97EB-B311B76E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5163F-C5B0-065A-03D7-F02D9A232D0F}"/>
              </a:ext>
            </a:extLst>
          </p:cNvPr>
          <p:cNvSpPr txBox="1"/>
          <p:nvPr/>
        </p:nvSpPr>
        <p:spPr>
          <a:xfrm>
            <a:off x="1036920" y="191964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다중 요소 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D76EC-AD20-9BDF-84F0-1CBE6CFD9FC3}"/>
              </a:ext>
            </a:extLst>
          </p:cNvPr>
          <p:cNvSpPr txBox="1"/>
          <p:nvPr/>
        </p:nvSpPr>
        <p:spPr>
          <a:xfrm>
            <a:off x="1090710" y="4294094"/>
            <a:ext cx="1077595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조건에 맞는 모든 요소를 리스트로 반환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요소가 없어도 빈 리스트 반환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에러 없음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755F4A-221C-7D54-20DA-2E0AD5AF2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25973" r="7530" b="25972"/>
          <a:stretch>
            <a:fillRect/>
          </a:stretch>
        </p:blipFill>
        <p:spPr>
          <a:xfrm>
            <a:off x="1183341" y="2563905"/>
            <a:ext cx="9807388" cy="173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25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1336-03FC-D4B7-865F-016F00F0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307D000-A9B6-9F1E-BA5F-79C1BAB2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BDFE1-96E9-D333-7B63-31C3C2D174AC}"/>
              </a:ext>
            </a:extLst>
          </p:cNvPr>
          <p:cNvSpPr txBox="1"/>
          <p:nvPr/>
        </p:nvSpPr>
        <p:spPr>
          <a:xfrm>
            <a:off x="1033932" y="1713457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By </a:t>
            </a:r>
            <a:r>
              <a:rPr lang="ko-KR" altLang="en-US" sz="2400" dirty="0" err="1"/>
              <a:t>선택자</a:t>
            </a:r>
            <a:r>
              <a:rPr lang="ko-KR" altLang="en-US" sz="2400" dirty="0"/>
              <a:t> 종류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49CA5AC-AB44-7CA3-3BDD-96B89C440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508224"/>
              </p:ext>
            </p:extLst>
          </p:nvPr>
        </p:nvGraphicFramePr>
        <p:xfrm>
          <a:off x="1177364" y="2367711"/>
          <a:ext cx="9837271" cy="2688384"/>
        </p:xfrm>
        <a:graphic>
          <a:graphicData uri="http://schemas.openxmlformats.org/drawingml/2006/table">
            <a:tbl>
              <a:tblPr/>
              <a:tblGrid>
                <a:gridCol w="2260402">
                  <a:extLst>
                    <a:ext uri="{9D8B030D-6E8A-4147-A177-3AD203B41FA5}">
                      <a16:colId xmlns:a16="http://schemas.microsoft.com/office/drawing/2014/main" val="660291528"/>
                    </a:ext>
                  </a:extLst>
                </a:gridCol>
                <a:gridCol w="2296569">
                  <a:extLst>
                    <a:ext uri="{9D8B030D-6E8A-4147-A177-3AD203B41FA5}">
                      <a16:colId xmlns:a16="http://schemas.microsoft.com/office/drawing/2014/main" val="2592271028"/>
                    </a:ext>
                  </a:extLst>
                </a:gridCol>
                <a:gridCol w="5280300">
                  <a:extLst>
                    <a:ext uri="{9D8B030D-6E8A-4147-A177-3AD203B41FA5}">
                      <a16:colId xmlns:a16="http://schemas.microsoft.com/office/drawing/2014/main" val="2082475812"/>
                    </a:ext>
                  </a:extLst>
                </a:gridCol>
              </a:tblGrid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4083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id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속성으로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driver.find_element(By.ID, "loginBtn")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658986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속성으로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(By.NAME, "q")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751441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By.CLASS_NAME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클래스명으로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driver.find_element(By.CLASS_NAME, "btn")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80082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By.TAG_NAME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태그명으로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driver.find_element(By.TAG_NAME, "input")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296250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By.CSS_SELECTOR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CSS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선택자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문법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By.CSS_SELECTOR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div.content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&gt; p")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569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859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A2DA-F9AE-0AA1-D134-92390AF61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CF4DD3-078D-2E19-75E5-03B09AED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9B29B-6237-8B3B-B0B7-FAB7B31ADF80}"/>
              </a:ext>
            </a:extLst>
          </p:cNvPr>
          <p:cNvSpPr txBox="1"/>
          <p:nvPr/>
        </p:nvSpPr>
        <p:spPr>
          <a:xfrm>
            <a:off x="1036920" y="138848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입력하기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send_keys</a:t>
            </a:r>
            <a:r>
              <a:rPr lang="en-US" altLang="ko-KR" sz="2400" dirty="0"/>
              <a:t>()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3FB31-408E-F1E2-F7E0-DF170ACF1D5A}"/>
              </a:ext>
            </a:extLst>
          </p:cNvPr>
          <p:cNvSpPr txBox="1"/>
          <p:nvPr/>
        </p:nvSpPr>
        <p:spPr>
          <a:xfrm>
            <a:off x="1090710" y="4846914"/>
            <a:ext cx="1077595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텍스트 입력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키보드 특수키 입력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Keys.ENTER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Keys.TAB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3" name="그림 2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C8A034-E887-E7B9-E874-3D4145C6E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2" t="19871" r="7452" b="19871"/>
          <a:stretch>
            <a:fillRect/>
          </a:stretch>
        </p:blipFill>
        <p:spPr>
          <a:xfrm>
            <a:off x="1192305" y="2017058"/>
            <a:ext cx="9807389" cy="282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8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AF2D-E1F1-BE2D-CB56-F10F2A06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9179259-FA09-BB07-1DCF-CD8C9D14A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256DF-DB84-168B-726D-085A61D07E68}"/>
              </a:ext>
            </a:extLst>
          </p:cNvPr>
          <p:cNvSpPr txBox="1"/>
          <p:nvPr/>
        </p:nvSpPr>
        <p:spPr>
          <a:xfrm>
            <a:off x="1036920" y="1946543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클릭하기</a:t>
            </a:r>
            <a:r>
              <a:rPr lang="en-US" altLang="ko-KR" sz="2400" dirty="0"/>
              <a:t>: click()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9B2AA-F835-BB09-5ABC-3A8F013A1DC4}"/>
              </a:ext>
            </a:extLst>
          </p:cNvPr>
          <p:cNvSpPr txBox="1"/>
          <p:nvPr/>
        </p:nvSpPr>
        <p:spPr>
          <a:xfrm>
            <a:off x="1090710" y="4663136"/>
            <a:ext cx="1077595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버튼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링크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체크박스 등에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F6D473-6115-A3BF-5E74-D9D273CF3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23416" r="7453" b="23416"/>
          <a:stretch>
            <a:fillRect/>
          </a:stretch>
        </p:blipFill>
        <p:spPr>
          <a:xfrm>
            <a:off x="1183341" y="2566146"/>
            <a:ext cx="9816353" cy="210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01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964A1-A6B7-0F24-6676-F6C379B36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93297C0-4CA9-A61D-4459-2455F170A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DF0C9-9162-D0F1-095D-68B3EF4B0D09}"/>
              </a:ext>
            </a:extLst>
          </p:cNvPr>
          <p:cNvSpPr txBox="1"/>
          <p:nvPr/>
        </p:nvSpPr>
        <p:spPr>
          <a:xfrm>
            <a:off x="2403036" y="1936721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제출하기</a:t>
            </a:r>
            <a:r>
              <a:rPr lang="en-US" altLang="ko-KR" sz="2400" dirty="0"/>
              <a:t>: submit()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98DCA-EE68-BEDE-E0F2-51FC2333BCAD}"/>
              </a:ext>
            </a:extLst>
          </p:cNvPr>
          <p:cNvSpPr txBox="1"/>
          <p:nvPr/>
        </p:nvSpPr>
        <p:spPr>
          <a:xfrm>
            <a:off x="2469548" y="4293645"/>
            <a:ext cx="686060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form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 내에서 입력 후 제출 동작 실행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보통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send_keys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Keys.RETURN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유사하게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D8BFE8-596D-6AA2-26F4-D292F83DF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9" t="25985" r="9939" b="25985"/>
          <a:stretch>
            <a:fillRect/>
          </a:stretch>
        </p:blipFill>
        <p:spPr>
          <a:xfrm>
            <a:off x="2554940" y="2564355"/>
            <a:ext cx="7082119" cy="17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21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F937-6CBE-BCA8-437D-3B39C919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38949D4-0F41-4133-989E-AF309B8F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E2359-4269-6CBF-D47D-AFC1A4B5BAD6}"/>
              </a:ext>
            </a:extLst>
          </p:cNvPr>
          <p:cNvSpPr txBox="1"/>
          <p:nvPr/>
        </p:nvSpPr>
        <p:spPr>
          <a:xfrm>
            <a:off x="2403036" y="2186977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입력창</a:t>
            </a:r>
            <a:r>
              <a:rPr lang="ko-KR" altLang="en-US" sz="2400" dirty="0"/>
              <a:t> 초기화</a:t>
            </a:r>
            <a:r>
              <a:rPr lang="en-US" altLang="ko-KR" sz="2400" dirty="0"/>
              <a:t>: clear()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E035D-161B-3F41-7ABE-233FF82E8585}"/>
              </a:ext>
            </a:extLst>
          </p:cNvPr>
          <p:cNvSpPr txBox="1"/>
          <p:nvPr/>
        </p:nvSpPr>
        <p:spPr>
          <a:xfrm>
            <a:off x="2469548" y="4543901"/>
            <a:ext cx="686060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입력창의 기존 내용을 지움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C7E07F-7EC5-067C-A76E-F4A376DEB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9" t="25985" r="9939" b="25985"/>
          <a:stretch>
            <a:fillRect/>
          </a:stretch>
        </p:blipFill>
        <p:spPr>
          <a:xfrm>
            <a:off x="2554940" y="2814611"/>
            <a:ext cx="7082119" cy="17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90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588D-5D5B-01FF-3736-423B2279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BEE792-9FB1-46E0-90AF-CEA15B8D8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0" t="20167" r="7519" b="20269"/>
          <a:stretch>
            <a:fillRect/>
          </a:stretch>
        </p:blipFill>
        <p:spPr>
          <a:xfrm>
            <a:off x="1191928" y="1357162"/>
            <a:ext cx="9808144" cy="279132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84A7C38-DCDE-1BBC-F52E-A582D84EA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83F38-979A-63C9-9819-5B74A3C14DD5}"/>
              </a:ext>
            </a:extLst>
          </p:cNvPr>
          <p:cNvSpPr txBox="1"/>
          <p:nvPr/>
        </p:nvSpPr>
        <p:spPr>
          <a:xfrm>
            <a:off x="1044941" y="76263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키보드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B2E9B-1680-8ABB-9ECB-0229AC3E76B5}"/>
              </a:ext>
            </a:extLst>
          </p:cNvPr>
          <p:cNvSpPr txBox="1"/>
          <p:nvPr/>
        </p:nvSpPr>
        <p:spPr>
          <a:xfrm>
            <a:off x="1098731" y="4152998"/>
            <a:ext cx="10775950" cy="2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Keys.RETURN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Enter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Keys.TAB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Tab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Keys.ESCAPE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Esc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Keys.BACKSPACE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Backspace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Keys.ARROW_DOWN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방향키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599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8D24-E227-C949-C076-5CE3548C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2841E6C-9F87-026A-30F7-DEC92B67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pic>
        <p:nvPicPr>
          <p:cNvPr id="7" name="그림 6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4C81A8-6CFE-C963-5867-BD13B4893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6" t="25309" r="7466" b="25543"/>
          <a:stretch>
            <a:fillRect/>
          </a:stretch>
        </p:blipFill>
        <p:spPr>
          <a:xfrm>
            <a:off x="1193799" y="2379133"/>
            <a:ext cx="9804401" cy="17695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2E8E4A-6B74-869D-7CB7-7C82A474DD0D}"/>
              </a:ext>
            </a:extLst>
          </p:cNvPr>
          <p:cNvSpPr txBox="1"/>
          <p:nvPr/>
        </p:nvSpPr>
        <p:spPr>
          <a:xfrm>
            <a:off x="1036920" y="178567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스크린샷 저장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DA912-BCA5-29B0-2277-23354D21EC0B}"/>
              </a:ext>
            </a:extLst>
          </p:cNvPr>
          <p:cNvSpPr txBox="1"/>
          <p:nvPr/>
        </p:nvSpPr>
        <p:spPr>
          <a:xfrm>
            <a:off x="1090710" y="4172067"/>
            <a:ext cx="1077595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현재 브라우저 화면을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PNG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파일로 저장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저장 경로를 지정하지 않으면 현재 실행 위치에 저장됨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8321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FB7D-2E1C-D5FB-4947-21FAA6AC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29E34EE-34D5-1B15-EE8C-E0F4F8AB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1986B-2DA9-F62C-2F9D-517ADD5DDCAA}"/>
              </a:ext>
            </a:extLst>
          </p:cNvPr>
          <p:cNvSpPr txBox="1"/>
          <p:nvPr/>
        </p:nvSpPr>
        <p:spPr>
          <a:xfrm>
            <a:off x="359141" y="136376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구글 검색 예제</a:t>
            </a:r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ACFDFA-7AFD-76D0-E0E2-D08937F22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8" t="12407" r="10584" b="48025"/>
          <a:stretch>
            <a:fillRect/>
          </a:stretch>
        </p:blipFill>
        <p:spPr>
          <a:xfrm>
            <a:off x="499533" y="2027765"/>
            <a:ext cx="5520460" cy="2713567"/>
          </a:xfrm>
          <a:prstGeom prst="rect">
            <a:avLst/>
          </a:prstGeom>
        </p:spPr>
      </p:pic>
      <p:pic>
        <p:nvPicPr>
          <p:cNvPr id="7" name="그림 6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E6F15C-5F68-86CD-0C62-6E9B6DC07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4" t="51728" r="10608" b="8704"/>
          <a:stretch>
            <a:fillRect/>
          </a:stretch>
        </p:blipFill>
        <p:spPr>
          <a:xfrm>
            <a:off x="6096000" y="2027765"/>
            <a:ext cx="5520460" cy="27135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7119D2-F47B-99EC-9162-9272DB7A6DD3}"/>
              </a:ext>
            </a:extLst>
          </p:cNvPr>
          <p:cNvSpPr txBox="1"/>
          <p:nvPr/>
        </p:nvSpPr>
        <p:spPr>
          <a:xfrm>
            <a:off x="406400" y="4741332"/>
            <a:ext cx="1112520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검색창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입력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빠른 전환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짧은 간격의 요청이 반복되면 “비정상적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트래픽”으로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판단해 차단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0603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8392</TotalTime>
  <Words>806</Words>
  <Application>Microsoft Office PowerPoint</Application>
  <PresentationFormat>와이드스크린</PresentationFormat>
  <Paragraphs>137</Paragraphs>
  <Slides>28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G마켓 산스 TTF Bold</vt:lpstr>
      <vt:lpstr>Pretendard Black</vt:lpstr>
      <vt:lpstr>메이플스토리</vt:lpstr>
      <vt:lpstr>Wingdings</vt:lpstr>
      <vt:lpstr>Pretendard Medium</vt:lpstr>
      <vt:lpstr>Pretendard Light</vt:lpstr>
      <vt:lpstr>Kim jung chul Gothic Regular</vt:lpstr>
      <vt:lpstr>Arial</vt:lpstr>
      <vt:lpstr>1_Office 테마</vt:lpstr>
      <vt:lpstr>PowerPoint 프레젠테이션</vt:lpstr>
      <vt:lpstr>PowerPoint 프레젠테이션</vt:lpstr>
      <vt:lpstr>웹 자동화</vt:lpstr>
      <vt:lpstr>동적 크롤링 &amp; 정적 크롤링</vt:lpstr>
      <vt:lpstr>PowerPoint 프레젠테이션</vt:lpstr>
      <vt:lpstr>Selenium</vt:lpstr>
      <vt:lpstr>Selenium</vt:lpstr>
      <vt:lpstr>Selenium</vt:lpstr>
      <vt:lpstr>Selenium 공식 문서</vt:lpstr>
      <vt:lpstr>Selenium 설치</vt:lpstr>
      <vt:lpstr>Selenium 불러오기</vt:lpstr>
      <vt:lpstr>PowerPoint 프레젠테이션</vt:lpstr>
      <vt:lpstr>브라우저 열기 / 닫기</vt:lpstr>
      <vt:lpstr>브라우저 열기 / 닫기</vt:lpstr>
      <vt:lpstr>브라우저 열기 / 닫기</vt:lpstr>
      <vt:lpstr>브라우저 열기 / 닫기</vt:lpstr>
      <vt:lpstr>브라우저 창 크기/위치 조정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597</cp:revision>
  <dcterms:created xsi:type="dcterms:W3CDTF">2023-01-31T04:26:23Z</dcterms:created>
  <dcterms:modified xsi:type="dcterms:W3CDTF">2025-09-01T01:01:56Z</dcterms:modified>
</cp:coreProperties>
</file>