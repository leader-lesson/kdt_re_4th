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1"/>
  </p:notesMasterIdLst>
  <p:sldIdLst>
    <p:sldId id="1052" r:id="rId2"/>
    <p:sldId id="257" r:id="rId3"/>
    <p:sldId id="1006" r:id="rId4"/>
    <p:sldId id="1007" r:id="rId5"/>
    <p:sldId id="1039" r:id="rId6"/>
    <p:sldId id="1059" r:id="rId7"/>
    <p:sldId id="1060" r:id="rId8"/>
    <p:sldId id="1038" r:id="rId9"/>
    <p:sldId id="1002" r:id="rId10"/>
    <p:sldId id="1003" r:id="rId11"/>
    <p:sldId id="1040" r:id="rId12"/>
    <p:sldId id="1020" r:id="rId13"/>
    <p:sldId id="1041" r:id="rId14"/>
    <p:sldId id="1048" r:id="rId15"/>
    <p:sldId id="1049" r:id="rId16"/>
    <p:sldId id="1050" r:id="rId17"/>
    <p:sldId id="1051" r:id="rId18"/>
    <p:sldId id="1043" r:id="rId19"/>
    <p:sldId id="1044" r:id="rId20"/>
    <p:sldId id="1045" r:id="rId21"/>
    <p:sldId id="1046" r:id="rId22"/>
    <p:sldId id="1053" r:id="rId23"/>
    <p:sldId id="1047" r:id="rId24"/>
    <p:sldId id="1054" r:id="rId25"/>
    <p:sldId id="1055" r:id="rId26"/>
    <p:sldId id="1056" r:id="rId27"/>
    <p:sldId id="1057" r:id="rId28"/>
    <p:sldId id="1058" r:id="rId29"/>
    <p:sldId id="813" r:id="rId30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32"/>
    </p:embeddedFont>
    <p:embeddedFont>
      <p:font typeface="G마켓 산스 TTF Bold" panose="02000000000000000000" pitchFamily="2" charset="-127"/>
      <p:bold r:id="rId33"/>
    </p:embeddedFont>
    <p:embeddedFont>
      <p:font typeface="Pretendard Black" panose="02000A03000000020004" pitchFamily="2" charset="-127"/>
      <p:bold r:id="rId34"/>
    </p:embeddedFont>
    <p:embeddedFont>
      <p:font typeface="Pretendard Light" panose="02000403000000020004" pitchFamily="2" charset="-127"/>
      <p:regular r:id="rId35"/>
    </p:embeddedFont>
    <p:embeddedFont>
      <p:font typeface="Pretendard Medium" panose="02000603000000020004" pitchFamily="2" charset="-127"/>
      <p:regular r:id="rId36"/>
    </p:embeddedFont>
    <p:embeddedFont>
      <p:font typeface="맑은 고딕" panose="020B0503020000020004" pitchFamily="50" charset="-127"/>
      <p:regular r:id="rId37"/>
      <p:bold r:id="rId38"/>
    </p:embeddedFont>
    <p:embeddedFont>
      <p:font typeface="메이플스토리" panose="02000300000000000000" pitchFamily="2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5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0935-6576-A246-71DD-8FC71200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8A61-49B0-7AA8-F144-ACEAE433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6D6A2-D6D3-6760-5C88-655F350D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5F55C-EA9C-2F74-1F4B-21A035506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09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C640-821B-ECD6-271E-AD108C7E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E4E053-AB42-94E1-6712-E8C2F1037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646890-2247-A9C0-0810-EA242A9D4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75E1D-26D3-5A8F-6C85-64EA7C9A5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260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A4DF-F9A8-62BD-9FC1-773BE17A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1285E3-0408-584F-2CB2-7F10EDCB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096C57-7A23-2854-A4B2-7FE467F6C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F92C2-DF84-D996-0588-474553E05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889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CC64-D863-7332-8383-F9B4C194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0A1533-90C3-D724-073D-5B84AD8EE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8F372-0957-71AD-1792-62DC94EF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99D6A2-A5DF-72C8-4F68-EA5C4E05F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533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8979-E8E1-6409-F36F-4D72F15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CC0CD1-AF50-8F1A-AEF5-F6CB238EE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53D95-2315-1EFA-8F63-D98F54A49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7AEED-EFCE-2A79-CF52-0DEF78FF6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9997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6CA7-77D3-0AEE-10F9-E006463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16712-0EDC-F559-AE6E-00BFB507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7D5D-4089-7CFD-6D26-FF645805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CCA93-C180-0AF1-9F60-646F8149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0113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2DD-3285-749D-7256-D9EAB997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09A2B9-317F-C5D1-4376-D57842D6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0B617-AABC-550D-FD1A-43E73A662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4211C-5EA1-3811-C624-4B45B3493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9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E484-52B9-2E63-7403-7177C108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079C9-9F82-474E-1699-3A1365B31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E76A07-5FE4-42D2-9124-988BD0CA1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1F9A9-A68C-AAA5-A9AD-07E5A1CD6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45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2A642-D44E-A683-56FF-8EDAFB25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446188-61BD-0330-8B2E-49D67EBF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A8E231-E9E2-1ECD-3857-1E4EDACB8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B953A-2FB4-1064-5357-7F530D1E9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0327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6CCE-9697-5AA7-553E-DFD5D214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8DAE06-BC5D-052B-A307-F1A2B0324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AA1A0-5DF1-4D05-9A75-2FEB2230A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8773-2581-E328-23E8-C0C45B0E6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446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5015-2AB4-ABE7-E737-25740924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E230AE-BE2F-35D7-26E5-2291C2D3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7A17F4-49C8-8531-AF74-D03376D04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D7E18-DBBD-C00A-1909-C86C4BD5A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74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7E04-3A8E-749C-B4D2-5D782523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8BA68-48E3-6164-8DB2-3147A0C9E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D41AD0-ABA0-98F8-0A93-E7400A7C0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BFA0BF-21EE-FD04-D8DC-B99743D60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58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EB67-B78A-3C8D-A1E1-641FE37A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5EE9AC-6519-F6AB-A7F7-9AF8E0F4F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34AD0C-855B-38A5-0090-A6D856C28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2849C8-1206-6D8C-174B-7F44D4EB8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557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F099-90F3-C52D-1D4C-F91D517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4C7659-745E-51E1-395D-E44975056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F1EAA-9DB3-E589-705B-029EB6050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1E5006-ABF9-158A-A28F-96146A7C0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699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0DEA-5DEB-805C-5924-B97187D6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DBA47-4239-85D2-0662-3BB42A5E7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DEB998-5045-55ED-67E2-40C51FAC6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12296C-D5A3-51DF-F19D-4D23DD076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783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010-D937-25D9-83F1-86E2BC65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5852A-3249-A2E9-BA6A-5119F8405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F60153-1FD6-357C-6D6E-FC005AE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5B6D16-899F-9536-0AA7-F3ECC3262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860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4F71-F221-82E6-5683-C25B51BF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3E7BCC-A880-52F3-18AA-7723A3F6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7CEE27-F73D-D308-C853-05C20AD80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6F172-59CD-ACA9-3280-5FC10416D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08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23DE-FA15-A67F-1F26-FCE25245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1039DB-7BE5-8026-A91F-DA2EE9104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C35BCB-112E-347D-4DC4-C9063595A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FB387-A31A-8480-49FB-F908DED35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244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21C6-D27E-8870-00C0-AD8576EA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BC8BB7-C400-4959-7C2A-443235522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F4573-8081-AD66-4826-A41250736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FBB328-94BF-4067-A2F3-54A36F230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98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23D6-6527-CB4E-EF4E-F793834B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CC2BD-D871-F524-50D8-D33465A4D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3A4B68-3D1D-A2D1-3545-6B7BEDCCE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1E3C6-818C-6637-2873-5E9A75CE3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0580C199-9AF6-A5DE-EDD9-66365C4045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0661C1F-05F8-B0DE-4A84-6FBB5CCC5A7C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ECA41D-3AFF-71F4-93C1-8AE0EB40D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785395" y="2600493"/>
            <a:ext cx="26212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값을 하나의 변수에 저장할 수 있는 자료형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순서가 유지되며</a:t>
            </a:r>
            <a:r>
              <a:rPr lang="en-US" altLang="ko-KR" b="1" dirty="0"/>
              <a:t>, </a:t>
            </a:r>
            <a:r>
              <a:rPr lang="ko-KR" altLang="en-US" b="1" dirty="0"/>
              <a:t>변경이 불가능</a:t>
            </a:r>
            <a:r>
              <a:rPr lang="en-US" altLang="ko-KR" b="1" dirty="0"/>
              <a:t>(immutable) </a:t>
            </a:r>
            <a:r>
              <a:rPr lang="ko-KR" altLang="en-US" b="1" dirty="0"/>
              <a:t>한 시퀀스 타입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불변성 </a:t>
            </a:r>
            <a:r>
              <a:rPr lang="en-US" altLang="ko-KR" b="1" dirty="0"/>
              <a:t>(Immutable) : </a:t>
            </a:r>
            <a:r>
              <a:rPr lang="ko-KR" altLang="en-US" dirty="0" err="1"/>
              <a:t>튜플은</a:t>
            </a:r>
            <a:r>
              <a:rPr lang="ko-KR" altLang="en-US" dirty="0"/>
              <a:t> 한 번 생성되면</a:t>
            </a:r>
            <a:r>
              <a:rPr lang="en-US" altLang="ko-KR" dirty="0"/>
              <a:t>, </a:t>
            </a:r>
            <a:r>
              <a:rPr lang="ko-KR" altLang="en-US" b="1" dirty="0"/>
              <a:t>값을 수정하거나 삭제할 수 없음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유지 </a:t>
            </a:r>
            <a:r>
              <a:rPr lang="en-US" altLang="ko-KR" dirty="0"/>
              <a:t>: </a:t>
            </a:r>
            <a:r>
              <a:rPr lang="ko-KR" altLang="en-US" dirty="0" err="1"/>
              <a:t>튜플은</a:t>
            </a:r>
            <a:r>
              <a:rPr lang="ko-KR" altLang="en-US" dirty="0"/>
              <a:t> </a:t>
            </a:r>
            <a:r>
              <a:rPr lang="ko-KR" altLang="en-US" b="1" dirty="0"/>
              <a:t>요소의 입력 순서</a:t>
            </a:r>
            <a:r>
              <a:rPr lang="ko-KR" altLang="en-US" dirty="0"/>
              <a:t>를 그대로 기억함</a:t>
            </a:r>
            <a:r>
              <a:rPr lang="en-US" altLang="ko-KR" dirty="0"/>
              <a:t>(</a:t>
            </a:r>
            <a:r>
              <a:rPr lang="ko-KR" altLang="en-US" dirty="0"/>
              <a:t>인덱스 사용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 허용 </a:t>
            </a:r>
            <a:r>
              <a:rPr lang="en-US" altLang="ko-KR" dirty="0"/>
              <a:t>: </a:t>
            </a:r>
            <a:r>
              <a:rPr lang="ko-KR" altLang="en-US" dirty="0" err="1"/>
              <a:t>튜플은</a:t>
            </a:r>
            <a:r>
              <a:rPr lang="ko-KR" altLang="en-US" dirty="0"/>
              <a:t> 동일한 값을 여러 번 가질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9C5A-2C0D-ACE4-5354-9BC86DD9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CFD7B-1EF1-475E-D31F-7E7D006A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0B631-D6CA-D7AA-C7B3-F376E61F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F2609-61B6-7690-4448-54F6E70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CEFB-8FF3-58A6-8442-CE1B4758AFCA}"/>
              </a:ext>
            </a:extLst>
          </p:cNvPr>
          <p:cNvSpPr txBox="1"/>
          <p:nvPr/>
        </p:nvSpPr>
        <p:spPr>
          <a:xfrm>
            <a:off x="1617509" y="4768292"/>
            <a:ext cx="8548422" cy="113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튜플은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보통 소괄호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 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표현됨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쉼표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만으로 생성할 수 있지만  명확성을 위해 소괄호 사용을 권장 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1E57B1-0F21-C346-0296-3578947C4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" t="16253" r="7548" b="16216"/>
          <a:stretch/>
        </p:blipFill>
        <p:spPr>
          <a:xfrm>
            <a:off x="1766756" y="1366624"/>
            <a:ext cx="8657404" cy="34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C759-2047-F348-5505-A0195CF4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E6370-E880-EDCD-911D-9C353F4B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36012-8417-66CC-6C35-A7EDFC1D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26EC7C-8025-4462-29CC-E0DB2C16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6BF9B-9C69-DB61-BEBF-1AE8025432D1}"/>
              </a:ext>
            </a:extLst>
          </p:cNvPr>
          <p:cNvSpPr txBox="1"/>
          <p:nvPr/>
        </p:nvSpPr>
        <p:spPr>
          <a:xfrm>
            <a:off x="1621930" y="4778732"/>
            <a:ext cx="8945599" cy="113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b="1" dirty="0"/>
              <a:t>한 개의 요소만 가진 </a:t>
            </a:r>
            <a:r>
              <a:rPr lang="ko-KR" altLang="en-US" sz="2400" b="1" dirty="0" err="1"/>
              <a:t>튜플</a:t>
            </a:r>
            <a:r>
              <a:rPr lang="ko-KR" altLang="en-US" sz="2400" dirty="0" err="1"/>
              <a:t>을</a:t>
            </a:r>
            <a:r>
              <a:rPr lang="ko-KR" altLang="en-US" sz="2400" dirty="0"/>
              <a:t> 만들 때는 </a:t>
            </a:r>
            <a:r>
              <a:rPr lang="ko-KR" altLang="en-US" sz="2400" b="1" dirty="0"/>
              <a:t>쉼표</a:t>
            </a:r>
            <a:r>
              <a:rPr lang="en-US" altLang="ko-KR" sz="2400" b="1" dirty="0"/>
              <a:t>(,)</a:t>
            </a:r>
            <a:r>
              <a:rPr lang="ko-KR" altLang="en-US" sz="2400" b="1" dirty="0"/>
              <a:t>를 꼭 붙여야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튜플로</a:t>
            </a:r>
            <a:r>
              <a:rPr lang="ko-KR" altLang="en-US" sz="2400" dirty="0"/>
              <a:t> 인식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(10)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은 그냥 괄호로 감싼 숫자 → 정수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(int)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인식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111AA2-E0AA-0681-DF2E-F08A44767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t="16086" r="7471" b="16290"/>
          <a:stretch/>
        </p:blipFill>
        <p:spPr>
          <a:xfrm>
            <a:off x="1753870" y="1354804"/>
            <a:ext cx="8684260" cy="34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7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CBEE-0EE2-FC6B-E922-BB0D615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54024-45C8-9A9A-18C9-FB62BC11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언패킹</a:t>
            </a:r>
            <a:r>
              <a:rPr lang="ko-KR" altLang="en-US" dirty="0"/>
              <a:t> </a:t>
            </a:r>
            <a:r>
              <a:rPr lang="en-US" altLang="ko-KR" dirty="0"/>
              <a:t>(Unpacking)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6B5277-3187-9CAD-E695-8D7B1867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B7599-24F5-7C66-3C57-766D48A8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1C56E1E-E2AD-A9FB-243B-448239DAD5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990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💡시퀀스에 저장된 여러 값을 여러 변수에 한 번에 나누어 저장하는 문법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왼쪽에는 변수 나열 오른쪽에는 시퀀스 자료형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개수 일치 시</a:t>
            </a:r>
            <a:r>
              <a:rPr lang="en-US" altLang="ko-KR" dirty="0"/>
              <a:t>, </a:t>
            </a:r>
            <a:r>
              <a:rPr lang="ko-KR" altLang="en-US" dirty="0"/>
              <a:t>각각 대응되는 값이 할당됨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개수가 맞지 않으면 </a:t>
            </a:r>
            <a:r>
              <a:rPr lang="en-US" altLang="ko-KR" dirty="0" err="1"/>
              <a:t>ValueError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28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44C1-9039-0DBD-4A01-F140FF17E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73F2B0-4877-9060-ACEA-38D0D3B91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97104"/>
            <a:ext cx="8534400" cy="62016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D0D2187-9261-1FC8-D899-78233039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언패킹</a:t>
            </a:r>
            <a:r>
              <a:rPr lang="ko-KR" altLang="en-US" dirty="0"/>
              <a:t> </a:t>
            </a:r>
            <a:r>
              <a:rPr lang="en-US" altLang="ko-KR" dirty="0"/>
              <a:t>(Unpacking)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64A9E-F0EC-6269-984B-D3E6B6EB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473A61-61AA-1F53-B2D3-706C3FDB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AC94BB3-81C8-0908-7D48-290BC5FA34CF}"/>
              </a:ext>
            </a:extLst>
          </p:cNvPr>
          <p:cNvSpPr txBox="1">
            <a:spLocks/>
          </p:cNvSpPr>
          <p:nvPr/>
        </p:nvSpPr>
        <p:spPr>
          <a:xfrm>
            <a:off x="2316929" y="835204"/>
            <a:ext cx="5558177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언패킹</a:t>
            </a:r>
            <a:r>
              <a:rPr lang="ko-KR" altLang="en-US" dirty="0"/>
              <a:t> 예시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074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01C0-EDEE-7BA4-A202-05E8FACF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6CD4F-FE1D-92DF-23D5-66C7D692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44172-647D-D7CA-083E-D5136071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94CC5B-45DF-7ADA-66E9-4EAC301A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E1C54A-EE62-4532-3D08-1C12C2539D0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리스트와 </a:t>
            </a:r>
            <a:r>
              <a:rPr lang="ko-KR" altLang="en-US" dirty="0" err="1"/>
              <a:t>튜플의</a:t>
            </a:r>
            <a:r>
              <a:rPr lang="ko-KR" altLang="en-US" dirty="0"/>
              <a:t> 차이점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AC3D60-0179-0060-5E54-16D93A540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850741"/>
              </p:ext>
            </p:extLst>
          </p:nvPr>
        </p:nvGraphicFramePr>
        <p:xfrm>
          <a:off x="398599" y="1724297"/>
          <a:ext cx="11384098" cy="4165007"/>
        </p:xfrm>
        <a:graphic>
          <a:graphicData uri="http://schemas.openxmlformats.org/drawingml/2006/table">
            <a:tbl>
              <a:tblPr/>
              <a:tblGrid>
                <a:gridCol w="2192124">
                  <a:extLst>
                    <a:ext uri="{9D8B030D-6E8A-4147-A177-3AD203B41FA5}">
                      <a16:colId xmlns:a16="http://schemas.microsoft.com/office/drawing/2014/main" val="713457356"/>
                    </a:ext>
                  </a:extLst>
                </a:gridCol>
                <a:gridCol w="4957189">
                  <a:extLst>
                    <a:ext uri="{9D8B030D-6E8A-4147-A177-3AD203B41FA5}">
                      <a16:colId xmlns:a16="http://schemas.microsoft.com/office/drawing/2014/main" val="749731873"/>
                    </a:ext>
                  </a:extLst>
                </a:gridCol>
                <a:gridCol w="4234785">
                  <a:extLst>
                    <a:ext uri="{9D8B030D-6E8A-4147-A177-3AD203B41FA5}">
                      <a16:colId xmlns:a16="http://schemas.microsoft.com/office/drawing/2014/main" val="1096700398"/>
                    </a:ext>
                  </a:extLst>
                </a:gridCol>
              </a:tblGrid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39926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불가능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20970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기호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대괄호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 ]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소괄호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 )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990354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집합을 자주 수정해야 할 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데이터가 변하지 않아야 할 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378490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작음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45105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처리 속도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튜플에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비해 약간 느림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리스트에 비해 빠름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86536"/>
                  </a:ext>
                </a:extLst>
              </a:tr>
              <a:tr h="5950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 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많음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append, remove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적음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count, index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존재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06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22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319D-6FB3-A378-E38C-F60EB26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52EBAF-EB60-21F0-D775-426A3B51C976}"/>
              </a:ext>
            </a:extLst>
          </p:cNvPr>
          <p:cNvSpPr txBox="1"/>
          <p:nvPr/>
        </p:nvSpPr>
        <p:spPr>
          <a:xfrm>
            <a:off x="2933930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25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F8EE-07BE-2A15-3F77-469E48B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E6A7BD5-8884-913B-2552-80D5FE743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48" y="1068322"/>
            <a:ext cx="9933904" cy="57578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A157E6-7D67-87C6-BABB-DCD17B86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인덱싱과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2350C-BC46-8415-C5CC-A7332791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4B4F70-67F8-160D-9A31-68F31F42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E80F9C0-17B2-05A8-8BAA-46D2A95A1E69}"/>
              </a:ext>
            </a:extLst>
          </p:cNvPr>
          <p:cNvSpPr txBox="1">
            <a:spLocks/>
          </p:cNvSpPr>
          <p:nvPr/>
        </p:nvSpPr>
        <p:spPr>
          <a:xfrm>
            <a:off x="1484715" y="954915"/>
            <a:ext cx="8954686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💡다른 시퀀스 자료형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r>
              <a:rPr lang="ko-KR" altLang="en-US" dirty="0"/>
              <a:t>과 동일함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638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14B4-C0F2-6342-5126-DB65E103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E4A4B7-2F7D-FC59-1740-74A76C5B1665}"/>
              </a:ext>
            </a:extLst>
          </p:cNvPr>
          <p:cNvSpPr txBox="1"/>
          <p:nvPr/>
        </p:nvSpPr>
        <p:spPr>
          <a:xfrm>
            <a:off x="4415104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85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020D-F223-D835-43C4-DF7CB5B3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7DC4-AC52-EEFB-86A1-D898F9CE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E7FE0-85B1-FF65-1722-BCF45CF6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00D32-7B73-E506-B57A-C199F45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F90CE-62DE-3A31-EC91-ADA0C98B3160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123CAC-DA43-7187-E4B1-5295B6F3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2" t="18525" r="7500" b="18731"/>
          <a:stretch/>
        </p:blipFill>
        <p:spPr>
          <a:xfrm>
            <a:off x="920750" y="1568450"/>
            <a:ext cx="1035685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DFB1-71D2-4675-3A58-1B7951A4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47B38-BE04-BFCC-3126-A7965336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6F3C5-C817-B30E-243D-97BEB7C3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CB1419-8537-DF4D-873D-DAABAA0D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41B0B-86EC-5601-B39C-2922F1C27A5F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166ACE-5627-F2EE-A4F0-3F094DB25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20138" r="7587" b="20275"/>
          <a:stretch/>
        </p:blipFill>
        <p:spPr>
          <a:xfrm>
            <a:off x="917575" y="1878847"/>
            <a:ext cx="10356850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1F2D-04C6-2A24-4C3F-6CC492DF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A46B3-6407-0108-06FB-F54E6ECC7108}"/>
              </a:ext>
            </a:extLst>
          </p:cNvPr>
          <p:cNvSpPr txBox="1"/>
          <p:nvPr/>
        </p:nvSpPr>
        <p:spPr>
          <a:xfrm>
            <a:off x="4044812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30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AA77-D6E2-FEBD-98DB-C3CF7F30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2715-E490-3337-0C1F-75024B48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303B3-B237-0897-1DB0-4BCEF0D4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28F3F-0677-36BB-4735-8ED28202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054E4BB-C056-1C40-981D-D2232580DB7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2117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튜플은</a:t>
            </a:r>
            <a:r>
              <a:rPr lang="ko-KR" altLang="en-US" dirty="0"/>
              <a:t> </a:t>
            </a:r>
            <a:r>
              <a:rPr lang="ko-KR" altLang="en-US" b="1" dirty="0"/>
              <a:t>불변</a:t>
            </a:r>
            <a:r>
              <a:rPr lang="en-US" altLang="ko-KR" b="1" dirty="0"/>
              <a:t>(immutable) </a:t>
            </a:r>
            <a:r>
              <a:rPr lang="ko-KR" altLang="en-US" b="1" dirty="0"/>
              <a:t>시퀀스 자료형 → 사용 가능한 내장 메서드가 제한적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리스트와 비교했을 때 </a:t>
            </a:r>
            <a:r>
              <a:rPr lang="ko-KR" altLang="en-US" dirty="0" err="1"/>
              <a:t>튜플을</a:t>
            </a:r>
            <a:r>
              <a:rPr lang="ko-KR" altLang="en-US" dirty="0"/>
              <a:t> 변경시킬 수 있는 메서드는 모두 사용</a:t>
            </a:r>
            <a:r>
              <a:rPr lang="en-US" altLang="ko-KR" dirty="0"/>
              <a:t>X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단</a:t>
            </a:r>
            <a:r>
              <a:rPr lang="en-US" altLang="ko-KR" dirty="0"/>
              <a:t>, </a:t>
            </a:r>
            <a:r>
              <a:rPr lang="ko-KR" altLang="en-US" dirty="0" err="1"/>
              <a:t>튜플을</a:t>
            </a:r>
            <a:r>
              <a:rPr lang="ko-KR" altLang="en-US" dirty="0"/>
              <a:t> 변경시키지 않는 </a:t>
            </a:r>
            <a:r>
              <a:rPr lang="ko-KR" altLang="en-US" b="1" dirty="0"/>
              <a:t>파이썬 내장 함수는 사용 가능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217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1AA8-92D0-65C2-1489-6B07C500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12545-2D49-12F0-3EBE-392C0BFE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 – </a:t>
            </a:r>
            <a:r>
              <a:rPr lang="ko-KR" altLang="en-US" dirty="0"/>
              <a:t>파이썬 내장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A1EF3-13BF-AEC3-B991-8285644C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D8D25A-81E7-2AE0-30BF-6C3846E0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77A03EC-B4FB-4A9C-129A-4E2ACA6F0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14545"/>
              </p:ext>
            </p:extLst>
          </p:nvPr>
        </p:nvGraphicFramePr>
        <p:xfrm>
          <a:off x="447675" y="1962944"/>
          <a:ext cx="11296649" cy="4094958"/>
        </p:xfrm>
        <a:graphic>
          <a:graphicData uri="http://schemas.openxmlformats.org/drawingml/2006/table">
            <a:tbl>
              <a:tblPr/>
              <a:tblGrid>
                <a:gridCol w="1377640">
                  <a:extLst>
                    <a:ext uri="{9D8B030D-6E8A-4147-A177-3AD203B41FA5}">
                      <a16:colId xmlns:a16="http://schemas.microsoft.com/office/drawing/2014/main" val="1033392701"/>
                    </a:ext>
                  </a:extLst>
                </a:gridCol>
                <a:gridCol w="5847317">
                  <a:extLst>
                    <a:ext uri="{9D8B030D-6E8A-4147-A177-3AD203B41FA5}">
                      <a16:colId xmlns:a16="http://schemas.microsoft.com/office/drawing/2014/main" val="2741332886"/>
                    </a:ext>
                  </a:extLst>
                </a:gridCol>
                <a:gridCol w="4071692">
                  <a:extLst>
                    <a:ext uri="{9D8B030D-6E8A-4147-A177-3AD203B41FA5}">
                      <a16:colId xmlns:a16="http://schemas.microsoft.com/office/drawing/2014/main" val="2965574642"/>
                    </a:ext>
                  </a:extLst>
                </a:gridCol>
              </a:tblGrid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662912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튜플의 길이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 개수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len((1, 2, 3)) →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386244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max(t)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내에서 가장 큰 값을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max((3, 5, 2)) →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842719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내에서 가장 작은 값을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min((3, 5, 2)) →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68435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요소의 합을 반환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숫자형만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sum((1, 2, 3)) →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700076"/>
                  </a:ext>
                </a:extLst>
              </a:tr>
              <a:tr h="6824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sorted(t)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정렬된 리스트를 반환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자체는 정렬되지 않음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sorted((3, 1, 2)) → [1, 2, 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467456"/>
                  </a:ext>
                </a:extLst>
              </a:tr>
            </a:tbl>
          </a:graphicData>
        </a:graphic>
      </p:graphicFrame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BF1CA687-D470-A650-C2EE-AE0425FE8077}"/>
              </a:ext>
            </a:extLst>
          </p:cNvPr>
          <p:cNvSpPr txBox="1">
            <a:spLocks/>
          </p:cNvSpPr>
          <p:nvPr/>
        </p:nvSpPr>
        <p:spPr>
          <a:xfrm>
            <a:off x="289888" y="1179716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 err="1"/>
              <a:t>튜플의</a:t>
            </a:r>
            <a:r>
              <a:rPr lang="ko-KR" altLang="en-US" dirty="0"/>
              <a:t> 요소를 읽기 전용으로 다룸 → </a:t>
            </a:r>
            <a:r>
              <a:rPr lang="ko-KR" altLang="en-US" dirty="0" err="1"/>
              <a:t>튜플</a:t>
            </a:r>
            <a:r>
              <a:rPr lang="ko-KR" altLang="en-US" dirty="0"/>
              <a:t> 자체를 수정하지는❌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2931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0403-4223-5B4E-C004-68DE9C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F2E43-6B05-283C-9296-310DF956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(Tuple) -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2783D-B3B5-89B5-160D-EFE86BB7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B8705-BE37-C9AA-1E37-0F3B7206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A3B061-9CC4-D701-ACDA-84F22A84D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53569"/>
              </p:ext>
            </p:extLst>
          </p:nvPr>
        </p:nvGraphicFramePr>
        <p:xfrm>
          <a:off x="454025" y="2412074"/>
          <a:ext cx="11283950" cy="2641996"/>
        </p:xfrm>
        <a:graphic>
          <a:graphicData uri="http://schemas.openxmlformats.org/drawingml/2006/table">
            <a:tbl>
              <a:tblPr/>
              <a:tblGrid>
                <a:gridCol w="3417642">
                  <a:extLst>
                    <a:ext uri="{9D8B030D-6E8A-4147-A177-3AD203B41FA5}">
                      <a16:colId xmlns:a16="http://schemas.microsoft.com/office/drawing/2014/main" val="127354605"/>
                    </a:ext>
                  </a:extLst>
                </a:gridCol>
                <a:gridCol w="7866308">
                  <a:extLst>
                    <a:ext uri="{9D8B030D-6E8A-4147-A177-3AD203B41FA5}">
                      <a16:colId xmlns:a16="http://schemas.microsoft.com/office/drawing/2014/main" val="2691846243"/>
                    </a:ext>
                  </a:extLst>
                </a:gridCol>
              </a:tblGrid>
              <a:tr h="7311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 이름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78464"/>
                  </a:ext>
                </a:extLst>
              </a:tr>
              <a:tr h="9554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tuple.count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내에서 값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등장 횟수를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15937"/>
                  </a:ext>
                </a:extLst>
              </a:tr>
              <a:tr h="9554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tuple.index(x[, start[, end]])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튜플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내에서 값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처음 등장하는 위치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인덱스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092011"/>
                  </a:ext>
                </a:extLst>
              </a:tr>
            </a:tbl>
          </a:graphicData>
        </a:graphic>
      </p:graphicFrame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5800AC-5BAC-DFFB-8DBB-91702EA390E6}"/>
              </a:ext>
            </a:extLst>
          </p:cNvPr>
          <p:cNvSpPr txBox="1">
            <a:spLocks/>
          </p:cNvSpPr>
          <p:nvPr/>
        </p:nvSpPr>
        <p:spPr>
          <a:xfrm>
            <a:off x="270838" y="1542177"/>
            <a:ext cx="11701221" cy="7555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tuple </a:t>
            </a:r>
            <a:r>
              <a:rPr lang="ko-KR" altLang="en-US" dirty="0"/>
              <a:t>객체가 직접 제공하는 메서드는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3158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3B45-69A7-BB20-D6CD-3B750D07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FFA357-971C-F2F6-AAFA-83B6FFBC9E14}"/>
              </a:ext>
            </a:extLst>
          </p:cNvPr>
          <p:cNvSpPr txBox="1"/>
          <p:nvPr/>
        </p:nvSpPr>
        <p:spPr>
          <a:xfrm>
            <a:off x="3674519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튜플의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불변성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122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0CEB-0890-C5A5-F98A-F92851A1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75F78-2F0D-72E0-8E97-06D18AC1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(Immutable)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D785C-E6BE-8A18-F140-110FFAB9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9793C4-8360-8CBF-D76B-041A2373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13C3C65-3CED-1946-F74F-3875AE54656C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32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💡불변성</a:t>
            </a:r>
            <a:r>
              <a:rPr lang="en-US" altLang="ko-KR" dirty="0"/>
              <a:t>(Immutable) : </a:t>
            </a:r>
            <a:r>
              <a:rPr lang="ko-KR" altLang="en-US" dirty="0"/>
              <a:t>객체가 생성된 이후 내부 데이터를 변경할 수 없는 성질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튜플은</a:t>
            </a:r>
            <a:r>
              <a:rPr lang="ko-KR" altLang="en-US" dirty="0"/>
              <a:t> 생성된 이후</a:t>
            </a:r>
            <a:r>
              <a:rPr lang="en-US" altLang="ko-KR" dirty="0"/>
              <a:t>, </a:t>
            </a:r>
            <a:r>
              <a:rPr lang="ko-KR" altLang="en-US" dirty="0"/>
              <a:t>요소를 수정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삭제할 수 없음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0AE565-8173-44DA-8FC9-0B4588FC42D5}"/>
              </a:ext>
            </a:extLst>
          </p:cNvPr>
          <p:cNvSpPr/>
          <p:nvPr/>
        </p:nvSpPr>
        <p:spPr>
          <a:xfrm>
            <a:off x="886229" y="2585597"/>
            <a:ext cx="10406743" cy="1123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튜플은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불변 </a:t>
            </a:r>
            <a:r>
              <a:rPr lang="ko-KR" altLang="en-US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시퀀스형이며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생성된 이후에는 변경할 수 없습니다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Python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i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Built-in Types — Sequence Types</a:t>
            </a:r>
            <a:endParaRPr lang="ko-KR" altLang="en-US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902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0D7C-898B-1A97-19C3-7C9531E6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5231F-D225-3AD8-7BDB-EE4C6A0E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(Immutable)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10F8-3850-F24C-B726-0BB1323F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7C2251-1809-AB9C-FB3E-562A840F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06E56F2-29C4-D58E-7886-E2A4DD38B8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7751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튜플이</a:t>
            </a:r>
            <a:r>
              <a:rPr lang="ko-KR" altLang="en-US" dirty="0"/>
              <a:t> 불변성을 가지는 이유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데이터 보호: 데이터가 외부로부터 변경되지 않도록 보장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성능 최적화: 불변 객체는 메모리 효율성과 속도 면에서 유리함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키(</a:t>
            </a:r>
            <a:r>
              <a:rPr lang="ko-KR" altLang="en-US" dirty="0" err="1"/>
              <a:t>Key</a:t>
            </a:r>
            <a:r>
              <a:rPr lang="ko-KR" altLang="en-US" dirty="0"/>
              <a:t>) 사용 가능: </a:t>
            </a:r>
            <a:r>
              <a:rPr lang="ko-KR" altLang="en-US" dirty="0" err="1"/>
              <a:t>딕셔너리의</a:t>
            </a:r>
            <a:r>
              <a:rPr lang="ko-KR" altLang="en-US" dirty="0"/>
              <a:t> 키나, 집합의 요소로 사용될 수 있음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809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0AD9-152E-6577-5E3F-86C7F265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1EDBC9F-4E43-9B6C-32FC-19C66890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9" y="879111"/>
            <a:ext cx="11210442" cy="60486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CCB7764-B280-3963-B3AD-67472BC9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튜플의</a:t>
            </a:r>
            <a:r>
              <a:rPr lang="ko-KR" altLang="en-US" dirty="0"/>
              <a:t> 불변성</a:t>
            </a:r>
            <a:r>
              <a:rPr lang="en-US" altLang="ko-KR" dirty="0"/>
              <a:t> - </a:t>
            </a:r>
            <a:r>
              <a:rPr lang="ko-KR" altLang="en-US" dirty="0"/>
              <a:t>요소 수정</a:t>
            </a:r>
            <a:r>
              <a:rPr lang="en-US" altLang="ko-KR" dirty="0"/>
              <a:t>/</a:t>
            </a:r>
            <a:r>
              <a:rPr lang="ko-KR" altLang="en-US" dirty="0"/>
              <a:t>삭제 불가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94D62-72A4-BA16-8483-7AE72A66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FD8FCB-D722-0D7E-D6C0-B4773165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AF242E8-17AC-9570-92F6-D7726BB4F512}"/>
              </a:ext>
            </a:extLst>
          </p:cNvPr>
          <p:cNvSpPr txBox="1">
            <a:spLocks/>
          </p:cNvSpPr>
          <p:nvPr/>
        </p:nvSpPr>
        <p:spPr>
          <a:xfrm>
            <a:off x="1134723" y="993007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내부 요소를 수정</a:t>
            </a:r>
            <a:r>
              <a:rPr lang="en-US" altLang="ko-KR" dirty="0"/>
              <a:t>, </a:t>
            </a:r>
            <a:r>
              <a:rPr lang="ko-KR" altLang="en-US" dirty="0"/>
              <a:t>삭제하려고 하면 </a:t>
            </a:r>
            <a:r>
              <a:rPr lang="en-US" altLang="ko-KR" dirty="0" err="1"/>
              <a:t>TypeError</a:t>
            </a:r>
            <a:r>
              <a:rPr lang="en-US" altLang="ko-KR" dirty="0"/>
              <a:t> </a:t>
            </a:r>
            <a:r>
              <a:rPr lang="ko-KR" altLang="en-US" dirty="0"/>
              <a:t>가 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68969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9AC8-7411-1B94-FF40-23BCA504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754E89-EC70-CC0B-8E31-3B5375FEF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5" y="1204490"/>
            <a:ext cx="11000228" cy="54856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8B1E2A-C156-4462-70DB-4C59CF33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0292A-51C2-0A3E-324E-F2852C21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B622B6-1F6D-1678-EB1B-447A03A6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91FCFD6-3D80-29ED-3647-1531FA1917A4}"/>
              </a:ext>
            </a:extLst>
          </p:cNvPr>
          <p:cNvSpPr txBox="1">
            <a:spLocks/>
          </p:cNvSpPr>
          <p:nvPr/>
        </p:nvSpPr>
        <p:spPr>
          <a:xfrm>
            <a:off x="1134723" y="1204491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수정이 필요한 경우</a:t>
            </a:r>
            <a:r>
              <a:rPr lang="en-US" altLang="ko-KR" dirty="0"/>
              <a:t>: </a:t>
            </a:r>
            <a:r>
              <a:rPr lang="ko-KR" altLang="en-US" dirty="0"/>
              <a:t>새로운 </a:t>
            </a:r>
            <a:r>
              <a:rPr lang="ko-KR" altLang="en-US" dirty="0" err="1"/>
              <a:t>튜플</a:t>
            </a:r>
            <a:r>
              <a:rPr lang="ko-KR" altLang="en-US" dirty="0"/>
              <a:t>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734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359F-5F94-6D53-E41E-D6DA472C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8C1242A-B60E-10A6-91F8-1F412031E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5723"/>
            <a:ext cx="12192000" cy="43950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6D6A75-6A8E-5465-E4BC-39C8703E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F9E58-382E-6301-2B2B-6BF8DE21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EC4FDB-0520-2FDF-A728-42C82BE4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AFC7FB-26E3-1A59-E56E-6EBAB6A2BAB6}"/>
              </a:ext>
            </a:extLst>
          </p:cNvPr>
          <p:cNvSpPr txBox="1">
            <a:spLocks/>
          </p:cNvSpPr>
          <p:nvPr/>
        </p:nvSpPr>
        <p:spPr>
          <a:xfrm>
            <a:off x="807555" y="1783708"/>
            <a:ext cx="9632665" cy="705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전체를 삭제하는 것은 가능함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6239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🖥️회원 정보 해킹 사고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?!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고객 데이터 복구 작전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당신은 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스타트업의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 엔지니어입니다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정보 서버가 해킹을 당해 일부 정보가 손상되었습니다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다행히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백업된 데이터가 남아 있으며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이를 기반으로 정확한 정보를 복원하고 분석해야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불변성과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언패킹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탐색 기능을 적절히 활용하여 문제를 해결해보세요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26F0-A226-70CA-D890-C476F08B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3449D6-40A2-9E70-F7CD-8587AFDF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1. </a:t>
            </a:r>
            <a:r>
              <a:rPr lang="ko-KR" altLang="en-US" sz="2400" dirty="0"/>
              <a:t>손상된 고객 정보 복원하기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해커가 고객 이름을 </a:t>
            </a:r>
            <a:r>
              <a:rPr lang="en-US" altLang="ko-KR" sz="2000" dirty="0"/>
              <a:t>"unknown"</a:t>
            </a:r>
            <a:r>
              <a:rPr lang="ko-KR" altLang="en-US" sz="2000" dirty="0"/>
              <a:t>으로 바꿔버렸습니다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하지만 다행히 백업 파일에는 나이와 지역 정보가 그대로 남아 있습니다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아래 고객의 이름을 </a:t>
            </a:r>
            <a:r>
              <a:rPr lang="en-US" altLang="ko-KR" sz="2000" dirty="0"/>
              <a:t>‘</a:t>
            </a:r>
            <a:r>
              <a:rPr lang="en-US" altLang="ko-KR" sz="2000" dirty="0" err="1"/>
              <a:t>eunji</a:t>
            </a:r>
            <a:r>
              <a:rPr lang="en-US" altLang="ko-KR" sz="2000" dirty="0"/>
              <a:t>’</a:t>
            </a:r>
            <a:r>
              <a:rPr lang="ko-KR" altLang="en-US" sz="2000" dirty="0"/>
              <a:t>로 바꿔주세요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= ("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minji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25, "Seoul")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 결과를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restored_user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저장하고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FD14C2-201C-88CC-3E25-405FF0A5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90C5C6-45FF-E3DF-8B07-2C628CDA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D97440-ACA3-4543-A8D6-7D8CE9F1CF0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1485161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519F-FE05-A17A-6671-D49677C5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3CFBB98-57E6-ED23-558D-E8D097C7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2. </a:t>
            </a:r>
            <a:r>
              <a:rPr lang="ko-KR" altLang="en-US" sz="2400" dirty="0"/>
              <a:t>고객 정보 </a:t>
            </a:r>
            <a:r>
              <a:rPr lang="ko-KR" altLang="en-US" sz="2400" dirty="0" err="1"/>
              <a:t>언패킹하여</a:t>
            </a:r>
            <a:r>
              <a:rPr lang="ko-KR" altLang="en-US" sz="2400" dirty="0"/>
              <a:t> 변수에 저장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복원된 </a:t>
            </a:r>
            <a:r>
              <a:rPr lang="ko-KR" altLang="en-US" sz="2000" dirty="0" err="1"/>
              <a:t>튜플을</a:t>
            </a:r>
            <a:r>
              <a:rPr lang="ko-KR" altLang="en-US" sz="2000" dirty="0"/>
              <a:t> 통해 이름</a:t>
            </a:r>
            <a:r>
              <a:rPr lang="en-US" altLang="ko-KR" sz="2000" dirty="0"/>
              <a:t>, </a:t>
            </a:r>
            <a:r>
              <a:rPr lang="ko-KR" altLang="en-US" sz="2000" dirty="0"/>
              <a:t>나이</a:t>
            </a:r>
            <a:r>
              <a:rPr lang="en-US" altLang="ko-KR" sz="2000" dirty="0"/>
              <a:t>, </a:t>
            </a:r>
            <a:r>
              <a:rPr lang="ko-KR" altLang="en-US" sz="2000" dirty="0"/>
              <a:t>도시 정보를 각각 처리할 수 있도록 변수로 나누려 합니다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/>
              <a:t>튜플</a:t>
            </a:r>
            <a:r>
              <a:rPr lang="ko-KR" altLang="en-US" sz="2000" dirty="0"/>
              <a:t> </a:t>
            </a:r>
            <a:r>
              <a:rPr lang="en-US" altLang="ko-KR" sz="2000" dirty="0" err="1"/>
              <a:t>restored_user</a:t>
            </a:r>
            <a:r>
              <a:rPr lang="ko-KR" altLang="en-US" sz="2000" dirty="0"/>
              <a:t>를 </a:t>
            </a:r>
            <a:r>
              <a:rPr lang="ko-KR" altLang="en-US" sz="2000" dirty="0" err="1"/>
              <a:t>언패킹하여</a:t>
            </a:r>
            <a:r>
              <a:rPr lang="ko-KR" altLang="en-US" sz="2000" dirty="0"/>
              <a:t> </a:t>
            </a:r>
            <a:r>
              <a:rPr lang="en-US" altLang="ko-KR" sz="2000" dirty="0"/>
              <a:t>name, age, city </a:t>
            </a:r>
            <a:r>
              <a:rPr lang="ko-KR" altLang="en-US" sz="2000" dirty="0"/>
              <a:t>변수에 저장하세요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3. </a:t>
            </a:r>
            <a:r>
              <a:rPr lang="ko-KR" altLang="en-US" sz="2400" dirty="0"/>
              <a:t>지역별 보안 정책 분기 처리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서울 거주 고객에게는 특별한 보안 정책이 적용됩니다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복원한 고객 정보에서 도시</a:t>
            </a:r>
            <a:r>
              <a:rPr lang="en-US" altLang="ko-KR" sz="2000" dirty="0"/>
              <a:t>(city) </a:t>
            </a:r>
            <a:r>
              <a:rPr lang="ko-KR" altLang="en-US" sz="2000" dirty="0"/>
              <a:t>값을 활용하여 메시지를 다르게 출력해야 합니다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고객의 도시가 </a:t>
            </a:r>
            <a:r>
              <a:rPr lang="en-US" altLang="ko-KR" sz="2000" dirty="0"/>
              <a:t>"Seoul"</a:t>
            </a:r>
            <a:r>
              <a:rPr lang="ko-KR" altLang="en-US" sz="2000" dirty="0"/>
              <a:t>이면 </a:t>
            </a:r>
            <a:r>
              <a:rPr lang="en-US" altLang="ko-KR" sz="2000" dirty="0"/>
              <a:t>"※ </a:t>
            </a:r>
            <a:r>
              <a:rPr lang="ko-KR" altLang="en-US" sz="2000" dirty="0"/>
              <a:t>서울 지역 보안 정책 적용 대상입니다</a:t>
            </a:r>
            <a:r>
              <a:rPr lang="en-US" altLang="ko-KR" sz="2000" dirty="0"/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그렇지 않으면 </a:t>
            </a:r>
            <a:r>
              <a:rPr lang="en-US" altLang="ko-KR" sz="2000" dirty="0"/>
              <a:t>"※ </a:t>
            </a:r>
            <a:r>
              <a:rPr lang="ko-KR" altLang="en-US" sz="2000" dirty="0"/>
              <a:t>일반 지역 보안 정책 적용 대상입니다</a:t>
            </a:r>
            <a:r>
              <a:rPr lang="en-US" altLang="ko-KR" sz="2000" dirty="0"/>
              <a:t>."</a:t>
            </a:r>
            <a:r>
              <a:rPr lang="ko-KR" altLang="en-US" sz="2000" dirty="0"/>
              <a:t>라는 메시지를 출력하세요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CB201-B0A9-FC1E-7ED7-CFB08AC0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260E78-3E29-B4E1-18AF-77A9AB8A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6626F3-380D-122F-50DF-65433F3BA02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787905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0510-88B3-128C-9DBD-5DCE986E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DB0825C-5E07-0446-417E-683CB469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321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4. </a:t>
            </a:r>
            <a:r>
              <a:rPr lang="ko-KR" altLang="en-US" sz="2400" dirty="0"/>
              <a:t>고객 데이터 통계 분석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현재 고객 </a:t>
            </a:r>
            <a:r>
              <a:rPr lang="en-US" altLang="ko-KR" sz="2000" dirty="0"/>
              <a:t>DB</a:t>
            </a:r>
            <a:r>
              <a:rPr lang="ko-KR" altLang="en-US" sz="2000" dirty="0"/>
              <a:t>는 다음과 같습니다</a:t>
            </a:r>
            <a:r>
              <a:rPr lang="en-US" altLang="ko-K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users = ("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eunji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soojin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", 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"</a:t>
            </a:r>
            <a:r>
              <a:rPr lang="en-US" altLang="ko-KR" sz="2000" dirty="0" err="1"/>
              <a:t>minji</a:t>
            </a:r>
            <a:r>
              <a:rPr lang="en-US" altLang="ko-KR" sz="2000" dirty="0"/>
              <a:t>"</a:t>
            </a:r>
            <a:r>
              <a:rPr lang="ko-KR" altLang="en-US" sz="2000" dirty="0"/>
              <a:t>라는 이름이 몇 번 등장하는지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"</a:t>
            </a:r>
            <a:r>
              <a:rPr lang="en-US" altLang="ko-KR" sz="2000" dirty="0" err="1"/>
              <a:t>soojin</a:t>
            </a:r>
            <a:r>
              <a:rPr lang="en-US" altLang="ko-KR" sz="2000" dirty="0"/>
              <a:t>"</a:t>
            </a:r>
            <a:r>
              <a:rPr lang="ko-KR" altLang="en-US" sz="2000" dirty="0"/>
              <a:t>이 처음 등장하는 위치</a:t>
            </a:r>
            <a:r>
              <a:rPr lang="en-US" altLang="ko-KR" sz="2000" dirty="0"/>
              <a:t>(</a:t>
            </a:r>
            <a:r>
              <a:rPr lang="ko-KR" altLang="en-US" sz="2000" dirty="0"/>
              <a:t>인덱스</a:t>
            </a:r>
            <a:r>
              <a:rPr lang="en-US" altLang="ko-KR" sz="2000" dirty="0"/>
              <a:t>)</a:t>
            </a:r>
            <a:r>
              <a:rPr lang="ko-KR" altLang="en-US" sz="2000" dirty="0"/>
              <a:t>를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3CA5D-56B3-D965-162E-75D543F6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218FC-3317-58A1-032F-8070663A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7ADA005-F7DC-D867-45A9-625ACBBF33F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2047399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5048-DDF6-6D58-963C-99B5BF04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BC3F28E-1335-2663-83F2-EA4B62FA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05705"/>
            <a:ext cx="11641762" cy="3210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Step 5. </a:t>
            </a:r>
            <a:r>
              <a:rPr lang="ko-KR" altLang="en-US" sz="2400" dirty="0"/>
              <a:t>고객 이름 정렬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보고서 출력용으로 고객 이름을 가나다순으로 정렬해야 합니다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튜플은</a:t>
            </a:r>
            <a:r>
              <a:rPr lang="ko-KR" altLang="en-US" sz="2000" dirty="0"/>
              <a:t> 변경 불가이므로 원본은 유지되어야 하며</a:t>
            </a:r>
            <a:r>
              <a:rPr lang="en-US" altLang="ko-KR" sz="2000" dirty="0"/>
              <a:t>, </a:t>
            </a:r>
            <a:r>
              <a:rPr lang="ko-KR" altLang="en-US" sz="2000" dirty="0"/>
              <a:t>정렬 결과는 리스트 형태로 출력하세요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users </a:t>
            </a:r>
            <a:r>
              <a:rPr lang="ko-KR" altLang="en-US" sz="2000" dirty="0" err="1"/>
              <a:t>튜플을</a:t>
            </a:r>
            <a:r>
              <a:rPr lang="ko-KR" altLang="en-US" sz="2000" dirty="0"/>
              <a:t> 정렬한 결과를 </a:t>
            </a:r>
            <a:r>
              <a:rPr lang="en-US" altLang="ko-KR" sz="2000" dirty="0" err="1"/>
              <a:t>sorted_users</a:t>
            </a:r>
            <a:r>
              <a:rPr lang="ko-KR" altLang="en-US" sz="2000" dirty="0"/>
              <a:t>에 저장하고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513BB-C8C9-57B8-B255-62398F02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F9286B-4077-522C-778C-07D7A8FB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1EC54B8-5E26-4715-C5AF-97034A9F6A5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튜플</a:t>
            </a:r>
            <a:r>
              <a:rPr lang="ko-KR" altLang="en-US" dirty="0">
                <a:solidFill>
                  <a:srgbClr val="ED7D31"/>
                </a:solidFill>
              </a:rPr>
              <a:t> 종합 연습</a:t>
            </a:r>
          </a:p>
        </p:txBody>
      </p:sp>
    </p:spTree>
    <p:extLst>
      <p:ext uri="{BB962C8B-B14F-4D97-AF65-F5344CB8AC3E}">
        <p14:creationId xmlns:p14="http://schemas.microsoft.com/office/powerpoint/2010/main" val="316373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3682</TotalTime>
  <Words>1079</Words>
  <Application>Microsoft Office PowerPoint</Application>
  <PresentationFormat>와이드스크린</PresentationFormat>
  <Paragraphs>202</Paragraphs>
  <Slides>29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맑은 고딕</vt:lpstr>
      <vt:lpstr>Wingdings</vt:lpstr>
      <vt:lpstr>메이플스토리</vt:lpstr>
      <vt:lpstr>Arial Unicode MS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튜플 (Tuple)</vt:lpstr>
      <vt:lpstr>튜플 (Tuple)</vt:lpstr>
      <vt:lpstr>튜플 (Tuple)</vt:lpstr>
      <vt:lpstr>언패킹 (Unpacking)</vt:lpstr>
      <vt:lpstr>언패킹 (Unpacking)</vt:lpstr>
      <vt:lpstr>튜플 vs 리스트</vt:lpstr>
      <vt:lpstr>PowerPoint 프레젠테이션</vt:lpstr>
      <vt:lpstr>인덱싱과 슬라이싱</vt:lpstr>
      <vt:lpstr>PowerPoint 프레젠테이션</vt:lpstr>
      <vt:lpstr>튜플 연결(+)</vt:lpstr>
      <vt:lpstr>튜플 반복(*)</vt:lpstr>
      <vt:lpstr>PowerPoint 프레젠테이션</vt:lpstr>
      <vt:lpstr>튜플 (Tuple)</vt:lpstr>
      <vt:lpstr>튜플 (Tuple) – 파이썬 내장 함수</vt:lpstr>
      <vt:lpstr>튜플 (Tuple) - 메서드</vt:lpstr>
      <vt:lpstr>PowerPoint 프레젠테이션</vt:lpstr>
      <vt:lpstr>튜플의 불변성(Immutable)</vt:lpstr>
      <vt:lpstr>튜플의 불변성(Immutable)</vt:lpstr>
      <vt:lpstr>튜플의 불변성 - 요소 수정/삭제 불가</vt:lpstr>
      <vt:lpstr>튜플 수정</vt:lpstr>
      <vt:lpstr>튜플 삭제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366</cp:revision>
  <dcterms:created xsi:type="dcterms:W3CDTF">2023-01-31T04:26:23Z</dcterms:created>
  <dcterms:modified xsi:type="dcterms:W3CDTF">2025-09-01T00:58:33Z</dcterms:modified>
</cp:coreProperties>
</file>