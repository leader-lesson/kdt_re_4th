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8"/>
  </p:notesMasterIdLst>
  <p:sldIdLst>
    <p:sldId id="1048" r:id="rId2"/>
    <p:sldId id="832" r:id="rId3"/>
    <p:sldId id="893" r:id="rId4"/>
    <p:sldId id="834" r:id="rId5"/>
    <p:sldId id="902" r:id="rId6"/>
    <p:sldId id="894" r:id="rId7"/>
    <p:sldId id="895" r:id="rId8"/>
    <p:sldId id="896" r:id="rId9"/>
    <p:sldId id="906" r:id="rId10"/>
    <p:sldId id="897" r:id="rId11"/>
    <p:sldId id="898" r:id="rId12"/>
    <p:sldId id="903" r:id="rId13"/>
    <p:sldId id="904" r:id="rId14"/>
    <p:sldId id="899" r:id="rId15"/>
    <p:sldId id="905" r:id="rId16"/>
    <p:sldId id="901" r:id="rId17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9"/>
    </p:embeddedFont>
    <p:embeddedFont>
      <p:font typeface="Pretendard Black" panose="02000A03000000020004" pitchFamily="2" charset="-127"/>
      <p:bold r:id="rId20"/>
    </p:embeddedFont>
    <p:embeddedFont>
      <p:font typeface="Pretendard Light" panose="02000403000000020004" pitchFamily="2" charset="-127"/>
      <p:regular r:id="rId21"/>
    </p:embeddedFont>
    <p:embeddedFont>
      <p:font typeface="Pretendard Medium" panose="02000603000000020004" pitchFamily="2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메이플스토리" panose="02000300000000000000" pitchFamily="2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B0F0"/>
    <a:srgbClr val="FF5050"/>
    <a:srgbClr val="0000FF"/>
    <a:srgbClr val="3399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93361" autoAdjust="0"/>
  </p:normalViewPr>
  <p:slideViewPr>
    <p:cSldViewPr snapToGrid="0">
      <p:cViewPr varScale="1">
        <p:scale>
          <a:sx n="120" d="100"/>
          <a:sy n="120" d="100"/>
        </p:scale>
        <p:origin x="26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9C11E-4EF0-425E-89BA-56B1709018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85E4C-4682-4BB3-B64C-03E9D3B1E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47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509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634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80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5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9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F2426-F011-4048-96E6-328581C59A1B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43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chardfarrar.com/plato-and-object-oriented-programming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FF94730E-40A5-19A7-957F-CE49A869E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9727E12C-493A-3F7F-105F-A06C74860128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B44530-0093-DAB5-E1FF-3F3FBCC9A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920E6B-3FD2-4A43-94E8-1E5229F3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F632-07D5-3381-58E9-4C0EC0351F40}"/>
              </a:ext>
            </a:extLst>
          </p:cNvPr>
          <p:cNvSpPr txBox="1"/>
          <p:nvPr/>
        </p:nvSpPr>
        <p:spPr>
          <a:xfrm>
            <a:off x="2664630" y="2600493"/>
            <a:ext cx="68627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10.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클래스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(Class)</a:t>
            </a:r>
          </a:p>
        </p:txBody>
      </p:sp>
    </p:spTree>
    <p:extLst>
      <p:ext uri="{BB962C8B-B14F-4D97-AF65-F5344CB8AC3E}">
        <p14:creationId xmlns:p14="http://schemas.microsoft.com/office/powerpoint/2010/main" val="3560907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920E6B-3FD2-4A43-94E8-1E5229F3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F632-07D5-3381-58E9-4C0EC0351F40}"/>
              </a:ext>
            </a:extLst>
          </p:cNvPr>
          <p:cNvSpPr txBox="1"/>
          <p:nvPr/>
        </p:nvSpPr>
        <p:spPr>
          <a:xfrm>
            <a:off x="1794204" y="2600493"/>
            <a:ext cx="860363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객체 지향 프로그래밍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3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OOP, Object-Oriented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2363511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251788" y="1916871"/>
            <a:ext cx="6765029" cy="30242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OOP(Object-Oriented Programming,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객체 지향 프로그래밍</a:t>
            </a:r>
            <a:r>
              <a:rPr lang="en-US" altLang="ko-KR" dirty="0"/>
              <a:t>)</a:t>
            </a:r>
            <a:r>
              <a:rPr lang="ko-KR" altLang="en-US" dirty="0"/>
              <a:t>은 객체를</a:t>
            </a:r>
            <a:r>
              <a:rPr lang="en-US" altLang="ko-KR" dirty="0"/>
              <a:t> </a:t>
            </a:r>
            <a:r>
              <a:rPr lang="ko-KR" altLang="en-US" dirty="0"/>
              <a:t>기반으로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프로그램을 설계하는 프로그래밍 패러다임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en-US" altLang="ko-KR" dirty="0"/>
              <a:t>C++</a:t>
            </a:r>
            <a:r>
              <a:rPr lang="ko-KR" altLang="en-US" dirty="0"/>
              <a:t>은 대표적인 객체 지향 언어 </a:t>
            </a:r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632DB8-451F-3E9B-2BAC-8E7CCD0F892A}"/>
              </a:ext>
            </a:extLst>
          </p:cNvPr>
          <p:cNvGrpSpPr/>
          <p:nvPr/>
        </p:nvGrpSpPr>
        <p:grpSpPr>
          <a:xfrm>
            <a:off x="7306926" y="1365162"/>
            <a:ext cx="4465974" cy="4241976"/>
            <a:chOff x="7211676" y="1308012"/>
            <a:chExt cx="4465974" cy="4241976"/>
          </a:xfrm>
        </p:grpSpPr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DF803840-87AA-6F19-6CC9-1122089B6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11676" y="1308012"/>
              <a:ext cx="4465974" cy="382287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97A930-6D76-6948-0855-27A8E20D09C0}"/>
                </a:ext>
              </a:extLst>
            </p:cNvPr>
            <p:cNvSpPr txBox="1"/>
            <p:nvPr/>
          </p:nvSpPr>
          <p:spPr>
            <a:xfrm>
              <a:off x="7211676" y="5149878"/>
              <a:ext cx="44659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https://journey.prog-8.com/en/scenes/web-application-development/skills/object-oriented-programming/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431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1036320" y="1007477"/>
            <a:ext cx="5059680" cy="5305901"/>
            <a:chOff x="1844040" y="1007477"/>
            <a:chExt cx="5059680" cy="5305901"/>
          </a:xfrm>
        </p:grpSpPr>
        <p:pic>
          <p:nvPicPr>
            <p:cNvPr id="4098" name="Picture 2" descr="File:Plato theory of idea.jpg - Wikimedia Common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4040" y="1007477"/>
              <a:ext cx="5059680" cy="5059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2194560" y="6067157"/>
              <a:ext cx="435864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https://commons.wikimedia.org/wiki/File:Plato_theory_of_idea.jpg</a:t>
              </a:r>
              <a:endParaRPr lang="ko-KR" altLang="en-US" sz="1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6466841" y="3461209"/>
            <a:ext cx="51206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  <a:hlinkClick r:id="rId3"/>
              </a:rPr>
              <a:t>https://www.richardfarrar.com/plato-and-object-oriented-programming/</a:t>
            </a:r>
            <a:r>
              <a:rPr lang="en-US" altLang="ko-KR" sz="1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endParaRPr lang="ko-KR" altLang="en-US" sz="1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AFE0-72CF-EC44-C3AF-745E96B692FB}"/>
              </a:ext>
            </a:extLst>
          </p:cNvPr>
          <p:cNvSpPr txBox="1"/>
          <p:nvPr/>
        </p:nvSpPr>
        <p:spPr>
          <a:xfrm>
            <a:off x="6466841" y="2842829"/>
            <a:ext cx="3657600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 플라톤과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OOP</a:t>
            </a:r>
          </a:p>
        </p:txBody>
      </p:sp>
    </p:spTree>
    <p:extLst>
      <p:ext uri="{BB962C8B-B14F-4D97-AF65-F5344CB8AC3E}">
        <p14:creationId xmlns:p14="http://schemas.microsoft.com/office/powerpoint/2010/main" val="90862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55520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객체</a:t>
            </a:r>
            <a:r>
              <a:rPr lang="en-US" altLang="ko-KR" dirty="0"/>
              <a:t>(Object)</a:t>
            </a:r>
            <a:r>
              <a:rPr lang="ko-KR" altLang="en-US" dirty="0"/>
              <a:t>는 데이터와 데이터를 조작하는 기능</a:t>
            </a:r>
            <a:r>
              <a:rPr lang="en-US" altLang="ko-KR" dirty="0"/>
              <a:t>(</a:t>
            </a:r>
            <a:r>
              <a:rPr lang="ko-KR" altLang="en-US" dirty="0" err="1"/>
              <a:t>메서드</a:t>
            </a:r>
            <a:r>
              <a:rPr lang="en-US" altLang="ko-KR" dirty="0"/>
              <a:t>)</a:t>
            </a:r>
            <a:r>
              <a:rPr lang="ko-KR" altLang="en-US" dirty="0"/>
              <a:t>을 하나로 묶은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독립적인 실행 단위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객체는 실제 세계의 사물이나 개념을 프로그래밍적으로 </a:t>
            </a:r>
            <a:r>
              <a:rPr lang="ko-KR" altLang="en-US" dirty="0" err="1"/>
              <a:t>모델링한</a:t>
            </a:r>
            <a:r>
              <a:rPr lang="ko-KR" altLang="en-US" dirty="0"/>
              <a:t> 것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객체의 특징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상태</a:t>
            </a:r>
            <a:r>
              <a:rPr lang="en-US" altLang="ko-KR" dirty="0"/>
              <a:t>(State) → </a:t>
            </a:r>
            <a:r>
              <a:rPr lang="ko-KR" altLang="en-US" dirty="0"/>
              <a:t>객체의 속성</a:t>
            </a:r>
            <a:r>
              <a:rPr lang="en-US" altLang="ko-KR" dirty="0"/>
              <a:t>(</a:t>
            </a:r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행동</a:t>
            </a:r>
            <a:r>
              <a:rPr lang="en-US" altLang="ko-KR" dirty="0"/>
              <a:t>(Behavior) → </a:t>
            </a:r>
            <a:r>
              <a:rPr lang="ko-KR" altLang="en-US" dirty="0"/>
              <a:t>객체의 기능</a:t>
            </a:r>
            <a:r>
              <a:rPr lang="en-US" altLang="ko-KR" dirty="0"/>
              <a:t>(</a:t>
            </a:r>
            <a:r>
              <a:rPr lang="ko-KR" altLang="en-US" dirty="0" err="1"/>
              <a:t>메서드</a:t>
            </a:r>
            <a:r>
              <a:rPr lang="en-US" altLang="ko-KR" dirty="0"/>
              <a:t>, 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식별성</a:t>
            </a:r>
            <a:r>
              <a:rPr lang="en-US" altLang="ko-KR" dirty="0"/>
              <a:t>(Identity) → </a:t>
            </a:r>
            <a:r>
              <a:rPr lang="ko-KR" altLang="en-US" dirty="0"/>
              <a:t>객체 고유의 존재</a:t>
            </a:r>
          </a:p>
        </p:txBody>
      </p:sp>
    </p:spTree>
    <p:extLst>
      <p:ext uri="{BB962C8B-B14F-4D97-AF65-F5344CB8AC3E}">
        <p14:creationId xmlns:p14="http://schemas.microsoft.com/office/powerpoint/2010/main" val="75856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51788" y="1084359"/>
            <a:ext cx="8889247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✅ 객체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"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속성과 행동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"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을 함께 묶어서 현실 세계의 개념을 표현할 수 있도록 함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✅ 모델링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현실 세계의 복잡한 개념을 프로그래밍에서 다룰 수 있도록 단순화하는 과정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75E28C8-5097-F0B3-E478-C2166D893C0D}"/>
              </a:ext>
            </a:extLst>
          </p:cNvPr>
          <p:cNvGrpSpPr/>
          <p:nvPr/>
        </p:nvGrpSpPr>
        <p:grpSpPr>
          <a:xfrm>
            <a:off x="2857500" y="2046033"/>
            <a:ext cx="6477000" cy="4193242"/>
            <a:chOff x="2857500" y="2046033"/>
            <a:chExt cx="6477000" cy="4193242"/>
          </a:xfrm>
        </p:grpSpPr>
        <p:pic>
          <p:nvPicPr>
            <p:cNvPr id="3074" name="Picture 2" descr="Understanding OOPs Concepts in Java - Shiksha Online">
              <a:extLst>
                <a:ext uri="{FF2B5EF4-FFF2-40B4-BE49-F238E27FC236}">
                  <a16:creationId xmlns:a16="http://schemas.microsoft.com/office/drawing/2014/main" id="{B416CC12-D26F-12F7-2B1E-855B114D8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7500" y="2046033"/>
              <a:ext cx="6477000" cy="3899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8AA3ED-A741-F5C6-659E-25011158F7F7}"/>
                </a:ext>
              </a:extLst>
            </p:cNvPr>
            <p:cNvSpPr txBox="1"/>
            <p:nvPr/>
          </p:nvSpPr>
          <p:spPr>
            <a:xfrm>
              <a:off x="3038475" y="5993054"/>
              <a:ext cx="61150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https://www.shiksha.com/online-courses/articles/oops-concepts-in-java/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80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34671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🚀 </a:t>
            </a:r>
            <a:r>
              <a:rPr lang="en-US" altLang="ko-KR" dirty="0"/>
              <a:t>OOP</a:t>
            </a:r>
            <a:r>
              <a:rPr lang="ko-KR" altLang="en-US" dirty="0"/>
              <a:t>가 등장하기 전에는 </a:t>
            </a:r>
            <a:r>
              <a:rPr lang="ko-KR" altLang="en-US" b="1" dirty="0"/>
              <a:t>절차적 프로그래밍</a:t>
            </a:r>
            <a:r>
              <a:rPr lang="ko-KR" altLang="en-US" dirty="0"/>
              <a:t>이 널리 사용되었음</a:t>
            </a:r>
            <a:br>
              <a:rPr lang="en-US" altLang="ko-KR" dirty="0"/>
            </a:br>
            <a:r>
              <a:rPr lang="ko-KR" altLang="en-US" dirty="0"/>
              <a:t>💡 절차적 프로그래밍</a:t>
            </a:r>
            <a:r>
              <a:rPr lang="en-US" altLang="ko-KR" dirty="0"/>
              <a:t>(Procedural Programming)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프로그램</a:t>
            </a:r>
            <a:r>
              <a:rPr lang="ko-KR" altLang="en-US" dirty="0"/>
              <a:t>을 순차적인 </a:t>
            </a:r>
            <a:r>
              <a:rPr lang="ko-KR" altLang="en-US" b="1" dirty="0"/>
              <a:t>절차</a:t>
            </a:r>
            <a:r>
              <a:rPr lang="en-US" altLang="ko-KR" b="1" dirty="0"/>
              <a:t>(Flow)</a:t>
            </a:r>
            <a:r>
              <a:rPr lang="ko-KR" altLang="en-US" dirty="0"/>
              <a:t>와</a:t>
            </a:r>
            <a:r>
              <a:rPr lang="ko-KR" altLang="en-US" b="1" dirty="0"/>
              <a:t> 함수</a:t>
            </a:r>
            <a:r>
              <a:rPr lang="en-US" altLang="ko-KR" b="1" dirty="0"/>
              <a:t>(Procedure)</a:t>
            </a:r>
            <a:r>
              <a:rPr lang="ko-KR" altLang="en-US" b="1" dirty="0"/>
              <a:t>로 구성</a:t>
            </a:r>
            <a:r>
              <a:rPr lang="ko-KR" altLang="en-US" dirty="0"/>
              <a:t>하는 방식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함수</a:t>
            </a:r>
            <a:r>
              <a:rPr lang="en-US" altLang="ko-KR" dirty="0"/>
              <a:t>(</a:t>
            </a:r>
            <a:r>
              <a:rPr lang="ko-KR" altLang="en-US" dirty="0"/>
              <a:t>또는 프로시저</a:t>
            </a:r>
            <a:r>
              <a:rPr lang="en-US" altLang="ko-KR" dirty="0"/>
              <a:t>) </a:t>
            </a:r>
            <a:r>
              <a:rPr lang="ko-KR" altLang="en-US" dirty="0"/>
              <a:t>단위로 코드가 실행되며</a:t>
            </a:r>
            <a:r>
              <a:rPr lang="en-US" altLang="ko-KR" dirty="0"/>
              <a:t>, </a:t>
            </a:r>
            <a:r>
              <a:rPr lang="ko-KR" altLang="en-US" dirty="0"/>
              <a:t>데이터를 함수가 직접 처리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      ➡️ 코드가 복잡해지고 유지보수가 어려워지는 문제점이 발생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09018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F991-A2C3-B792-C62B-9C865942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B9D28A5-BC14-4F66-DA00-DF1CE204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36F6711-CEA0-B242-B389-B191142032B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55520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절차적 프로그래밍</a:t>
            </a:r>
            <a:r>
              <a:rPr lang="en-US" altLang="ko-KR" dirty="0"/>
              <a:t>(Procedural Programming)</a:t>
            </a:r>
            <a:r>
              <a:rPr lang="ko-KR" altLang="en-US" dirty="0"/>
              <a:t>의 문제점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데이터와 함수가 분리되어 있음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함수가 많아지면 코드가 복잡해짐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코드 재사용성이 낮음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유지보수가 어려움</a:t>
            </a:r>
          </a:p>
        </p:txBody>
      </p:sp>
    </p:spTree>
    <p:extLst>
      <p:ext uri="{BB962C8B-B14F-4D97-AF65-F5344CB8AC3E}">
        <p14:creationId xmlns:p14="http://schemas.microsoft.com/office/powerpoint/2010/main" val="366946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0E0FB0-C743-9E53-28FE-E6F88EA6C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91" y="751125"/>
            <a:ext cx="8881418" cy="6126178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7AFE0-72CF-EC44-C3AF-745E96B692FB}"/>
              </a:ext>
            </a:extLst>
          </p:cNvPr>
          <p:cNvSpPr txBox="1"/>
          <p:nvPr/>
        </p:nvSpPr>
        <p:spPr>
          <a:xfrm>
            <a:off x="2187936" y="928925"/>
            <a:ext cx="6089523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절차적 프로그래밍 예시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88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686EB04-EC49-A98D-7C7E-64D1C6E29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t="13672" r="7812" b="13762"/>
          <a:stretch/>
        </p:blipFill>
        <p:spPr>
          <a:xfrm>
            <a:off x="2324100" y="1574892"/>
            <a:ext cx="7543800" cy="404803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2187936" y="5645570"/>
            <a:ext cx="6727464" cy="7430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OOP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복잡한 프로그램을 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단위로 나누어 관리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방법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688368-A6E8-B1E2-3355-77C86ED7F9D3}"/>
              </a:ext>
            </a:extLst>
          </p:cNvPr>
          <p:cNvSpPr txBox="1"/>
          <p:nvPr/>
        </p:nvSpPr>
        <p:spPr>
          <a:xfrm>
            <a:off x="2187936" y="992425"/>
            <a:ext cx="6089523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OOP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362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0ED7-1594-5B80-6DFF-36BD3E1C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3A82DFE-0A10-C5E1-A1DF-00F1019E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E13D6E1-BB4A-01E7-95BB-242F097A17FA}"/>
              </a:ext>
            </a:extLst>
          </p:cNvPr>
          <p:cNvSpPr txBox="1">
            <a:spLocks/>
          </p:cNvSpPr>
          <p:nvPr/>
        </p:nvSpPr>
        <p:spPr>
          <a:xfrm>
            <a:off x="251788" y="1300214"/>
            <a:ext cx="11426316" cy="283604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1️⃣ </a:t>
            </a:r>
            <a:r>
              <a:rPr lang="ko-KR" altLang="en-US" b="1" dirty="0"/>
              <a:t>캡슐화 </a:t>
            </a:r>
            <a:r>
              <a:rPr lang="en-US" altLang="ko-KR" b="1" dirty="0"/>
              <a:t>(Encapsulation)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</a:t>
            </a:r>
            <a:r>
              <a:rPr lang="en-US" altLang="ko-KR" sz="2400" dirty="0"/>
              <a:t> </a:t>
            </a:r>
            <a:r>
              <a:rPr lang="ko-KR" altLang="en-US" sz="2400" dirty="0"/>
              <a:t>객체 내부 데이터를 외부에서 직접 접근하지 못하도록 보호</a:t>
            </a:r>
            <a:endParaRPr lang="en-US" altLang="ko-KR" sz="2400" dirty="0"/>
          </a:p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보호</a:t>
            </a:r>
            <a:r>
              <a:rPr lang="en-US" altLang="ko-KR" sz="2000" dirty="0"/>
              <a:t>(Data Hiding)</a:t>
            </a:r>
            <a:r>
              <a:rPr lang="ko-KR" altLang="en-US" sz="2000" dirty="0"/>
              <a:t>를 통해 잘못된 값이 저장되지 않도록 방지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내부 동작을 숨겨 코드 변경이 있어도 외부에서 영향 없이 사용 가능</a:t>
            </a:r>
            <a:r>
              <a:rPr lang="en-US" altLang="ko-KR" sz="2000" dirty="0"/>
              <a:t>(</a:t>
            </a:r>
            <a:r>
              <a:rPr lang="ko-KR" altLang="en-US" sz="2000" dirty="0"/>
              <a:t>모듈화</a:t>
            </a:r>
            <a:r>
              <a:rPr lang="en-US" altLang="ko-KR" sz="2000" dirty="0"/>
              <a:t>)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352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43C0-2432-4D0A-CE0F-ED7FF4BF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B082CC1-61EE-82AC-4307-6E915EEC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E41B250-5792-BFEB-AE34-3B5C4AAF9697}"/>
              </a:ext>
            </a:extLst>
          </p:cNvPr>
          <p:cNvSpPr txBox="1">
            <a:spLocks/>
          </p:cNvSpPr>
          <p:nvPr/>
        </p:nvSpPr>
        <p:spPr>
          <a:xfrm>
            <a:off x="251788" y="1297807"/>
            <a:ext cx="11426316" cy="26645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2️⃣ </a:t>
            </a:r>
            <a:r>
              <a:rPr lang="ko-KR" altLang="en-US" b="1" dirty="0"/>
              <a:t>상속 </a:t>
            </a:r>
            <a:r>
              <a:rPr lang="en-US" altLang="ko-KR" b="1" dirty="0"/>
              <a:t>(Inheritance)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기존 클래스를 확장하여 새로운 기능을 추가할 수 있음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코드의 재사용성을 높이고 유지보수를 쉽게 만듦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기존 클래스를 기반으로 새로운 기능을 추가하는 것이 용이함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0365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251788" y="1297807"/>
            <a:ext cx="11426316" cy="314520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3️⃣ </a:t>
            </a:r>
            <a:r>
              <a:rPr lang="ko-KR" altLang="en-US" b="1" dirty="0" err="1"/>
              <a:t>다형성</a:t>
            </a:r>
            <a:r>
              <a:rPr lang="ko-KR" altLang="en-US" b="1" dirty="0"/>
              <a:t> </a:t>
            </a:r>
            <a:r>
              <a:rPr lang="en-US" altLang="ko-KR" b="1" dirty="0"/>
              <a:t>(Polymorphism)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같은 함수를 서로 다른 방식으로 실행할 수 있음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새로운 클래스 추가 시 기존 코드를 변경할 필요 없음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같은 인터페이스를 사용해 다양한 기능을 쉽게 추가할 수 있음</a:t>
            </a:r>
            <a:r>
              <a:rPr lang="en-US" altLang="ko-KR" sz="2000" dirty="0"/>
              <a:t>.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33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2C33-1494-5DA8-EF04-8E3B7941C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0618148-37A4-6522-DC05-FAA5C176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E613D7B-9FDE-047E-D2F5-19DF72B56336}"/>
              </a:ext>
            </a:extLst>
          </p:cNvPr>
          <p:cNvSpPr txBox="1">
            <a:spLocks/>
          </p:cNvSpPr>
          <p:nvPr/>
        </p:nvSpPr>
        <p:spPr>
          <a:xfrm>
            <a:off x="251788" y="1297807"/>
            <a:ext cx="11426316" cy="314520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4️⃣ </a:t>
            </a:r>
            <a:r>
              <a:rPr lang="ko-KR" altLang="en-US" b="1" dirty="0"/>
              <a:t>추상화 </a:t>
            </a:r>
            <a:r>
              <a:rPr lang="en-US" altLang="ko-KR" b="1" dirty="0"/>
              <a:t>(Abstraction)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필요한 정보만 보여주고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불필요한 내부 구현은 숨기는 개념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불필요한 세부 사항 없이 핵심 기능만 제공하여 코드 관리가 </a:t>
            </a:r>
            <a:r>
              <a:rPr lang="ko-KR" altLang="en-US" sz="2000" dirty="0" err="1"/>
              <a:t>쉬워짐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공통적인 동작을 정의하고</a:t>
            </a:r>
            <a:r>
              <a:rPr lang="en-US" altLang="ko-KR" sz="2000" dirty="0"/>
              <a:t>, </a:t>
            </a:r>
            <a:r>
              <a:rPr lang="ko-KR" altLang="en-US" sz="2000" dirty="0"/>
              <a:t>세부 구현은 각 클래스에서 따로 처리 가능</a:t>
            </a:r>
            <a:r>
              <a:rPr lang="en-US" altLang="ko-KR" sz="2000" dirty="0"/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420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가 중요한 이유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541410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1. </a:t>
            </a:r>
            <a:r>
              <a:rPr lang="ko-KR" altLang="en-US" b="1" dirty="0"/>
              <a:t>코드 </a:t>
            </a:r>
            <a:r>
              <a:rPr lang="ko-KR" altLang="en-US" b="1" dirty="0" err="1"/>
              <a:t>재사용성</a:t>
            </a:r>
            <a:r>
              <a:rPr lang="ko-KR" altLang="en-US" b="1" dirty="0"/>
              <a:t> 증가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같은 클래스를 여러 개의 객체로 생성하여 사용 가능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2. </a:t>
            </a:r>
            <a:r>
              <a:rPr lang="ko-KR" altLang="en-US" b="1" dirty="0"/>
              <a:t>유지보수 및 확장 용이</a:t>
            </a:r>
          </a:p>
          <a:p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클래스 단위로 개발하면 새로운 기능을 추가하기 쉬움</a:t>
            </a:r>
          </a:p>
          <a:p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기존 클래스를 수정하면 관련된 모든 객체에 반영됨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endParaRPr lang="en-US" altLang="ko-KR" sz="1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3. </a:t>
            </a:r>
            <a:r>
              <a:rPr lang="ko-KR" altLang="en-US" b="1" dirty="0"/>
              <a:t>현실 세계 모델링 가능</a:t>
            </a:r>
          </a:p>
          <a:p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현실 세계의 개념을 코드로 직접 표현할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5837746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5445</TotalTime>
  <Words>561</Words>
  <Application>Microsoft Office PowerPoint</Application>
  <PresentationFormat>와이드스크린</PresentationFormat>
  <Paragraphs>78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맑은 고딕</vt:lpstr>
      <vt:lpstr>Wingdings</vt:lpstr>
      <vt:lpstr>메이플스토리</vt:lpstr>
      <vt:lpstr>Pretendard Light</vt:lpstr>
      <vt:lpstr>G마켓 산스 TTF Bold</vt:lpstr>
      <vt:lpstr>Arial</vt:lpstr>
      <vt:lpstr>Pretendard Black</vt:lpstr>
      <vt:lpstr>Pretendard Medium</vt:lpstr>
      <vt:lpstr>1_Office 테마</vt:lpstr>
      <vt:lpstr>x</vt:lpstr>
      <vt:lpstr>PowerPoint 프레젠테이션</vt:lpstr>
      <vt:lpstr>PowerPoint 프레젠테이션</vt:lpstr>
      <vt:lpstr>OOP란?</vt:lpstr>
      <vt:lpstr>객체(Object)란?</vt:lpstr>
      <vt:lpstr>객체(Object)란?</vt:lpstr>
      <vt:lpstr>객체(Object)란?</vt:lpstr>
      <vt:lpstr>OOP의 등장</vt:lpstr>
      <vt:lpstr>OOP의 등장</vt:lpstr>
      <vt:lpstr>OOP의 등장</vt:lpstr>
      <vt:lpstr>OOP의 등장</vt:lpstr>
      <vt:lpstr>OOP의 핵심 개념</vt:lpstr>
      <vt:lpstr>OOP의 핵심 개념</vt:lpstr>
      <vt:lpstr>OOP의 핵심 개념</vt:lpstr>
      <vt:lpstr>OOP의 핵심 개념</vt:lpstr>
      <vt:lpstr>OOP가 중요한 이유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soyon6743@nate.com</dc:creator>
  <cp:lastModifiedBy>On Coding</cp:lastModifiedBy>
  <cp:revision>685</cp:revision>
  <dcterms:created xsi:type="dcterms:W3CDTF">2023-01-30T00:45:54Z</dcterms:created>
  <dcterms:modified xsi:type="dcterms:W3CDTF">2025-09-01T00:59:06Z</dcterms:modified>
</cp:coreProperties>
</file>