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6"/>
  </p:notesMasterIdLst>
  <p:sldIdLst>
    <p:sldId id="1048" r:id="rId2"/>
    <p:sldId id="257" r:id="rId3"/>
    <p:sldId id="1000" r:id="rId4"/>
    <p:sldId id="562" r:id="rId5"/>
    <p:sldId id="1050" r:id="rId6"/>
    <p:sldId id="1040" r:id="rId7"/>
    <p:sldId id="1039" r:id="rId8"/>
    <p:sldId id="1038" r:id="rId9"/>
    <p:sldId id="1001" r:id="rId10"/>
    <p:sldId id="1005" r:id="rId11"/>
    <p:sldId id="1006" r:id="rId12"/>
    <p:sldId id="1007" r:id="rId13"/>
    <p:sldId id="1049" r:id="rId14"/>
    <p:sldId id="1002" r:id="rId15"/>
    <p:sldId id="1003" r:id="rId16"/>
    <p:sldId id="1004" r:id="rId17"/>
    <p:sldId id="1008" r:id="rId18"/>
    <p:sldId id="1009" r:id="rId19"/>
    <p:sldId id="1013" r:id="rId20"/>
    <p:sldId id="1014" r:id="rId21"/>
    <p:sldId id="1010" r:id="rId22"/>
    <p:sldId id="1011" r:id="rId23"/>
    <p:sldId id="1012" r:id="rId24"/>
    <p:sldId id="1041" r:id="rId25"/>
    <p:sldId id="1042" r:id="rId26"/>
    <p:sldId id="1043" r:id="rId27"/>
    <p:sldId id="1024" r:id="rId28"/>
    <p:sldId id="1015" r:id="rId29"/>
    <p:sldId id="1016" r:id="rId30"/>
    <p:sldId id="1017" r:id="rId31"/>
    <p:sldId id="1018" r:id="rId32"/>
    <p:sldId id="1019" r:id="rId33"/>
    <p:sldId id="1020" r:id="rId34"/>
    <p:sldId id="1021" r:id="rId35"/>
    <p:sldId id="1022" r:id="rId36"/>
    <p:sldId id="1023" r:id="rId37"/>
    <p:sldId id="1044" r:id="rId38"/>
    <p:sldId id="1046" r:id="rId39"/>
    <p:sldId id="1025" r:id="rId40"/>
    <p:sldId id="1026" r:id="rId41"/>
    <p:sldId id="1027" r:id="rId42"/>
    <p:sldId id="1028" r:id="rId43"/>
    <p:sldId id="1029" r:id="rId44"/>
    <p:sldId id="1030" r:id="rId45"/>
    <p:sldId id="1031" r:id="rId46"/>
    <p:sldId id="1032" r:id="rId47"/>
    <p:sldId id="1033" r:id="rId48"/>
    <p:sldId id="1034" r:id="rId49"/>
    <p:sldId id="1035" r:id="rId50"/>
    <p:sldId id="1036" r:id="rId51"/>
    <p:sldId id="1037" r:id="rId52"/>
    <p:sldId id="1045" r:id="rId53"/>
    <p:sldId id="1047" r:id="rId54"/>
    <p:sldId id="813" r:id="rId55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57"/>
    </p:embeddedFont>
    <p:embeddedFont>
      <p:font typeface="G마켓 산스 TTF Bold" panose="02000000000000000000" pitchFamily="2" charset="-127"/>
      <p:bold r:id="rId58"/>
    </p:embeddedFont>
    <p:embeddedFont>
      <p:font typeface="Pretendard Black" panose="02000A03000000020004" pitchFamily="2" charset="-127"/>
      <p:bold r:id="rId59"/>
    </p:embeddedFont>
    <p:embeddedFont>
      <p:font typeface="Pretendard Light" panose="02000403000000020004" pitchFamily="2" charset="-127"/>
      <p:regular r:id="rId60"/>
    </p:embeddedFont>
    <p:embeddedFont>
      <p:font typeface="Pretendard Medium" panose="02000603000000020004" pitchFamily="2" charset="-127"/>
      <p:regular r:id="rId61"/>
    </p:embeddedFont>
    <p:embeddedFont>
      <p:font typeface="메이플스토리" panose="02000300000000000000" pitchFamily="2" charset="-127"/>
      <p:regular r:id="rId62"/>
      <p:bold r:id="rId6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04" autoAdjust="0"/>
    <p:restoredTop sz="91107" autoAdjust="0"/>
  </p:normalViewPr>
  <p:slideViewPr>
    <p:cSldViewPr snapToGrid="0">
      <p:cViewPr varScale="1">
        <p:scale>
          <a:sx n="117" d="100"/>
          <a:sy n="117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770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338E-8A02-97D7-62C1-43C253C2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660B62-0242-8E01-06C4-966DA326F9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686F2D-F228-C01C-D06D-05B5DDB88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C322FC-3197-3086-D567-2204311F7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787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6AD98-CE59-806D-F358-74105857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578D8-F60B-ECA9-5898-0D1A5E6F9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FC3FA7-6477-A18C-0413-01D75A08A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B8DE7-F7C1-AB1E-4D52-B9956E9CA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636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464B-84ED-CEE7-DA0C-F10DF0E1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3160-A682-E8C2-965C-6AC45EABD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B17F72-1A3E-8BA4-6CA8-0560C8311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5E4C-3387-A328-9F71-0D422CC74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564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238F4-78D0-476D-41F4-5A943456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DD0F8-4AE5-5D4D-4C1F-CBFFED9C0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A2D393-0C83-D213-1CB9-465F8801E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82A0B-680F-0B1A-124F-242C2ECA0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522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90935-6576-A246-71DD-8FC71200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8A61-49B0-7AA8-F144-ACEAE433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6D6A2-D6D3-6760-5C88-655F350D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5F55C-EA9C-2F74-1F4B-21A035506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4093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C999-8E74-DD6A-4C3A-34A49B58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15C041-62FE-A283-8626-B346E4CAF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0E26F6-3F3F-8531-B2A6-5053E960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889A1-4CA4-4FC1-A688-2370A6FB5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82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6CA7-77D3-0AEE-10F9-E006463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716712-0EDC-F559-AE6E-00BFB5078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7D7D5D-4089-7CFD-6D26-FF645805F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BCCA93-C180-0AF1-9F60-646F81495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0113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B0329-AF15-CA77-1949-163B0D33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C06B6B-10FD-608F-5682-DFCB5ADF2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FDB9EE-CFA8-0E88-CD68-E87FFB842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B3BAF-0E55-5916-6A82-373FFE883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351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EA05-867E-2BA3-085E-2E1E703A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C42608-C9E1-C557-5D04-C28607C1B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5E0D67-7027-9DFD-7D48-57F81D07E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493F42-4445-5805-22A5-49A4F324B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3018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C9CC-D070-C8F2-DEEA-BAF4D3C3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85A18-4FA4-CD0C-9855-46ABA1756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7D132-8DBF-EEA7-9173-BE9F23FAD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35089-CDE1-B285-BDDF-3D13416E7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393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C07D-F47A-D286-DBFF-B27AAD47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7AB39-AECD-B6A0-D6DA-F722CEFDA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C1B4A2-5AC3-C3AB-8D86-2198A3371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4AB1C-A285-9FFE-A70C-AA319969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4096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74FD-EA74-5B9F-A7D5-B31003F4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7F7DC8-EE31-9CB6-859A-188C70153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388AA6-6FA3-8E6E-515F-66039CCFB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6E18-38E2-6BE8-0313-D0CA52D80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2480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2BEAC-17F1-3314-6EF3-4832DE7A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AC1277-452C-6722-85C9-EF8215370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50240C-FE99-EB67-AB04-9003E70DE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7EF3C-2680-C172-6D01-0DC906B3E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586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E67E-1CA1-DF7E-74FB-09725FA26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6958AB-31A2-9EB2-5226-7739DCC36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4A34D4-CAF2-D766-D163-6C10192E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1C7F2-5B1B-1B8E-1BED-02687C6A3F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92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86AE5-AC34-DFC0-0B98-27777E37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B9AB23-EF4F-B786-86C1-91D06C21C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A2765B-DA10-09E3-2130-F63E493C2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6C5FFE-4403-E3F4-849E-40F81A86A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1557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EFFE-9340-A156-C775-68B8DA76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027BE5-E9EA-66A0-747B-A1692E306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7A30EA-EA1B-A96E-4F13-64140833C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C6325-2F8B-10E7-1AEC-2C2AF9F8E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6061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3407-07AB-6F8A-A300-B756124B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0C4D89-6783-8C1C-C472-8AC630910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B8ADF2-ED83-FCA8-50B1-612F2C54A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0730F-9AB4-FFDD-2BCC-B48B09E6A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65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39253-2A39-5F11-6913-184FBDC8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CB2106-7CA3-6826-4B03-04DF59BC6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79F5F1-634F-99C2-35C7-74068B93F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EB838F-289C-900A-EA43-6F31B80B1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7487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5B6F-5AA7-D493-2E18-F37B3B515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D3D5D7-967E-EDF9-659E-4C13DBC8C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6E4F9A-1779-DC1B-A28D-3565746B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D768B3-554A-B0EC-98B7-2AEFDF1F0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9935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4FDD0-9D95-795A-5902-91FB8373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C0015-FC9A-2749-77B8-DFA539235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FC6D0-6AE9-4176-6AB9-4DA248DB2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53865-23F8-84C3-F7B8-80D484951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2562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2D567-6A07-B1DD-53DD-359A5CC8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3A755D-3F15-1611-55C3-D97E92C01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29CDBF-6951-C135-6609-DD60F13DA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4BBC1-AC39-893D-0028-10299A5F2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044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8C63-A91B-8C43-E052-9DFE1CAF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E578CD-90E6-902A-20FF-19E54688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372204-3516-F16B-792C-FBE7B77A1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07BE1C-9E76-EBDA-2DC1-37492E0E6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54957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2DD-3285-749D-7256-D9EAB997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09A2B9-317F-C5D1-4376-D57842D6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30B617-AABC-550D-FD1A-43E73A662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4211C-5EA1-3811-C624-4B45B3493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9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D369-1B40-554D-B585-48372C01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BAB60-3043-7356-3DCE-9F1AB09C7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E9BBA-4FDB-2C29-F111-563BFE1A5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735E34-EE05-DD6A-7E90-365A5E97D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3542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2D8E-7668-3975-01BC-43461E1E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B409CB-250D-8E38-5F51-39BA7595B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799BA8-8A78-D9BA-DB3B-20582A8B3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8C67C-DD7D-8D7B-C0A3-33CFA88B5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455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99818-E96F-E7C6-3967-DA767F7D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7DCB81-DB05-5D71-A85B-36928B421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6D688E-B5DD-BB73-9090-AB80F9B0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A44683-E4FE-1497-80B5-1687D2D5F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831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E73A-7A23-867E-300B-3F66EEE27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830A79-8053-9F7F-EC33-B6A70BDCE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19EB98-53D2-DD25-DD83-ADDF57AE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9168E2-5AB2-08C6-43B7-9853323A8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404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7FF5-1B29-F76B-95BC-3AA6EE28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789990-80B1-009D-78C1-E419C69EC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66B322-0AFF-AA8A-9D61-CE250DC95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5211B2-E8B0-5010-D43C-9D3E6E0F6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110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0576-FEF8-ACD6-B459-190002785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3E5494-65BC-0DCB-D4AA-8B3868F97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8807FE-65E2-15EE-3F8F-0273BD18D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098F6-DC56-3E5C-04F8-EF1AF74B7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57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4E58-AB64-A308-D046-270EB1BA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95A086-97AA-C62F-B7FD-79BA270D0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28B92B-4788-ED48-41C2-835CAB43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E7032-CAE9-EDEE-D787-A22B68E4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67969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3769-C4FA-C235-AF05-10C3ED01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CB8CC0-BC3F-C822-BC49-3F42E5208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6DDD8-5D67-1D2F-561E-318DE927B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BAA4D8-CF31-4CC3-5406-38243A0A6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47795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B8A9-F522-B01A-225E-18E636B2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E005E0-92B0-E220-6524-970BB8573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3A7705-D064-5FEE-1CB1-F624E8841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B26992-B33B-16FB-858F-E41053DE6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1301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F20D-8B60-656F-E748-81150E9E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8ABCA1-3410-E973-7742-F1D05EEC2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0C588E-C833-DFF9-FA84-390127A6E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CD9937-67CD-419F-7954-D7CD30C52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6429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15EC-329C-5456-9942-FD103928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F7D84A-F4E3-B29E-CCB0-5B7898812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431D76-F3A1-13F1-DBFD-CBC5324F8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55C5E3-4950-96D1-19C6-9CFB12EF3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27538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FFAF-6E45-E3ED-BF46-04863D27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EE3EC6-58F3-62FB-D430-F44CBAC2B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2693A0-0909-E433-8566-7CACFE5EE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4A040-34CE-29C1-B596-8C904C19E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39399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58CBC-F170-3EA4-4E04-2ABB3197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CC7D1-BB14-498C-36A2-1971A4A31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1384C6-F474-9F87-6B7A-9431CB59C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0BEE30-81BD-5FE1-7790-67C1443E8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945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B9B8-DD03-2DFE-2C6E-D53D8689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6B8C29-112A-D25C-661B-CB5C038E8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53D996-9E52-4374-D87E-63CD3A4B8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F781D-8B87-0053-AFC9-A9D19BCB0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33673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71F6-A34C-7AF9-EDDA-C5688D05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7A4EEE-CCDD-5579-1775-435FD2F20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14AB4F-29DA-DEF0-EB10-FFA5F9A2F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400F4-B2D3-F105-DAC9-D6D52D46C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66838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0D0E-F63D-1C94-C673-19E2F3BE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19CE47-F809-AE0A-5864-9B2078E66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CDE2D-D885-6D25-26F1-9E652C7CE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ADFBEB-AD05-6682-2B81-34AC08C2C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31165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9390-92D7-EEAC-ECCC-A3F8E43FF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88BBE-118B-9998-6409-D1D8A7E18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236A5B-D862-264E-B097-88242757B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D3E38-6737-210D-D08E-5EE1D8BF9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70711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317F-27A4-1B84-32D9-4E06FC59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3DFC77-3BC5-D1DA-80A4-51A972222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8F0FAA-CB16-5D14-E606-B76B7EB0A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400086-E845-9FDD-2A72-21C517CFE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8542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E7D9-1061-2498-14D3-528F7320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383FB5-C88B-E39C-0A22-F88C3C111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A933B0-4B3D-4AEC-9D17-E39CCFA6C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705599-7EC3-8538-8714-92386ED68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376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2922416B-7F84-4767-4579-BEF8A74EA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67E4C0C-4B4C-78D8-20BA-D4953A0E437A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E086F9-DF8E-13D2-FA51-BF585A2EA2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07888" y="2600493"/>
            <a:ext cx="33762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21C9-23EF-C265-7377-7D3173FE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BED507-CB3E-C14E-6F27-C5FEEDC80C93}"/>
              </a:ext>
            </a:extLst>
          </p:cNvPr>
          <p:cNvSpPr txBox="1"/>
          <p:nvPr/>
        </p:nvSpPr>
        <p:spPr>
          <a:xfrm>
            <a:off x="1859920" y="2600493"/>
            <a:ext cx="8472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이터러블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컬렉션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시퀀스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89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이터러블</a:t>
            </a:r>
            <a:r>
              <a:rPr lang="en-US" altLang="ko-KR" dirty="0"/>
              <a:t>(</a:t>
            </a:r>
            <a:r>
              <a:rPr lang="en-US" altLang="ko-KR" dirty="0" err="1"/>
              <a:t>Iterable</a:t>
            </a:r>
            <a:r>
              <a:rPr lang="en-US" altLang="ko-KR" dirty="0"/>
              <a:t>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584913-92C6-B3AC-8694-1E225D127EE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7677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💡반복</a:t>
            </a:r>
            <a:r>
              <a:rPr lang="en-US" altLang="ko-KR" dirty="0"/>
              <a:t>(iteration)</a:t>
            </a:r>
            <a:r>
              <a:rPr lang="ko-KR" altLang="en-US" dirty="0"/>
              <a:t>이 가능한 객체의</a:t>
            </a:r>
            <a:r>
              <a:rPr lang="en-US" altLang="ko-KR" dirty="0"/>
              <a:t> </a:t>
            </a:r>
            <a:r>
              <a:rPr lang="ko-KR" altLang="en-US" dirty="0"/>
              <a:t>총칭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dirty="0"/>
              <a:t>for </a:t>
            </a:r>
            <a:r>
              <a:rPr lang="ko-KR" altLang="en-US" dirty="0"/>
              <a:t>루프에 사용할 수 있는 모든 객체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800" dirty="0" err="1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이터러블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컬렉션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(Collection)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</a:t>
            </a:r>
            <a:r>
              <a:rPr lang="ko-KR" altLang="en-US" dirty="0" err="1"/>
              <a:t>제너레이터</a:t>
            </a:r>
            <a:r>
              <a:rPr lang="en-US" altLang="ko-KR" dirty="0"/>
              <a:t>(Generator)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🔎 </a:t>
            </a:r>
            <a:r>
              <a:rPr lang="ko-KR" altLang="en-US" sz="1800" dirty="0" err="1"/>
              <a:t>제너레이터</a:t>
            </a:r>
            <a:r>
              <a:rPr lang="en-US" altLang="ko-KR" sz="1800" dirty="0"/>
              <a:t>(Generator):</a:t>
            </a:r>
            <a:r>
              <a:rPr lang="ko-KR" altLang="en-US" sz="1800" dirty="0"/>
              <a:t>  값을 하나씩 생성하며 반복 가능한</a:t>
            </a:r>
            <a:r>
              <a:rPr lang="en-US" altLang="ko-KR" sz="1800" dirty="0"/>
              <a:t>(</a:t>
            </a:r>
            <a:r>
              <a:rPr lang="en-US" altLang="ko-KR" sz="1800" dirty="0" err="1"/>
              <a:t>iterable</a:t>
            </a:r>
            <a:r>
              <a:rPr lang="en-US" altLang="ko-KR" sz="1800" dirty="0"/>
              <a:t>) </a:t>
            </a:r>
            <a:r>
              <a:rPr lang="ko-KR" altLang="en-US" sz="1800" dirty="0"/>
              <a:t>객체를 만드는 함수 또는 표현식</a:t>
            </a:r>
            <a:endParaRPr lang="en-US" altLang="ko-KR" sz="1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0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65C8-CF41-42F7-019C-8741C435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F537D-ACC7-4CA2-961F-B37F6BC7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</a:t>
            </a:r>
            <a:r>
              <a:rPr lang="en-US" altLang="ko-KR" dirty="0"/>
              <a:t>(Collection)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1F0028-0890-3518-00E2-900A7478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D1D4EC-84E5-81D1-7828-93EA8EDE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A6CDD05-7CC4-E69A-F4B4-B96381CE4489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214026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데이터를 하나의 변수에 묶어서 저장할 수 있는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en-US" altLang="ko-KR" dirty="0"/>
              <a:t>"</a:t>
            </a:r>
            <a:r>
              <a:rPr lang="ko-KR" altLang="en-US" dirty="0"/>
              <a:t>데이터의 묶음</a:t>
            </a:r>
            <a:r>
              <a:rPr lang="en-US" altLang="ko-KR" dirty="0"/>
              <a:t>"</a:t>
            </a:r>
            <a:r>
              <a:rPr lang="ko-KR" altLang="en-US" dirty="0"/>
              <a:t>을 다룰 수 있는 자료형을 총칭하는 용어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📌주요 컬렉션 자료형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FB78CE4-2F0C-7EAE-DC4F-B9D87462C9D6}"/>
              </a:ext>
            </a:extLst>
          </p:cNvPr>
          <p:cNvGraphicFramePr>
            <a:graphicFrameLocks noGrp="1"/>
          </p:cNvGraphicFramePr>
          <p:nvPr/>
        </p:nvGraphicFramePr>
        <p:xfrm>
          <a:off x="769076" y="3128478"/>
          <a:ext cx="11078935" cy="2893500"/>
        </p:xfrm>
        <a:graphic>
          <a:graphicData uri="http://schemas.openxmlformats.org/drawingml/2006/table">
            <a:tbl>
              <a:tblPr/>
              <a:tblGrid>
                <a:gridCol w="2262931">
                  <a:extLst>
                    <a:ext uri="{9D8B030D-6E8A-4147-A177-3AD203B41FA5}">
                      <a16:colId xmlns:a16="http://schemas.microsoft.com/office/drawing/2014/main" val="3146958635"/>
                    </a:ext>
                  </a:extLst>
                </a:gridCol>
                <a:gridCol w="6977372">
                  <a:extLst>
                    <a:ext uri="{9D8B030D-6E8A-4147-A177-3AD203B41FA5}">
                      <a16:colId xmlns:a16="http://schemas.microsoft.com/office/drawing/2014/main" val="1189055765"/>
                    </a:ext>
                  </a:extLst>
                </a:gridCol>
                <a:gridCol w="1838632">
                  <a:extLst>
                    <a:ext uri="{9D8B030D-6E8A-4147-A177-3AD203B41FA5}">
                      <a16:colId xmlns:a16="http://schemas.microsoft.com/office/drawing/2014/main" val="2380329524"/>
                    </a:ext>
                  </a:extLst>
                </a:gridCol>
              </a:tblGrid>
              <a:tr h="578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99317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허용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[1, 2, 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149326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허용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(1, 2, 3)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996855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set 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집합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없음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불허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가변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{1, 2, 3}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08084"/>
                  </a:ext>
                </a:extLst>
              </a:tr>
              <a:tr h="5787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딕셔너리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값 쌍 저장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 키 불허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순서 있음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(3.7+)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{'a': 1, 'b': 2}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310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75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56F3-C0F5-670E-2EEF-A3AD7BEE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E5825-9599-EB8E-777C-A2C36174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</a:t>
            </a:r>
            <a:r>
              <a:rPr lang="en-US" altLang="ko-KR" dirty="0"/>
              <a:t>(Collection) </a:t>
            </a:r>
            <a:r>
              <a:rPr lang="ko-KR" altLang="en-US" dirty="0"/>
              <a:t>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DD11E-3ACA-7141-F29D-0BCD4DCC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1F64A9-24A9-4F37-B128-960D8958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4F4BFFC-8F20-0763-FB1D-AF50BDBD2E3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67583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✅ 컬렉션 자료형의 공통 기능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in, not in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연산자를 통한 포함 여부 확인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반복문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(for)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통한 순회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길이 확인 가능</a:t>
            </a:r>
          </a:p>
        </p:txBody>
      </p:sp>
    </p:spTree>
    <p:extLst>
      <p:ext uri="{BB962C8B-B14F-4D97-AF65-F5344CB8AC3E}">
        <p14:creationId xmlns:p14="http://schemas.microsoft.com/office/powerpoint/2010/main" val="380185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BCE68-9193-3B03-A0AB-F5D0EFDC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748F9-EF31-6023-8E56-B9B3EC9D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컬렉션과 시퀀스</a:t>
            </a:r>
            <a:r>
              <a:rPr lang="en-US" altLang="ko-KR" dirty="0"/>
              <a:t>(Sequence)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2CB4C3-924A-9404-AECE-93E082941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06CA07-2D45-0653-CE7E-1C02AA82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D2D3A2-D487-6975-8606-8608C89F8194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5648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💡시퀀스 </a:t>
            </a:r>
            <a:r>
              <a:rPr lang="en-US" altLang="ko-KR" dirty="0"/>
              <a:t>: </a:t>
            </a:r>
            <a:r>
              <a:rPr lang="ko-KR" altLang="en-US" dirty="0"/>
              <a:t>항목이 </a:t>
            </a:r>
            <a:r>
              <a:rPr lang="ko-KR" altLang="en-US" b="1" dirty="0"/>
              <a:t>순서대로 정렬된 데이터의 묶음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➡️시퀀스는 컬렉션의 하위개념으로 볼 수 있음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컬렉션 중 순서가 있는 자료형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6C1C71-8151-FC90-5E9F-0D636214A59E}"/>
              </a:ext>
            </a:extLst>
          </p:cNvPr>
          <p:cNvSpPr/>
          <p:nvPr/>
        </p:nvSpPr>
        <p:spPr>
          <a:xfrm>
            <a:off x="886229" y="2585598"/>
            <a:ext cx="10406743" cy="1450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Collection: Container types such as list, set, </a:t>
            </a:r>
            <a:r>
              <a:rPr lang="en-US" altLang="ko-KR" sz="1600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and tuple.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Sequence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600" b="1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 more specific category of collections</a:t>
            </a: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where order matters — includes list, tuple, range, str.</a:t>
            </a:r>
            <a:b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Python </a:t>
            </a:r>
            <a:r>
              <a:rPr lang="ko-KR" altLang="en-US" sz="1600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문서의 용어 기준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A0AE7-8071-28A4-BF32-CBBA8DFAE0A1}"/>
              </a:ext>
            </a:extLst>
          </p:cNvPr>
          <p:cNvSpPr txBox="1"/>
          <p:nvPr/>
        </p:nvSpPr>
        <p:spPr>
          <a:xfrm>
            <a:off x="886229" y="4163543"/>
            <a:ext cx="7330308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tuple은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시퀀스이자 컬렉션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set과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dict는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컬렉션이지만 시퀀스는 아님</a:t>
            </a:r>
          </a:p>
        </p:txBody>
      </p:sp>
    </p:spTree>
    <p:extLst>
      <p:ext uri="{BB962C8B-B14F-4D97-AF65-F5344CB8AC3E}">
        <p14:creationId xmlns:p14="http://schemas.microsoft.com/office/powerpoint/2010/main" val="403159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B82E-5711-1773-FC1C-0FD92845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34375-0EB7-11CA-D94E-586E5734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</a:t>
            </a:r>
            <a:r>
              <a:rPr lang="en-US" altLang="ko-KR" dirty="0"/>
              <a:t>(Sequence)</a:t>
            </a:r>
            <a:r>
              <a:rPr lang="ko-KR" altLang="en-US" dirty="0"/>
              <a:t> 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7E5089-E180-D16F-F67A-CB7CD46B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052B46-D02C-37B7-1C25-2BE6AB7F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6ABD188-839C-2A88-2AE8-8E642233390E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개의 값을 </a:t>
            </a:r>
            <a:r>
              <a:rPr lang="ko-KR" altLang="en-US" b="1" dirty="0"/>
              <a:t>순서대로 나열</a:t>
            </a:r>
            <a:r>
              <a:rPr lang="ko-KR" altLang="en-US" dirty="0"/>
              <a:t>한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dirty="0"/>
              <a:t>시퀀스의 핵심은 순서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)</a:t>
            </a:r>
            <a:r>
              <a:rPr lang="ko-KR" altLang="en-US" dirty="0"/>
              <a:t>가 존재한다는 것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존재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인덱싱 </a:t>
            </a:r>
            <a:r>
              <a:rPr lang="en-US" altLang="ko-KR" dirty="0"/>
              <a:t>: </a:t>
            </a:r>
            <a:r>
              <a:rPr lang="ko-KR" altLang="en-US" dirty="0"/>
              <a:t>특정 위치의 요소를 </a:t>
            </a:r>
            <a:r>
              <a:rPr lang="ko-KR" altLang="en-US" b="1" dirty="0"/>
              <a:t>정수형 인덱스</a:t>
            </a:r>
            <a:r>
              <a:rPr lang="ko-KR" altLang="en-US" dirty="0"/>
              <a:t>로 접근할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</a:t>
            </a:r>
            <a:r>
              <a:rPr lang="ko-KR" altLang="en-US" dirty="0" err="1"/>
              <a:t>슬라이싱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시퀀스의 </a:t>
            </a:r>
            <a:r>
              <a:rPr lang="ko-KR" altLang="en-US" b="1" dirty="0"/>
              <a:t>일부분을 잘라서 새로운 시퀀스를 만들 수</a:t>
            </a:r>
            <a:r>
              <a:rPr lang="ko-KR" altLang="en-US" dirty="0"/>
              <a:t>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반복 가능 </a:t>
            </a:r>
            <a:r>
              <a:rPr lang="en-US" altLang="ko-KR" dirty="0"/>
              <a:t>: for</a:t>
            </a:r>
            <a:r>
              <a:rPr lang="ko-KR" altLang="en-US" dirty="0"/>
              <a:t>문을 이용하여 각 요소를 순차적으로 순회</a:t>
            </a:r>
            <a:r>
              <a:rPr lang="en-US" altLang="ko-KR" dirty="0"/>
              <a:t>(iterate)</a:t>
            </a:r>
            <a:r>
              <a:rPr lang="ko-KR" altLang="en-US" dirty="0"/>
              <a:t>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963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5AE8-784E-65A7-E3D4-F7EB38E7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7743B-75D6-6AA6-A10A-96BCA151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시퀀스</a:t>
            </a:r>
            <a:r>
              <a:rPr lang="en-US" altLang="ko-KR" dirty="0"/>
              <a:t>(Sequence)</a:t>
            </a:r>
            <a:r>
              <a:rPr lang="ko-KR" altLang="en-US" dirty="0"/>
              <a:t> 자료형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A0A49-3048-F6FD-E0CA-1B41BD5A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06D8F2-442D-EEAB-3BD2-5CEBC0C9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953E63C-FCE7-06F5-B6D9-DAC716F338A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141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✅시퀀스의 종류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6C8A216-A92D-5113-0046-5C5E79006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26118"/>
              </p:ext>
            </p:extLst>
          </p:nvPr>
        </p:nvGraphicFramePr>
        <p:xfrm>
          <a:off x="409358" y="1730119"/>
          <a:ext cx="11373283" cy="3743030"/>
        </p:xfrm>
        <a:graphic>
          <a:graphicData uri="http://schemas.openxmlformats.org/drawingml/2006/table">
            <a:tbl>
              <a:tblPr/>
              <a:tblGrid>
                <a:gridCol w="1924483">
                  <a:extLst>
                    <a:ext uri="{9D8B030D-6E8A-4147-A177-3AD203B41FA5}">
                      <a16:colId xmlns:a16="http://schemas.microsoft.com/office/drawing/2014/main" val="1334758840"/>
                    </a:ext>
                  </a:extLst>
                </a:gridCol>
                <a:gridCol w="6184627">
                  <a:extLst>
                    <a:ext uri="{9D8B030D-6E8A-4147-A177-3AD203B41FA5}">
                      <a16:colId xmlns:a16="http://schemas.microsoft.com/office/drawing/2014/main" val="218284326"/>
                    </a:ext>
                  </a:extLst>
                </a:gridCol>
                <a:gridCol w="3264173">
                  <a:extLst>
                    <a:ext uri="{9D8B030D-6E8A-4147-A177-3AD203B41FA5}">
                      <a16:colId xmlns:a16="http://schemas.microsoft.com/office/drawing/2014/main" val="3914687420"/>
                    </a:ext>
                  </a:extLst>
                </a:gridCol>
              </a:tblGrid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자료형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변경 가능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258446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문자들의 시퀀스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문자열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611921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요소들의 시퀀스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다양한 자료형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✅ 가변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077573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tuple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요소들의 시퀀스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불변형 리스트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118315"/>
                  </a:ext>
                </a:extLst>
              </a:tr>
              <a:tr h="748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 시퀀스를 생성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(for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루프에서 자주 사용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❌ 불변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immutable)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10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702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56A7-6AAE-13EF-56E6-CD0A4A09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BF106F-6FF0-A90E-9F03-9B5B3B40D498}"/>
              </a:ext>
            </a:extLst>
          </p:cNvPr>
          <p:cNvSpPr txBox="1"/>
          <p:nvPr/>
        </p:nvSpPr>
        <p:spPr>
          <a:xfrm>
            <a:off x="4892797" y="2600493"/>
            <a:ext cx="24064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23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75623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값들을 순서대로 저장할 수 있는 자료형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b="1" dirty="0"/>
              <a:t>인덱스로 각 항목에 접근</a:t>
            </a:r>
            <a:r>
              <a:rPr lang="ko-KR" altLang="en-US" dirty="0"/>
              <a:t>할 수 있으며</a:t>
            </a:r>
            <a:r>
              <a:rPr lang="en-US" altLang="ko-KR" dirty="0"/>
              <a:t>, </a:t>
            </a:r>
            <a:r>
              <a:rPr lang="ko-KR" altLang="en-US" b="1" dirty="0"/>
              <a:t>요소의 추가</a:t>
            </a:r>
            <a:r>
              <a:rPr lang="en-US" altLang="ko-KR" b="1" dirty="0"/>
              <a:t>/</a:t>
            </a:r>
            <a:r>
              <a:rPr lang="ko-KR" altLang="en-US" b="1" dirty="0"/>
              <a:t>삭제</a:t>
            </a:r>
            <a:r>
              <a:rPr lang="en-US" altLang="ko-KR" b="1" dirty="0"/>
              <a:t>/</a:t>
            </a:r>
            <a:r>
              <a:rPr lang="ko-KR" altLang="en-US" b="1" dirty="0"/>
              <a:t>수정이 자유로움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유지 </a:t>
            </a:r>
            <a:r>
              <a:rPr lang="en-US" altLang="ko-KR" dirty="0"/>
              <a:t>:</a:t>
            </a:r>
            <a:r>
              <a:rPr lang="ko-KR" altLang="en-US" dirty="0"/>
              <a:t> 요소가 입력된 순서대로 저장되고 유지됨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중복 허용 </a:t>
            </a:r>
            <a:r>
              <a:rPr lang="en-US" altLang="ko-KR" dirty="0"/>
              <a:t>: </a:t>
            </a:r>
            <a:r>
              <a:rPr lang="ko-KR" altLang="en-US" dirty="0"/>
              <a:t>동일한 값이 여러 개 존재할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/>
              <a:t> 다양한 자료형 저장 가능 </a:t>
            </a:r>
            <a:r>
              <a:rPr lang="en-US" altLang="ko-KR" dirty="0"/>
              <a:t>: 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, </a:t>
            </a:r>
            <a:r>
              <a:rPr lang="ko-KR" altLang="en-US" dirty="0"/>
              <a:t>문자열</a:t>
            </a:r>
            <a:r>
              <a:rPr lang="en-US" altLang="ko-KR" dirty="0"/>
              <a:t>, </a:t>
            </a:r>
            <a:r>
              <a:rPr lang="ko-KR" altLang="en-US" dirty="0"/>
              <a:t>리스트 등 어떤 자료형도 저장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가변 객체</a:t>
            </a:r>
            <a:r>
              <a:rPr lang="en-US" altLang="ko-KR" dirty="0"/>
              <a:t>(Mutable) : </a:t>
            </a:r>
            <a:r>
              <a:rPr lang="ko-KR" altLang="en-US" dirty="0"/>
              <a:t>요소의 추가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수정이 가능함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49C5A-2C0D-ACE4-5354-9BC86DD9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B7EAD79-9592-6767-DF89-4B7A2F7D7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3" t="15448" r="7707" b="15561"/>
          <a:stretch/>
        </p:blipFill>
        <p:spPr>
          <a:xfrm>
            <a:off x="2118122" y="1120007"/>
            <a:ext cx="7955756" cy="34147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D2CFD7B-1EF1-475E-D31F-7E7D006A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B0B631-D6CA-D7AA-C7B3-F376E61F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F2609-61B6-7690-4448-54F6E709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0CEFB-8FF3-58A6-8442-CE1B4758AFCA}"/>
              </a:ext>
            </a:extLst>
          </p:cNvPr>
          <p:cNvSpPr txBox="1"/>
          <p:nvPr/>
        </p:nvSpPr>
        <p:spPr>
          <a:xfrm>
            <a:off x="1992578" y="4534720"/>
            <a:ext cx="4103422" cy="1689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리스트는 대괄호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[ ]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표현됨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각 요소는 쉼표 </a:t>
            </a:r>
            <a:r>
              <a:rPr lang="en-US" altLang="ko-KR" sz="2400" dirty="0">
                <a:latin typeface="+mn-ea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로 구분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다양한 자료형 저장 가능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2213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9AD07-17EC-FC25-E77D-F61D2EA9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69711-327E-CCEC-ABC6-E27A1B56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</a:t>
            </a:r>
            <a:r>
              <a:rPr lang="en-US" altLang="ko-KR" dirty="0"/>
              <a:t>(list) </a:t>
            </a:r>
            <a:r>
              <a:rPr lang="ko-KR" altLang="en-US" dirty="0"/>
              <a:t>생성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24D956-F436-F862-62C6-ADC1F51D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663776-595E-D5A8-2272-0D87C277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1035B-D09D-1CF6-97FF-B4827B5B69DB}"/>
              </a:ext>
            </a:extLst>
          </p:cNvPr>
          <p:cNvSpPr txBox="1"/>
          <p:nvPr/>
        </p:nvSpPr>
        <p:spPr>
          <a:xfrm>
            <a:off x="1995118" y="5096920"/>
            <a:ext cx="526087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✔️ </a:t>
            </a:r>
            <a:r>
              <a:rPr lang="ko-KR" altLang="en-US" sz="2400" dirty="0" err="1">
                <a:latin typeface="+mn-ea"/>
                <a:cs typeface="Pretendard Light" panose="02000403000000020004" pitchFamily="2" charset="-127"/>
              </a:rPr>
              <a:t>이터러블을</a:t>
            </a:r>
            <a:r>
              <a:rPr lang="ko-KR" altLang="en-US" sz="2400" dirty="0">
                <a:latin typeface="+mn-ea"/>
                <a:cs typeface="Pretendard Light" panose="02000403000000020004" pitchFamily="2" charset="-127"/>
              </a:rPr>
              <a:t> 리스트로 변환할 때 사용됨</a:t>
            </a:r>
            <a:endParaRPr lang="en-US" altLang="ko-KR" sz="2400" dirty="0">
              <a:latin typeface="+mn-ea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DCD622-E854-F3D9-12B7-BA24258E6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2" t="15313" r="7316" b="15493"/>
          <a:stretch>
            <a:fillRect/>
          </a:stretch>
        </p:blipFill>
        <p:spPr>
          <a:xfrm>
            <a:off x="2105660" y="1761080"/>
            <a:ext cx="7980680" cy="333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00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319D-6FB3-A378-E38C-F60EB26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52EBAF-EB60-21F0-D775-426A3B51C976}"/>
              </a:ext>
            </a:extLst>
          </p:cNvPr>
          <p:cNvSpPr txBox="1"/>
          <p:nvPr/>
        </p:nvSpPr>
        <p:spPr>
          <a:xfrm>
            <a:off x="2933930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0258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F8EE-07BE-2A15-3F77-469E48B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856F7DF-3997-1020-0B42-9B421801F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4976"/>
            <a:ext cx="12192000" cy="50867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A157E6-7D67-87C6-BABB-DCD17B86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2350C-BC46-8415-C5CC-A7332791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4B4F70-67F8-160D-9A31-68F31F42A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E80F9C0-17B2-05A8-8BAA-46D2A95A1E6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9255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 자료형에서 </a:t>
            </a:r>
            <a:r>
              <a:rPr lang="ko-KR" altLang="en-US" b="1" dirty="0"/>
              <a:t>특정 위치</a:t>
            </a:r>
            <a:r>
              <a:rPr lang="en-US" altLang="ko-KR" b="1" dirty="0"/>
              <a:t>(</a:t>
            </a:r>
            <a:r>
              <a:rPr lang="ko-KR" altLang="en-US" b="1" dirty="0"/>
              <a:t>인덱스</a:t>
            </a:r>
            <a:r>
              <a:rPr lang="en-US" altLang="ko-KR" b="1" dirty="0"/>
              <a:t>)</a:t>
            </a:r>
            <a:r>
              <a:rPr lang="ko-KR" altLang="en-US" b="1" dirty="0"/>
              <a:t>의 값을 조회하는 것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인덱스는 </a:t>
            </a:r>
            <a:r>
              <a:rPr lang="en-US" altLang="ko-KR" b="1" dirty="0"/>
              <a:t>0</a:t>
            </a:r>
            <a:r>
              <a:rPr lang="ko-KR" altLang="en-US" b="1" dirty="0"/>
              <a:t>부터 시작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음수 인덱스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사용하면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뒤에서부터 접근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6384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20A7-8605-093C-F7C0-8D005403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2012A-E0CC-71FA-0DE9-6639307E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 – </a:t>
            </a:r>
            <a:r>
              <a:rPr lang="ko-KR" altLang="en-US" dirty="0"/>
              <a:t>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C5110-810B-D29F-1660-B0592797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A2CBA5-9102-42D3-682F-C34C85CE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02E785C-F166-EF87-8AB5-4B2D76072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6186" r="7609" b="16312"/>
          <a:stretch/>
        </p:blipFill>
        <p:spPr>
          <a:xfrm>
            <a:off x="1220462" y="1381234"/>
            <a:ext cx="9737824" cy="39431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A315B8-065F-EDAA-B6E9-AB4DF979A3BF}"/>
              </a:ext>
            </a:extLst>
          </p:cNvPr>
          <p:cNvSpPr txBox="1"/>
          <p:nvPr/>
        </p:nvSpPr>
        <p:spPr>
          <a:xfrm>
            <a:off x="1080524" y="5306735"/>
            <a:ext cx="1011803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문자열은 불변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인덱스를 통한 수정은 불가능 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629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D534-AA46-B60D-2402-6119A21D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A4033B-E476-4A3E-B5E3-94B33ED6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  <a:r>
              <a:rPr lang="en-US" altLang="ko-KR" dirty="0"/>
              <a:t>(Indexing)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8E1F87-98A5-4444-27B3-AA78DE42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21D2E0-F6F6-2B77-759E-88938A21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3394B-5212-9E4C-F1B3-254101703F43}"/>
              </a:ext>
            </a:extLst>
          </p:cNvPr>
          <p:cNvSpPr txBox="1"/>
          <p:nvPr/>
        </p:nvSpPr>
        <p:spPr>
          <a:xfrm>
            <a:off x="761210" y="5092700"/>
            <a:ext cx="10118036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리스트는 가변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(immutable)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자료형이므로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인덱스를 통한 수정이 가능함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DA9C1D-94D4-765C-0817-D25368F30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2" t="18417" r="7605" b="18538"/>
          <a:stretch/>
        </p:blipFill>
        <p:spPr>
          <a:xfrm>
            <a:off x="920750" y="1758949"/>
            <a:ext cx="10344150" cy="33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648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5AAE-F8E3-8E14-1A74-20072D55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1E571-2AD4-F843-6988-29AE6375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D839B8-3630-E34D-02FF-52B3F450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60CCD4-EEF6-F9CE-B4DA-2576194C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3FB3C5B-4CAF-5EE3-A2E1-9FA38B0CE24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587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시퀀스에서 </a:t>
            </a:r>
            <a:r>
              <a:rPr lang="ko-KR" altLang="en-US" b="1" dirty="0"/>
              <a:t>특정 구간을 잘라내어 부분적으로 추출하는 방법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/>
              <a:t>원본은 변경되지 않으며</a:t>
            </a:r>
            <a:r>
              <a:rPr lang="en-US" altLang="ko-KR" dirty="0"/>
              <a:t>, </a:t>
            </a:r>
            <a:r>
              <a:rPr lang="ko-KR" altLang="en-US" dirty="0"/>
              <a:t>새로운 시퀀스를 생성함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start: </a:t>
            </a:r>
            <a:r>
              <a:rPr lang="ko-KR" altLang="en-US" dirty="0"/>
              <a:t>시작 인덱스 </a:t>
            </a:r>
            <a:r>
              <a:rPr lang="en-US" altLang="ko-KR" dirty="0"/>
              <a:t>(</a:t>
            </a:r>
            <a:r>
              <a:rPr lang="ko-KR" altLang="en-US" dirty="0"/>
              <a:t>포함</a:t>
            </a:r>
            <a:r>
              <a:rPr lang="en-US" altLang="ko-KR" dirty="0"/>
              <a:t>) , end: </a:t>
            </a:r>
            <a:r>
              <a:rPr lang="ko-KR" altLang="en-US" dirty="0"/>
              <a:t>끝 인덱스 </a:t>
            </a:r>
            <a:r>
              <a:rPr lang="en-US" altLang="ko-KR" dirty="0"/>
              <a:t>(</a:t>
            </a:r>
            <a:r>
              <a:rPr lang="ko-KR" altLang="en-US" dirty="0" err="1"/>
              <a:t>불포함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step: </a:t>
            </a:r>
            <a:r>
              <a:rPr lang="ko-KR" altLang="en-US" dirty="0"/>
              <a:t>간격 </a:t>
            </a:r>
            <a:r>
              <a:rPr lang="en-US" altLang="ko-KR" dirty="0"/>
              <a:t>(</a:t>
            </a:r>
            <a:r>
              <a:rPr lang="ko-KR" altLang="en-US" dirty="0"/>
              <a:t>양수</a:t>
            </a:r>
            <a:r>
              <a:rPr lang="en-US" altLang="ko-KR" dirty="0"/>
              <a:t>/</a:t>
            </a:r>
            <a:r>
              <a:rPr lang="ko-KR" altLang="en-US" dirty="0"/>
              <a:t>음수 가능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7B77749-AA9E-1983-2557-18A99BEAF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0" t="23806" r="7590" b="24111"/>
          <a:stretch/>
        </p:blipFill>
        <p:spPr>
          <a:xfrm>
            <a:off x="901699" y="3717700"/>
            <a:ext cx="10388602" cy="21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45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18C7-5EA4-BA6D-C4D6-4DC7CC9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888D5-DE25-0220-F89B-82DA15C3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75631-7BC7-8765-BB76-1EF9D0D8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66868D-150B-D8F9-6BFB-E267AF28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3" name="Picture 2" descr="파이썬 리스트 슬라이싱 일러스트레이션">
            <a:extLst>
              <a:ext uri="{FF2B5EF4-FFF2-40B4-BE49-F238E27FC236}">
                <a16:creationId xmlns:a16="http://schemas.microsoft.com/office/drawing/2014/main" id="{1F897421-DE42-39ED-B4F4-73094AACC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81" y="1463339"/>
            <a:ext cx="9883238" cy="467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7613C-F295-14B1-6519-2BD01BED5482}"/>
              </a:ext>
            </a:extLst>
          </p:cNvPr>
          <p:cNvSpPr txBox="1"/>
          <p:nvPr/>
        </p:nvSpPr>
        <p:spPr>
          <a:xfrm>
            <a:off x="1154381" y="107602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✅양수 인덱스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0482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31DA-5181-1CA3-9C4B-64CBD59E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32BAC-BE4E-5618-3C6F-CB81E15A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B4F926-FFF1-64FF-69DF-54AC2875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61C772-708C-4E2C-E23E-D4F7DAAD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2D429-1370-66D5-95EF-66DA6D68E1F1}"/>
              </a:ext>
            </a:extLst>
          </p:cNvPr>
          <p:cNvSpPr txBox="1"/>
          <p:nvPr/>
        </p:nvSpPr>
        <p:spPr>
          <a:xfrm>
            <a:off x="1154381" y="1076023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✅음수 인덱스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pic>
        <p:nvPicPr>
          <p:cNvPr id="3" name="Picture 2" descr="파이썬 리스트 슬라이싱 음수 인덱스">
            <a:extLst>
              <a:ext uri="{FF2B5EF4-FFF2-40B4-BE49-F238E27FC236}">
                <a16:creationId xmlns:a16="http://schemas.microsoft.com/office/drawing/2014/main" id="{34106139-9BC1-93A9-78FE-F4244E25F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8"/>
          <a:stretch>
            <a:fillRect/>
          </a:stretch>
        </p:blipFill>
        <p:spPr bwMode="auto">
          <a:xfrm>
            <a:off x="896732" y="1661438"/>
            <a:ext cx="9987168" cy="444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019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C319-B334-AB24-1AB2-ED7AE98A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EA98A-5BD0-C2E4-E1BA-81720572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문자열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F8FEE-AD01-DD1E-DBE0-797067FD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99A6C3-E4CB-C403-6413-F1F944E1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FA94F-12F3-4909-770A-E574027CA86F}"/>
              </a:ext>
            </a:extLst>
          </p:cNvPr>
          <p:cNvSpPr txBox="1"/>
          <p:nvPr/>
        </p:nvSpPr>
        <p:spPr>
          <a:xfrm>
            <a:off x="1317801" y="4368131"/>
            <a:ext cx="10118036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생략 → 첫번째 요소부터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end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생략 → 마지막 요소까지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start, end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모두 생략 → 전체 복사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step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사용해서 전체 복사 → 리스트를 반전해서 복사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9FC52-A13F-303A-D799-C9AB093CE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7477" r="7500" b="17487"/>
          <a:stretch/>
        </p:blipFill>
        <p:spPr>
          <a:xfrm>
            <a:off x="1424612" y="1053479"/>
            <a:ext cx="9342776" cy="332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46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77C4-15D0-25E3-569A-42F3ED73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67146-7ABB-6775-4D44-89C064B7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B215A-2AF3-99D2-7066-E4E77E7B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AF99D4-AF9A-E822-931B-FB50674E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5D8988-7ED8-80C2-0297-FC25066F8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9" t="18490" r="7570" b="18679"/>
          <a:stretch/>
        </p:blipFill>
        <p:spPr>
          <a:xfrm>
            <a:off x="1154430" y="1726973"/>
            <a:ext cx="9883140" cy="3171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3442D5-737C-51E2-F5B5-88CA9A286FFF}"/>
              </a:ext>
            </a:extLst>
          </p:cNvPr>
          <p:cNvSpPr txBox="1"/>
          <p:nvPr/>
        </p:nvSpPr>
        <p:spPr>
          <a:xfrm>
            <a:off x="1041400" y="4898798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문자열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동일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7084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69D0-8127-B5A5-CA6B-8E7351AB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744DE04-98B3-2208-B484-EB0D4201C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6" t="21512" r="7556" b="21513"/>
          <a:stretch/>
        </p:blipFill>
        <p:spPr>
          <a:xfrm>
            <a:off x="1155700" y="2037443"/>
            <a:ext cx="9880600" cy="24638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534A6D6-CBAA-1DF0-A053-5A49B741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r>
              <a:rPr lang="en-US" altLang="ko-KR" dirty="0"/>
              <a:t>(Slicing) – </a:t>
            </a:r>
            <a:r>
              <a:rPr lang="ko-KR" altLang="en-US" dirty="0"/>
              <a:t>리스트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3BEA1D-A632-0514-733A-CC3AB3C9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B11CA6-0A85-39C8-C6B0-04BD3E05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87DBB8-368B-F730-E07F-4557FCCB93E1}"/>
              </a:ext>
            </a:extLst>
          </p:cNvPr>
          <p:cNvSpPr txBox="1"/>
          <p:nvPr/>
        </p:nvSpPr>
        <p:spPr>
          <a:xfrm>
            <a:off x="1054100" y="4501243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리스트는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mutable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이므로 슬라이스 대입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문자열은 불가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146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03062"/>
            <a:ext cx="11641762" cy="549879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첫 번째 요소와 마지막 요소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첫 번째 요소와 마지막 요소를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[10, 20, 30, 40, 50]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가운데 세 개의 요소 추출하기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가운데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요소만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새 리스트로 만들어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[100, 200, 300, 400, 500, 600, 700]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리스트의 원소 두배 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리스트의 모든 원소를 두배로 만들어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[1, 2, 3, 4, 5]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AD682-18F4-77CE-03B5-043EBD8F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1CCED7-45EE-85EE-E4F4-FA29FC489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903266"/>
            <a:ext cx="11641762" cy="550411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 뒤집어서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역순으로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items = ["a", "b", "c", "d", "e"]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짝수 인덱스 요소만 출력하기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짝수 인덱스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(0, 2, 4, ...)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요소들만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 = ["zero", "one", "two", "three", "four", "five"]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슬라이싱으로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리스트 수정하기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슬라이싱으로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어벤져스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라라랜드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→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매트릭스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타이타닉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바꿔보세요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movies = ["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인셉션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인터스텔라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어벤져스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라라랜드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기생충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C6A4CC-C836-E045-8CA0-03FCA8C1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52E1A3-0D92-5B16-46E7-8D5CC48C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439CF4A-35DB-D810-22EE-8C8019DCABC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</p:spTree>
    <p:extLst>
      <p:ext uri="{BB962C8B-B14F-4D97-AF65-F5344CB8AC3E}">
        <p14:creationId xmlns:p14="http://schemas.microsoft.com/office/powerpoint/2010/main" val="1245707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05CB-738C-8EA2-9103-C14F0D12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988D86A-AA11-3906-2973-7318F93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0673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특정 규칙에 따라 요소 추출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물리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지구과학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순서대로 추출하여 새 리스트로 만드세요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subjects = 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국어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물리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화학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역사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지구과학</a:t>
            </a:r>
            <a:r>
              <a:rPr lang="en-US" altLang="ko-KR" sz="20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윤리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리스트를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 구간으로 나누어 역순 병합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[1~3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+ [4~6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+ [7~9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순서로 세 구간으로 나눈 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구간을 역순으로 따로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시 한 줄로 출력되게 출력해주세요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 = ["A", "B", "C", "D", "E", "F", "G", "H", "I"]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1A59C-A3A7-8D77-D76F-14B833F3E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B86060-24C0-1D6A-7117-15EBD101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6232D4-7B6C-8DD2-6656-658E7E27D42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인덱싱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ko-KR" altLang="en-US" dirty="0" err="1">
                <a:solidFill>
                  <a:srgbClr val="ED7D31"/>
                </a:solidFill>
              </a:rPr>
              <a:t>슬라이싱</a:t>
            </a:r>
            <a:r>
              <a:rPr lang="ko-KR" altLang="en-US" dirty="0">
                <a:solidFill>
                  <a:srgbClr val="ED7D31"/>
                </a:solidFill>
              </a:rPr>
              <a:t> 복습문제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3CB4C3-33F2-E26C-709D-B79363726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345" y="5477090"/>
            <a:ext cx="5985788" cy="57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4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1335-01FE-B7C4-A635-0EF16723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831AA-C9E0-AE4F-C57B-4D6A41C2995C}"/>
              </a:ext>
            </a:extLst>
          </p:cNvPr>
          <p:cNvSpPr txBox="1"/>
          <p:nvPr/>
        </p:nvSpPr>
        <p:spPr>
          <a:xfrm>
            <a:off x="4044812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리스트 연산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7443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1ECD4-90AA-7924-3B7F-03E59F42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9E7D7DC-DBCB-CB1D-176D-827940FC5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99" y="1791824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C73F48-EE77-721A-FFAE-C4C4E88C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E50730-1CB2-4493-DD4C-FF825988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3480A8-9523-DB43-E5CC-DA0D8AB4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1C0FDDC-236A-4E9E-2D7B-31391E328881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390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del</a:t>
            </a:r>
            <a:r>
              <a:rPr lang="ko-KR" altLang="en-US" dirty="0"/>
              <a:t>은 </a:t>
            </a:r>
            <a:r>
              <a:rPr lang="ko-KR" altLang="en-US" dirty="0" err="1"/>
              <a:t>파이썬의</a:t>
            </a:r>
            <a:r>
              <a:rPr lang="ko-KR" altLang="en-US" dirty="0"/>
              <a:t> 내장 키워드로</a:t>
            </a:r>
            <a:r>
              <a:rPr lang="en-US" altLang="ko-KR" dirty="0"/>
              <a:t>, </a:t>
            </a:r>
            <a:r>
              <a:rPr lang="ko-KR" altLang="en-US" dirty="0"/>
              <a:t>객체를 삭제</a:t>
            </a:r>
            <a:r>
              <a:rPr lang="en-US" altLang="ko-KR" dirty="0"/>
              <a:t>(delete)</a:t>
            </a:r>
            <a:r>
              <a:rPr lang="ko-KR" altLang="en-US" dirty="0"/>
              <a:t>하는 데 사용됨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</a:t>
            </a:r>
            <a:r>
              <a:rPr lang="en-US" altLang="ko-KR" sz="2000" dirty="0"/>
              <a:t>del</a:t>
            </a:r>
            <a:r>
              <a:rPr lang="ko-KR" altLang="en-US" sz="2000" dirty="0"/>
              <a:t>은 범용 삭제 키워드 </a:t>
            </a:r>
            <a:r>
              <a:rPr lang="en-US" altLang="ko-KR" sz="2000" dirty="0"/>
              <a:t>: </a:t>
            </a:r>
            <a:r>
              <a:rPr lang="ko-KR" altLang="en-US" sz="2000" dirty="0"/>
              <a:t>리스트의 </a:t>
            </a:r>
            <a:r>
              <a:rPr lang="ko-KR" altLang="en-US" sz="2000" dirty="0" err="1"/>
              <a:t>요소뿐</a:t>
            </a:r>
            <a:r>
              <a:rPr lang="ko-KR" altLang="en-US" sz="2000" dirty="0"/>
              <a:t> 아니라 변수 자체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딕셔너리의</a:t>
            </a:r>
            <a:r>
              <a:rPr lang="ko-KR" altLang="en-US" sz="2000" dirty="0"/>
              <a:t> 키</a:t>
            </a:r>
            <a:r>
              <a:rPr lang="en-US" altLang="ko-KR" sz="2000" dirty="0"/>
              <a:t>, </a:t>
            </a:r>
            <a:r>
              <a:rPr lang="ko-KR" altLang="en-US" sz="2000" dirty="0"/>
              <a:t>객체 속성 등도 삭제할 수 있음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63882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D4D72-A45E-4436-7A8F-643E320E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CEEDB92-6893-1D4E-0B93-E659EC327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460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EA2A36-2493-EEDD-7824-462B10A5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84FA01-2ACB-7639-9BEE-793F6CD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FC8883-54DE-C01B-1A0A-43FFC337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CB5AE-696C-33AA-6162-E989C2964FD4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✅특정 요소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726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F623-D50E-AB5E-C9D1-10BFBC40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8D5A90-FA7E-A981-3CDE-35F55A51A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4987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32B98B1-12C4-756A-1EF1-AEBC893B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A92604-E3B8-182C-459A-725D3F0D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CBB19-01F1-54B9-B493-7DF5E950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16CD9-CD80-603D-7303-261411C7407E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 err="1"/>
              <a:t>슬라이싱</a:t>
            </a:r>
            <a:r>
              <a:rPr lang="ko-KR" altLang="en-US" sz="2400" dirty="0"/>
              <a:t> 범위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639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625BB-F98D-B9BB-CF3B-29EF0802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D8A9606-68B3-9F84-5756-AE5BB8C75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6551"/>
            <a:ext cx="12192000" cy="4908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C50085D-AC26-C0FB-8A39-42DC21B7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요소 삭제 </a:t>
            </a:r>
            <a:r>
              <a:rPr lang="en-US" altLang="ko-KR" dirty="0"/>
              <a:t>- del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5B364-30BE-4592-3631-B2653F1B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E5C5D9-11FC-D3C0-57DC-DE7B3E27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E6C89-E24A-4ED1-3399-532455FA85C0}"/>
              </a:ext>
            </a:extLst>
          </p:cNvPr>
          <p:cNvSpPr txBox="1"/>
          <p:nvPr/>
        </p:nvSpPr>
        <p:spPr>
          <a:xfrm>
            <a:off x="791524" y="1675659"/>
            <a:ext cx="611777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sz="2400" dirty="0"/>
              <a:t>전체 리스트 객체 삭제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759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EDC89-CF0C-8D7E-7F74-80298C91C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4EABD-9B1E-EAF5-3DF6-12723C06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BDB2-CD90-C11C-5B61-572242AF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BAD973-C7E0-F8B1-98D8-2B3555FE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FA27CF8-1555-88E3-AC15-B582557750F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3390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+ </a:t>
            </a:r>
            <a:r>
              <a:rPr lang="ko-KR" altLang="en-US" dirty="0"/>
              <a:t>연산자로 두 리스트를 </a:t>
            </a:r>
            <a:r>
              <a:rPr lang="ko-KR" altLang="en-US" dirty="0" err="1"/>
              <a:t>이어붙여</a:t>
            </a:r>
            <a:r>
              <a:rPr lang="ko-KR" altLang="en-US" dirty="0"/>
              <a:t> 하나의 새로운 리스트를 생성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원본 리스트는 변경되지 않고</a:t>
            </a:r>
            <a:r>
              <a:rPr lang="en-US" altLang="ko-KR" dirty="0"/>
              <a:t>, </a:t>
            </a:r>
            <a:r>
              <a:rPr lang="ko-KR" altLang="en-US" b="1" dirty="0"/>
              <a:t>새로운 리스트 객체</a:t>
            </a:r>
            <a:r>
              <a:rPr lang="ko-KR" altLang="en-US" dirty="0"/>
              <a:t>가 만들어짐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8902BA-9CED-9092-5A14-A73E78217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2965"/>
            <a:ext cx="12204798" cy="496066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4804675-6C90-A8AE-A2C3-914677341972}"/>
              </a:ext>
            </a:extLst>
          </p:cNvPr>
          <p:cNvSpPr>
            <a:spLocks/>
          </p:cNvSpPr>
          <p:nvPr/>
        </p:nvSpPr>
        <p:spPr>
          <a:xfrm flipH="1" flipV="1">
            <a:off x="3637732" y="4407701"/>
            <a:ext cx="435791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8807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020D-F223-D835-43C4-DF7CB5B3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7DC4-AC52-EEFB-86A1-D898F9CE6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연결</a:t>
            </a:r>
            <a:r>
              <a:rPr lang="en-US" altLang="ko-KR" dirty="0"/>
              <a:t>(+)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E7FE0-85B1-FF65-1722-BCF45CF6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00D32-7B73-E506-B57A-C199F45D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0695AC-3B47-8DE2-3068-3AA2C985A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t="20248" r="7656" b="19987"/>
          <a:stretch/>
        </p:blipFill>
        <p:spPr>
          <a:xfrm>
            <a:off x="933449" y="1962149"/>
            <a:ext cx="10334625" cy="29337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F90CE-62DE-3A31-EC91-ADA0C98B3160}"/>
              </a:ext>
            </a:extLst>
          </p:cNvPr>
          <p:cNvSpPr txBox="1"/>
          <p:nvPr/>
        </p:nvSpPr>
        <p:spPr>
          <a:xfrm>
            <a:off x="785744" y="4806197"/>
            <a:ext cx="798830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새로운 리스트 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363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A3079-52DB-1D2A-A356-2B7D32C6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183C5E1-129E-75DA-191D-A2AC6ED1F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9972"/>
            <a:ext cx="12192000" cy="495545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DABC29E-EDCA-5AD5-D896-9CDB5024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40F973-CC91-90D3-842B-D12327BD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0DF4EE-431B-EF87-4C3D-D3382BF4A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F25340D-5CBD-79C5-B482-ED22F77AC30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602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* </a:t>
            </a:r>
            <a:r>
              <a:rPr lang="ko-KR" altLang="en-US" dirty="0"/>
              <a:t>연산자로 리스트를 지정한 횟수만큼 반복하여 새로운 리스트를 생성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원본 리스트는 변경되지 않고</a:t>
            </a:r>
            <a:r>
              <a:rPr lang="en-US" altLang="ko-KR" dirty="0"/>
              <a:t>, </a:t>
            </a:r>
            <a:r>
              <a:rPr lang="ko-KR" altLang="en-US" b="1" dirty="0"/>
              <a:t>새로운 리스트 객체</a:t>
            </a:r>
            <a:r>
              <a:rPr lang="ko-KR" altLang="en-US" dirty="0"/>
              <a:t>가 만들어짐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반복된 리스트의 요소들은 </a:t>
            </a:r>
            <a:r>
              <a:rPr lang="ko-KR" altLang="en-US" b="1" dirty="0"/>
              <a:t>원래 순서를 유지</a:t>
            </a:r>
            <a:r>
              <a:rPr lang="ko-KR" altLang="en-US" dirty="0"/>
              <a:t>함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CAAA0B-82BC-69E7-5848-EF91E19E8C9D}"/>
              </a:ext>
            </a:extLst>
          </p:cNvPr>
          <p:cNvSpPr>
            <a:spLocks/>
          </p:cNvSpPr>
          <p:nvPr/>
        </p:nvSpPr>
        <p:spPr>
          <a:xfrm flipH="1" flipV="1">
            <a:off x="3424436" y="4606586"/>
            <a:ext cx="435791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081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3903-2864-2DFA-9898-4025E67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D0419-00B2-B2A1-131E-C7966E302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리스트 반복</a:t>
            </a:r>
            <a:r>
              <a:rPr lang="en-US" altLang="ko-KR" dirty="0"/>
              <a:t>(*)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044FA-B692-2C0F-85A3-A12AC730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D094D8-4253-A3FC-A894-BAE78BE0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5EAD5E-606D-898D-3EC0-35DA240D6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1401" r="7619" b="21882"/>
          <a:stretch/>
        </p:blipFill>
        <p:spPr>
          <a:xfrm>
            <a:off x="914400" y="1930399"/>
            <a:ext cx="10348686" cy="2569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BB7249-3308-6855-B297-BEAEE6966D97}"/>
              </a:ext>
            </a:extLst>
          </p:cNvPr>
          <p:cNvSpPr txBox="1"/>
          <p:nvPr/>
        </p:nvSpPr>
        <p:spPr>
          <a:xfrm>
            <a:off x="785744" y="4419299"/>
            <a:ext cx="7988300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반복하는 배열의 요소들의 순서는 변함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연산 결과 →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새로운 리스트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반환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088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E9E0-2B58-E018-948A-85EDFC39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F2BC188-84D1-A675-E81F-3B1DB377A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729"/>
            <a:ext cx="12192000" cy="45295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BA7966-765D-B14A-F150-D619018C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 연산 </a:t>
            </a:r>
            <a:r>
              <a:rPr lang="en-US" altLang="ko-KR" dirty="0"/>
              <a:t>– </a:t>
            </a:r>
            <a:r>
              <a:rPr lang="ko-KR" altLang="en-US" dirty="0"/>
              <a:t>포함 여부 검사</a:t>
            </a:r>
            <a:r>
              <a:rPr lang="en-US" altLang="ko-KR" dirty="0"/>
              <a:t>(in, not in)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0919B-57AD-A6FD-6A34-CF6D6851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2B43A3-1F54-1BC2-A02D-59506BA0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92F04D4-0F20-99EE-066C-6F118C8C55A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730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💡특정 요소가 리스트에 존재하는지 확인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2135B7-EFEF-4EC4-E11B-D9B8FA50B142}"/>
              </a:ext>
            </a:extLst>
          </p:cNvPr>
          <p:cNvSpPr>
            <a:spLocks/>
          </p:cNvSpPr>
          <p:nvPr/>
        </p:nvSpPr>
        <p:spPr>
          <a:xfrm flipH="1" flipV="1">
            <a:off x="3862585" y="3869986"/>
            <a:ext cx="435791" cy="340064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3AC2EA-0C04-00E2-35A8-1ECD5A3DFF57}"/>
              </a:ext>
            </a:extLst>
          </p:cNvPr>
          <p:cNvSpPr>
            <a:spLocks/>
          </p:cNvSpPr>
          <p:nvPr/>
        </p:nvSpPr>
        <p:spPr>
          <a:xfrm flipH="1" flipV="1">
            <a:off x="3862584" y="4269687"/>
            <a:ext cx="1026915" cy="340064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044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77B4-5D41-0D76-FABA-440991BC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1151E9E-288E-20F1-3F77-7454EE9EA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903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부분 삭제 후 연결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리스트에서 가운데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요소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("banana", "cherry", "grape")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삭제한 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나머지 앞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뒤 리스트를 연결하여 새 리스트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result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fruits = ["apple", "banana", "cherry", "grape", "watermelon", "strawberry"]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C5220-1747-1411-DC4A-EEB9ADDB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59073E-3F6F-B931-5543-0DF5681A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7CC3007-65BC-B2B8-447D-5E05CED8B7E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리스트 연산 복습문제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4A6ABE-D122-A1E4-9762-19D2DBECA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76" y="4158085"/>
            <a:ext cx="5241396" cy="53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355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1454-06CC-BD9D-C894-3D3D4BCF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E97551E-2064-30FF-6881-5ED2A1EB9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641762" cy="30879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반복 리스트 내부 요소 삭제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리스트를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 반복한 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 결과에서 중간에 있는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"A"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만 삭제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 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리스트를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letters = ["A", "B"]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AB1245-666F-9F46-24F5-505D4E19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6002D1-6503-89FE-5264-36A497BD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E8B4668-04BE-A718-FD8B-D6402CB4E77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리스트 연산 복습문제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B05B41-C315-DB33-6D40-663FD7D5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22" y="4233334"/>
            <a:ext cx="350568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74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43628-A1B9-213B-A8CF-0154EE8F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F412C-3EE0-517F-7C7A-243D50E5A185}"/>
              </a:ext>
            </a:extLst>
          </p:cNvPr>
          <p:cNvSpPr txBox="1"/>
          <p:nvPr/>
        </p:nvSpPr>
        <p:spPr>
          <a:xfrm>
            <a:off x="4044812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261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3E31-D0C7-802A-C6E1-756D9844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9E873-09E9-5A3F-513B-95DC4783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len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ko-KR" altLang="en-US" dirty="0"/>
              <a:t>길이</a:t>
            </a:r>
            <a:r>
              <a:rPr lang="en-US" altLang="ko-KR" dirty="0"/>
              <a:t>(</a:t>
            </a:r>
            <a:r>
              <a:rPr lang="ko-KR" altLang="en-US" dirty="0"/>
              <a:t>요소 개수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7596E-D968-F19D-E2F1-1E3A94D3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FE2AE2-4D42-0F1B-DC4C-48841AB4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A523006-F0B2-05AD-1B1C-518C7094280D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730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b="1" dirty="0"/>
              <a:t>시퀀스나 컬렉션 자료형의 요소 개수</a:t>
            </a:r>
            <a:r>
              <a:rPr lang="ko-KR" altLang="en-US" dirty="0"/>
              <a:t>를 반환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9493DB-F072-DA56-1B1F-048B7BEE4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7896"/>
            <a:ext cx="12192000" cy="566698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7742787-379C-48ED-86F0-9C95B187F797}"/>
              </a:ext>
            </a:extLst>
          </p:cNvPr>
          <p:cNvSpPr>
            <a:spLocks/>
          </p:cNvSpPr>
          <p:nvPr/>
        </p:nvSpPr>
        <p:spPr>
          <a:xfrm flipH="1" flipV="1">
            <a:off x="2677319" y="3646264"/>
            <a:ext cx="1866105" cy="43996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230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A5421-9D3E-FF45-E099-727FC8DD9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C1328-D193-A8D6-04AD-E49D310C6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append(x): </a:t>
            </a:r>
            <a:r>
              <a:rPr lang="ko-KR" altLang="en-US" dirty="0"/>
              <a:t>리스트 끝에 요소 추가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B2A784-3971-07AF-AC9C-3B5BDB24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6F2C4-F27C-8263-CF87-A330EA0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40DE964-7A5E-FE27-DF1F-2EF0D75AB66B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💡리스트 마지막에 하나의 요소를 추가함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52F31C0-B398-96AD-E2A5-3ADAD8C50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7859"/>
            <a:ext cx="12143126" cy="45114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E1F26EB-B1DD-CF24-F7D4-51426E4410D4}"/>
              </a:ext>
            </a:extLst>
          </p:cNvPr>
          <p:cNvSpPr>
            <a:spLocks/>
          </p:cNvSpPr>
          <p:nvPr/>
        </p:nvSpPr>
        <p:spPr>
          <a:xfrm flipH="1" flipV="1">
            <a:off x="2715420" y="3770090"/>
            <a:ext cx="2614155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334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AF52-9A43-2817-5B13-7E3C9FAB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96AEC19-57D8-50B9-09DA-F2C303169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80717E3-A6BE-94A2-10B3-7D176453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extend(</a:t>
            </a:r>
            <a:r>
              <a:rPr lang="en-US" altLang="ko-KR" dirty="0" err="1"/>
              <a:t>iterable</a:t>
            </a:r>
            <a:r>
              <a:rPr lang="en-US" altLang="ko-KR" dirty="0"/>
              <a:t>): </a:t>
            </a:r>
            <a:r>
              <a:rPr lang="ko-KR" altLang="en-US" dirty="0"/>
              <a:t>리스트 끝에 여러 요소 추가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4E859-5473-2AE4-3B7D-79E36FA6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F6334A-E137-A19C-164E-45B0AEDD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14F3C0E-D86E-B490-B16D-2FAA93DB61C1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💡다른 리스트나 </a:t>
            </a:r>
            <a:r>
              <a:rPr lang="ko-KR" altLang="en-US" dirty="0" err="1"/>
              <a:t>이터러블의</a:t>
            </a:r>
            <a:r>
              <a:rPr lang="ko-KR" altLang="en-US" dirty="0"/>
              <a:t> 모든 요소를 추가함</a:t>
            </a:r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D1E27C-1DDD-0C84-0E6A-39661A40BA98}"/>
              </a:ext>
            </a:extLst>
          </p:cNvPr>
          <p:cNvSpPr>
            <a:spLocks/>
          </p:cNvSpPr>
          <p:nvPr/>
        </p:nvSpPr>
        <p:spPr>
          <a:xfrm flipH="1" flipV="1">
            <a:off x="2707143" y="3796959"/>
            <a:ext cx="4150856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827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9E4F-5EEC-B4D8-0897-9AE5B5C9B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8E86A83-E373-1DD2-3383-7D93A1971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4B106D7-6DEE-91F2-9C8D-EE53F721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insert(index, x): </a:t>
            </a:r>
            <a:r>
              <a:rPr lang="ko-KR" altLang="en-US" dirty="0"/>
              <a:t>원하는 위치에 요소 삽입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C20B07-2126-78C6-6E06-F2B6D276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BF0EC2-6E26-C58D-0706-47D12D07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CC27720E-B8B8-9237-15C3-3CF7FE20C56D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💡지정한 인덱스에 요소를 삽입함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4BF96E-6632-CBF6-D577-F7E3F33A91AF}"/>
              </a:ext>
            </a:extLst>
          </p:cNvPr>
          <p:cNvSpPr>
            <a:spLocks/>
          </p:cNvSpPr>
          <p:nvPr/>
        </p:nvSpPr>
        <p:spPr>
          <a:xfrm flipH="1" flipV="1">
            <a:off x="2844303" y="3786753"/>
            <a:ext cx="2024877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90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F311-4FF1-9C11-6189-99306B2D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E226004-C574-7D7D-3F3B-56FB4977A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369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B1BA40-3564-9EE8-3081-F557C053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remove(x): </a:t>
            </a:r>
            <a:r>
              <a:rPr lang="ko-KR" altLang="en-US" dirty="0"/>
              <a:t>특정 값을 찾아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21C2E-01D9-E131-34DB-0DAEC09C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CB5996-771C-46C1-F1D9-C9CF1756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B395AA2-14F2-F373-7663-77D3A6AD70E9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💡가장 처음 발견된 해당 값</a:t>
            </a:r>
            <a:r>
              <a:rPr lang="en-US" altLang="ko-KR" dirty="0"/>
              <a:t>(x)</a:t>
            </a:r>
            <a:r>
              <a:rPr lang="ko-KR" altLang="en-US" dirty="0"/>
              <a:t>을 삭제함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051AA0-966A-2E03-E9C4-80ACD16E0E49}"/>
              </a:ext>
            </a:extLst>
          </p:cNvPr>
          <p:cNvSpPr>
            <a:spLocks/>
          </p:cNvSpPr>
          <p:nvPr/>
        </p:nvSpPr>
        <p:spPr>
          <a:xfrm flipH="1" flipV="1">
            <a:off x="2844302" y="3805555"/>
            <a:ext cx="1582918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9975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3006-ABDD-148C-1E90-082576451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3C0E4-1684-FD94-3621-46324FFC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pop(index): </a:t>
            </a:r>
            <a:r>
              <a:rPr lang="ko-KR" altLang="en-US" dirty="0"/>
              <a:t>인덱스 요소를 꺼내고 삭제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9E88D1-52E6-5935-CF22-E7A20FA5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D6F0D3-374E-7961-5A7E-AC361174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A41FEA9-7F6E-8FC9-102E-B6AE87152514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54227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💡인덱스를 지정하면 </a:t>
            </a:r>
            <a:r>
              <a:rPr lang="ko-KR" altLang="en-US" b="1" dirty="0"/>
              <a:t>해당하는 인덱스의 요소를 삭제</a:t>
            </a:r>
            <a:r>
              <a:rPr lang="ko-KR" altLang="en-US" dirty="0"/>
              <a:t>하고 </a:t>
            </a:r>
            <a:r>
              <a:rPr lang="ko-KR" altLang="en-US" b="1" dirty="0"/>
              <a:t>반환</a:t>
            </a:r>
            <a:r>
              <a:rPr lang="ko-KR" altLang="en-US" dirty="0"/>
              <a:t>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 </a:t>
            </a:r>
            <a:r>
              <a:rPr lang="ko-KR" altLang="en-US" dirty="0"/>
              <a:t>인덱스를 지정하지 않으면 </a:t>
            </a:r>
            <a:r>
              <a:rPr lang="ko-KR" altLang="en-US" b="1" dirty="0"/>
              <a:t>마지막 요소를 삭제</a:t>
            </a:r>
            <a:r>
              <a:rPr lang="ko-KR" altLang="en-US" dirty="0"/>
              <a:t>하고 </a:t>
            </a:r>
            <a:r>
              <a:rPr lang="ko-KR" altLang="en-US" b="1" dirty="0"/>
              <a:t>반환</a:t>
            </a:r>
            <a:r>
              <a:rPr lang="ko-KR" altLang="en-US" dirty="0"/>
              <a:t>함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DFAF95-A6CB-A958-CA34-0FECB4375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852164"/>
            <a:ext cx="10769600" cy="50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174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3FD4-0BDD-2205-9073-9E8D80D8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AE3A9-E0BC-7C51-D1F7-D19BE44D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 정렬 </a:t>
            </a:r>
            <a:r>
              <a:rPr lang="en-US" altLang="ko-KR" dirty="0"/>
              <a:t>: sort(), sorted()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C006B-B835-9D1D-9AC3-1C2881400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BC355E-55AE-1F7B-80DA-0A21DEC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5991EB3D-E2FA-047E-817A-9234D3D74DF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26798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list.sort</a:t>
            </a:r>
            <a:r>
              <a:rPr lang="en-US" altLang="ko-KR" dirty="0"/>
              <a:t>() : </a:t>
            </a:r>
            <a:r>
              <a:rPr lang="ko-KR" altLang="en-US" b="1" dirty="0"/>
              <a:t>원본 리스트</a:t>
            </a:r>
            <a:r>
              <a:rPr lang="ko-KR" altLang="en-US" dirty="0"/>
              <a:t>를 정렬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sorted(list) :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정렬된 </a:t>
            </a:r>
            <a:r>
              <a:rPr lang="ko-KR" altLang="en-US" sz="2800" b="1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새로운 리스트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반환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📌</a:t>
            </a:r>
            <a:r>
              <a:rPr lang="ko-KR" altLang="en-US" dirty="0"/>
              <a:t> 오름차순이 기본이며</a:t>
            </a:r>
            <a:r>
              <a:rPr lang="en-US" altLang="ko-KR" dirty="0"/>
              <a:t>, reverse=True</a:t>
            </a:r>
            <a:r>
              <a:rPr lang="ko-KR" altLang="en-US" dirty="0"/>
              <a:t> 옵션을 주면 내림차순으로 정렬 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62482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3FA0-BBBF-A6B3-2BD0-ED97C15B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A12D3-3BFF-9438-28F9-97A05DFD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 정렬 </a:t>
            </a:r>
            <a:r>
              <a:rPr lang="en-US" altLang="ko-KR" dirty="0"/>
              <a:t>: sort(), sorted()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D926E-4179-6BBA-08A9-B802B819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670C03-3FE5-4F28-2B4D-E17FB3FD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A03FF1-08D5-90B4-E3BB-7A515218E7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66" y="523756"/>
            <a:ext cx="11347268" cy="630243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BD83941-97B5-E710-C0D1-6391650E20C9}"/>
              </a:ext>
            </a:extLst>
          </p:cNvPr>
          <p:cNvSpPr>
            <a:spLocks/>
          </p:cNvSpPr>
          <p:nvPr/>
        </p:nvSpPr>
        <p:spPr>
          <a:xfrm flipH="1" flipV="1">
            <a:off x="2577602" y="2540634"/>
            <a:ext cx="84377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467DDB-FEFA-C097-E25E-3F565D8010EE}"/>
              </a:ext>
            </a:extLst>
          </p:cNvPr>
          <p:cNvSpPr>
            <a:spLocks/>
          </p:cNvSpPr>
          <p:nvPr/>
        </p:nvSpPr>
        <p:spPr>
          <a:xfrm flipH="1" flipV="1">
            <a:off x="2577602" y="3079626"/>
            <a:ext cx="213917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8DFAF5-CED2-CEE8-1B24-9845FEE1012B}"/>
              </a:ext>
            </a:extLst>
          </p:cNvPr>
          <p:cNvSpPr>
            <a:spLocks/>
          </p:cNvSpPr>
          <p:nvPr/>
        </p:nvSpPr>
        <p:spPr>
          <a:xfrm flipH="1" flipV="1">
            <a:off x="3537722" y="4463543"/>
            <a:ext cx="163625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A429EF-FB3F-EE96-C4FB-8B50A77BDAA5}"/>
              </a:ext>
            </a:extLst>
          </p:cNvPr>
          <p:cNvSpPr>
            <a:spLocks/>
          </p:cNvSpPr>
          <p:nvPr/>
        </p:nvSpPr>
        <p:spPr>
          <a:xfrm flipH="1" flipV="1">
            <a:off x="3766322" y="4734687"/>
            <a:ext cx="3152638" cy="2635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7F9D5-E350-C5D2-8518-F6CDFC8562FB}"/>
              </a:ext>
            </a:extLst>
          </p:cNvPr>
          <p:cNvSpPr txBox="1"/>
          <p:nvPr/>
        </p:nvSpPr>
        <p:spPr>
          <a:xfrm>
            <a:off x="6290842" y="2923855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원본을 정렬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9F6E16A-D700-C2EF-28E1-534C464BC789}"/>
              </a:ext>
            </a:extLst>
          </p:cNvPr>
          <p:cNvCxnSpPr>
            <a:cxnSpLocks/>
          </p:cNvCxnSpPr>
          <p:nvPr/>
        </p:nvCxnSpPr>
        <p:spPr>
          <a:xfrm flipV="1">
            <a:off x="4855379" y="3137416"/>
            <a:ext cx="1435463" cy="372290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D1157B7-9AFE-B15B-00E3-1FCA5F5EEFE6}"/>
              </a:ext>
            </a:extLst>
          </p:cNvPr>
          <p:cNvCxnSpPr>
            <a:cxnSpLocks/>
          </p:cNvCxnSpPr>
          <p:nvPr/>
        </p:nvCxnSpPr>
        <p:spPr>
          <a:xfrm>
            <a:off x="4855379" y="2952750"/>
            <a:ext cx="1435463" cy="126876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7697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8BC1-4AF4-0588-BFD8-376E7F2C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FB7C2D1-40A0-D5D4-F0B4-CACED92FF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" y="1408527"/>
            <a:ext cx="12143126" cy="45114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7EE7BC-2FB2-1074-9C33-26C2F9FE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reverse(): </a:t>
            </a:r>
            <a:r>
              <a:rPr lang="ko-KR" altLang="en-US" dirty="0"/>
              <a:t>리스트 요소 뒤집기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28868-BDCE-51B2-EAB3-0F5388ED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6C78E1-AF35-DB47-FB98-FA555CA1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FA722AF-0827-CE1C-31A8-70DD34F886D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💡리스트 자체를 뒤집음</a:t>
            </a:r>
            <a:r>
              <a:rPr lang="en-US" altLang="ko-KR" dirty="0"/>
              <a:t>(</a:t>
            </a:r>
            <a:r>
              <a:rPr lang="ko-KR" altLang="en-US" dirty="0"/>
              <a:t>원본 변경</a:t>
            </a:r>
            <a:r>
              <a:rPr lang="en-US" altLang="ko-KR" dirty="0"/>
              <a:t>).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030237-9AD2-719D-F3B5-04E2CACDB208}"/>
              </a:ext>
            </a:extLst>
          </p:cNvPr>
          <p:cNvSpPr>
            <a:spLocks/>
          </p:cNvSpPr>
          <p:nvPr/>
        </p:nvSpPr>
        <p:spPr>
          <a:xfrm flipH="1" flipV="1">
            <a:off x="2844302" y="3805555"/>
            <a:ext cx="1582918" cy="38671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689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CF4F-2F02-FD83-DB81-CC6391C4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67D19056-C440-DC15-6BFB-56D07A057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2979"/>
            <a:ext cx="12192000" cy="41504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2F9085-B4CC-9DC3-C6DB-10C709DA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count(x): </a:t>
            </a:r>
            <a:r>
              <a:rPr lang="ko-KR" altLang="en-US" dirty="0"/>
              <a:t>값의 개수 세기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F7B1E-E55C-E2EA-9C54-D3A19051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A876A6-87E5-964D-47C5-A19AB981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4EE9700-9D7F-A846-5B55-2CB8C0BB65AA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2674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💡값</a:t>
            </a:r>
            <a:r>
              <a:rPr lang="en-US" altLang="ko-KR" dirty="0"/>
              <a:t>(x)</a:t>
            </a:r>
            <a:r>
              <a:rPr lang="ko-KR" altLang="en-US" dirty="0"/>
              <a:t>의 개수를 세서 반환</a:t>
            </a:r>
            <a:endParaRPr lang="en-US" altLang="ko-KR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3BEF97-334C-6298-55F5-B05D79A38EAF}"/>
              </a:ext>
            </a:extLst>
          </p:cNvPr>
          <p:cNvSpPr>
            <a:spLocks/>
          </p:cNvSpPr>
          <p:nvPr/>
        </p:nvSpPr>
        <p:spPr>
          <a:xfrm flipH="1" flipV="1">
            <a:off x="3773216" y="3849095"/>
            <a:ext cx="1393870" cy="37958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990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2C794-7EC8-60EA-6929-C56E5D0F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35B784A-3569-3F8E-0E94-19E6C7F08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201"/>
            <a:ext cx="12192000" cy="45295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C8D42BD-892E-A4F2-058A-0759F90F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max(), min(): </a:t>
            </a:r>
            <a:r>
              <a:rPr lang="ko-KR" altLang="en-US" dirty="0"/>
              <a:t>최대</a:t>
            </a:r>
            <a:r>
              <a:rPr lang="en-US" altLang="ko-KR" dirty="0"/>
              <a:t>/</a:t>
            </a:r>
            <a:r>
              <a:rPr lang="ko-KR" altLang="en-US" dirty="0"/>
              <a:t>최소값 찾기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E386D-C06E-2C21-A573-ACF2830D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8B0125-BCBD-6197-42FF-9E623AD5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416D7B-D6ED-536E-7243-A1CAA458B6D3}"/>
              </a:ext>
            </a:extLst>
          </p:cNvPr>
          <p:cNvSpPr>
            <a:spLocks/>
          </p:cNvSpPr>
          <p:nvPr/>
        </p:nvSpPr>
        <p:spPr>
          <a:xfrm flipH="1" flipV="1">
            <a:off x="2642916" y="3635374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1280D40-28F2-D719-1CB6-A2E00AC232ED}"/>
              </a:ext>
            </a:extLst>
          </p:cNvPr>
          <p:cNvSpPr>
            <a:spLocks/>
          </p:cNvSpPr>
          <p:nvPr/>
        </p:nvSpPr>
        <p:spPr>
          <a:xfrm flipH="1" flipV="1">
            <a:off x="2642916" y="4009480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9400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2A08-8FED-CC67-1701-13EC89E5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40E4CB4-2F57-A308-8A9B-9A8AEE60C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3766"/>
            <a:ext cx="12192000" cy="41504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1889FB-1043-06D4-3DB7-E5186A99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sum(): </a:t>
            </a:r>
            <a:r>
              <a:rPr lang="ko-KR" altLang="en-US" dirty="0"/>
              <a:t>요소들의 합 구하기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20728-B554-DCD1-DA78-2EBA3F34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A4685D-FFAC-C285-2F5F-492C182D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22DEE7-CB10-E005-5A82-21D30E162200}"/>
              </a:ext>
            </a:extLst>
          </p:cNvPr>
          <p:cNvSpPr>
            <a:spLocks/>
          </p:cNvSpPr>
          <p:nvPr/>
        </p:nvSpPr>
        <p:spPr>
          <a:xfrm flipH="1" flipV="1">
            <a:off x="2665349" y="3814083"/>
            <a:ext cx="633684" cy="266699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9979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1A3F2-DF43-B652-8AD8-0935FC93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706E6C4-A6E1-5C45-AA8D-0AA887986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51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기차 탑승 시뮬레이션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기차에 승객들이 순서대로 탑승하고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처음엔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철수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탑승했습니다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다음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민수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",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함께 탑승했습니다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내렸습니다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/>
              <a:t>"</a:t>
            </a:r>
            <a:r>
              <a:rPr lang="ko-KR" altLang="en-US" sz="2000" dirty="0"/>
              <a:t>수진</a:t>
            </a:r>
            <a:r>
              <a:rPr lang="en-US" altLang="ko-KR" sz="2000" dirty="0"/>
              <a:t>"</a:t>
            </a:r>
            <a:r>
              <a:rPr lang="ko-KR" altLang="en-US" sz="2000" dirty="0"/>
              <a:t>이 </a:t>
            </a:r>
            <a:r>
              <a:rPr lang="en-US" altLang="ko-KR" sz="2000" dirty="0"/>
              <a:t>1</a:t>
            </a:r>
            <a:r>
              <a:rPr lang="ko-KR" altLang="en-US" sz="2000" dirty="0"/>
              <a:t>번 자리에 끼어 탑승했습니다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역에서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민수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내렸고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기차 안의 순서를 뒤집었습니다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🤔 현재 기차 안에는 어떤 승객들이 어떤 순서로 앉아 있을까요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B67179-B99C-5DAC-FF52-153C62A4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6872B6-0192-88F9-B38E-3133FEA1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45D56C6-B0D5-2786-E397-843C7530495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리스트 주요 메서드 복습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198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639BA-FB1D-B8A2-6117-BC7E08A2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AB76ED5-4E50-FF3E-3F53-3FFDA8593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519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 처리 게임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 카드 게임에서 다음 리스트가 주어졌습니다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[5, 3, 7]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장을 더 추가해서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[4, 9]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들어옵니다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큰 수와 가장 작은 수를 각각 구해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총합을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리스트를 정렬한 다음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숫자를 제거하세요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리스트를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06800B-838F-D149-03B4-5D9CDC53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0E65CE-41EF-BCC5-C8BD-EB442CE3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4C4E39-7092-82F2-CCF0-06D9394C06F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리스트 주요 메서드 복습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923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3837</TotalTime>
  <Words>1884</Words>
  <Application>Microsoft Office PowerPoint</Application>
  <PresentationFormat>와이드스크린</PresentationFormat>
  <Paragraphs>355</Paragraphs>
  <Slides>54</Slides>
  <Notes>47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3" baseType="lpstr"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이터러블(Iterable) 자료형</vt:lpstr>
      <vt:lpstr>컬렉션(Collection) 자료형</vt:lpstr>
      <vt:lpstr>컬렉션(Collection) 자료형</vt:lpstr>
      <vt:lpstr>컬렉션과 시퀀스(Sequence)</vt:lpstr>
      <vt:lpstr>시퀀스(Sequence) 자료형</vt:lpstr>
      <vt:lpstr>시퀀스(Sequence) 자료형</vt:lpstr>
      <vt:lpstr>PowerPoint 프레젠테이션</vt:lpstr>
      <vt:lpstr>리스트 (list)</vt:lpstr>
      <vt:lpstr>리스트 (list)</vt:lpstr>
      <vt:lpstr>리스트 (list) 생성 함수</vt:lpstr>
      <vt:lpstr>PowerPoint 프레젠테이션</vt:lpstr>
      <vt:lpstr>인덱싱(Indexing)</vt:lpstr>
      <vt:lpstr>인덱싱(Indexing) – 문자열</vt:lpstr>
      <vt:lpstr>인덱싱(Indexing) – 리스트</vt:lpstr>
      <vt:lpstr>슬라이싱(Slicing)</vt:lpstr>
      <vt:lpstr>슬라이싱(Slicing)</vt:lpstr>
      <vt:lpstr>슬라이싱(Slicing)</vt:lpstr>
      <vt:lpstr>슬라이싱(Slicing) – 문자열</vt:lpstr>
      <vt:lpstr>슬라이싱(Slicing) – 리스트</vt:lpstr>
      <vt:lpstr>슬라이싱(Slicing) – 리스트</vt:lpstr>
      <vt:lpstr>PowerPoint 프레젠테이션</vt:lpstr>
      <vt:lpstr>PowerPoint 프레젠테이션</vt:lpstr>
      <vt:lpstr>PowerPoint 프레젠테이션</vt:lpstr>
      <vt:lpstr>PowerPoint 프레젠테이션</vt:lpstr>
      <vt:lpstr>리스트 요소 삭제 - del</vt:lpstr>
      <vt:lpstr>리스트 요소 삭제 - del</vt:lpstr>
      <vt:lpstr>리스트 요소 삭제 - del</vt:lpstr>
      <vt:lpstr>리스트 요소 삭제 - del</vt:lpstr>
      <vt:lpstr>리스트 연산 – 리스트 연결(+)</vt:lpstr>
      <vt:lpstr>리스트 연산 – 리스트 연결(+)</vt:lpstr>
      <vt:lpstr>리스트 연산 – 리스트 반복(*)</vt:lpstr>
      <vt:lpstr>리스트 연산 – 리스트 반복(*)</vt:lpstr>
      <vt:lpstr>리스트 연산 – 포함 여부 검사(in, not in)</vt:lpstr>
      <vt:lpstr>PowerPoint 프레젠테이션</vt:lpstr>
      <vt:lpstr>PowerPoint 프레젠테이션</vt:lpstr>
      <vt:lpstr>PowerPoint 프레젠테이션</vt:lpstr>
      <vt:lpstr>len() 함수: 길이(요소 개수) 반환</vt:lpstr>
      <vt:lpstr>append(x): 리스트 끝에 요소 추가</vt:lpstr>
      <vt:lpstr>extend(iterable): 리스트 끝에 여러 요소 추가</vt:lpstr>
      <vt:lpstr>insert(index, x): 원하는 위치에 요소 삽입</vt:lpstr>
      <vt:lpstr>remove(x): 특정 값을 찾아 삭제</vt:lpstr>
      <vt:lpstr>pop(index): 인덱스 요소를 꺼내고 삭제</vt:lpstr>
      <vt:lpstr>리스트 정렬 : sort(), sorted()</vt:lpstr>
      <vt:lpstr>리스트 정렬 : sort(), sorted()</vt:lpstr>
      <vt:lpstr>reverse(): 리스트 요소 뒤집기</vt:lpstr>
      <vt:lpstr>count(x): 값의 개수 세기</vt:lpstr>
      <vt:lpstr>max(), min(): 최대/최소값 찾기</vt:lpstr>
      <vt:lpstr>sum(): 요소들의 합 구하기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380</cp:revision>
  <dcterms:created xsi:type="dcterms:W3CDTF">2023-01-31T04:26:23Z</dcterms:created>
  <dcterms:modified xsi:type="dcterms:W3CDTF">2025-09-01T00:58:21Z</dcterms:modified>
</cp:coreProperties>
</file>