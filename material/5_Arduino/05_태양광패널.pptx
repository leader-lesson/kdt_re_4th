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58"/>
  </p:notesMasterIdLst>
  <p:sldIdLst>
    <p:sldId id="1004" r:id="rId2"/>
    <p:sldId id="1103" r:id="rId3"/>
    <p:sldId id="1102" r:id="rId4"/>
    <p:sldId id="1106" r:id="rId5"/>
    <p:sldId id="996" r:id="rId6"/>
    <p:sldId id="1104" r:id="rId7"/>
    <p:sldId id="1107" r:id="rId8"/>
    <p:sldId id="1005" r:id="rId9"/>
    <p:sldId id="1112" r:id="rId10"/>
    <p:sldId id="1113" r:id="rId11"/>
    <p:sldId id="1114" r:id="rId12"/>
    <p:sldId id="1118" r:id="rId13"/>
    <p:sldId id="1115" r:id="rId14"/>
    <p:sldId id="1116" r:id="rId15"/>
    <p:sldId id="1117" r:id="rId16"/>
    <p:sldId id="1119" r:id="rId17"/>
    <p:sldId id="1128" r:id="rId18"/>
    <p:sldId id="1120" r:id="rId19"/>
    <p:sldId id="1121" r:id="rId20"/>
    <p:sldId id="1122" r:id="rId21"/>
    <p:sldId id="1137" r:id="rId22"/>
    <p:sldId id="1123" r:id="rId23"/>
    <p:sldId id="1124" r:id="rId24"/>
    <p:sldId id="1125" r:id="rId25"/>
    <p:sldId id="1126" r:id="rId26"/>
    <p:sldId id="1127" r:id="rId27"/>
    <p:sldId id="1129" r:id="rId28"/>
    <p:sldId id="1130" r:id="rId29"/>
    <p:sldId id="1131" r:id="rId30"/>
    <p:sldId id="1132" r:id="rId31"/>
    <p:sldId id="1109" r:id="rId32"/>
    <p:sldId id="1148" r:id="rId33"/>
    <p:sldId id="1150" r:id="rId34"/>
    <p:sldId id="1108" r:id="rId35"/>
    <p:sldId id="1133" r:id="rId36"/>
    <p:sldId id="1134" r:id="rId37"/>
    <p:sldId id="1135" r:id="rId38"/>
    <p:sldId id="1136" r:id="rId39"/>
    <p:sldId id="261" r:id="rId40"/>
    <p:sldId id="1141" r:id="rId41"/>
    <p:sldId id="1142" r:id="rId42"/>
    <p:sldId id="1143" r:id="rId43"/>
    <p:sldId id="1145" r:id="rId44"/>
    <p:sldId id="1146" r:id="rId45"/>
    <p:sldId id="1147" r:id="rId46"/>
    <p:sldId id="1138" r:id="rId47"/>
    <p:sldId id="1144" r:id="rId48"/>
    <p:sldId id="1152" r:id="rId49"/>
    <p:sldId id="1153" r:id="rId50"/>
    <p:sldId id="1154" r:id="rId51"/>
    <p:sldId id="1155" r:id="rId52"/>
    <p:sldId id="1156" r:id="rId53"/>
    <p:sldId id="1157" r:id="rId54"/>
    <p:sldId id="1158" r:id="rId55"/>
    <p:sldId id="1159" r:id="rId56"/>
    <p:sldId id="1151" r:id="rId5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E35"/>
    <a:srgbClr val="FFFFFF"/>
    <a:srgbClr val="FF9900"/>
    <a:srgbClr val="005C5F"/>
    <a:srgbClr val="00FA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보통 스타일 4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09" autoAdjust="0"/>
    <p:restoredTop sz="81019" autoAdjust="0"/>
  </p:normalViewPr>
  <p:slideViewPr>
    <p:cSldViewPr snapToGrid="0">
      <p:cViewPr varScale="1">
        <p:scale>
          <a:sx n="69" d="100"/>
          <a:sy n="69" d="100"/>
        </p:scale>
        <p:origin x="84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00" d="100"/>
          <a:sy n="100" d="100"/>
        </p:scale>
        <p:origin x="355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A4D7BB-9D09-4DB4-979A-1857C46342D6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99D024-DE68-44ED-822F-D827F84FBD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159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736D4-020C-3A90-092A-499F1E5F2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1FA6FB9-864D-AE44-449A-83A50909CD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B3B35A5-5224-FEB7-6F03-FDD1866482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endParaRPr lang="en-US" altLang="ko-KR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87AB6C-F21A-D8AC-6B63-C78ACA6987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07147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아두이노</a:t>
            </a:r>
            <a:r>
              <a:rPr lang="ko-KR" altLang="en-US" dirty="0"/>
              <a:t> </a:t>
            </a:r>
            <a:r>
              <a:rPr lang="ko-KR" altLang="en-US" dirty="0" err="1"/>
              <a:t>우노</a:t>
            </a:r>
            <a:r>
              <a:rPr lang="ko-KR" altLang="en-US" dirty="0"/>
              <a:t> 보드의 </a:t>
            </a:r>
            <a:r>
              <a:rPr lang="en-US" altLang="ko-KR" dirty="0"/>
              <a:t>Vin</a:t>
            </a:r>
            <a:r>
              <a:rPr lang="ko-KR" altLang="en-US" dirty="0"/>
              <a:t>은 보드 내부에 있는 </a:t>
            </a:r>
            <a:r>
              <a:rPr lang="en-US" altLang="ko-KR" dirty="0"/>
              <a:t>5V </a:t>
            </a:r>
            <a:r>
              <a:rPr lang="ko-KR" altLang="en-US" dirty="0"/>
              <a:t>레귤레이터를 거친다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최소 입력 </a:t>
            </a:r>
            <a:r>
              <a:rPr lang="en-US" altLang="ko-KR" dirty="0"/>
              <a:t>7V </a:t>
            </a:r>
            <a:r>
              <a:rPr lang="ko-KR" altLang="en-US" dirty="0"/>
              <a:t>이상</a:t>
            </a:r>
            <a:r>
              <a:rPr lang="en-US" altLang="ko-KR" dirty="0"/>
              <a:t>, </a:t>
            </a:r>
            <a:r>
              <a:rPr lang="ko-KR" altLang="en-US" dirty="0"/>
              <a:t>출력은 </a:t>
            </a:r>
            <a:r>
              <a:rPr lang="en-US" altLang="ko-KR" dirty="0"/>
              <a:t>5V</a:t>
            </a:r>
            <a:r>
              <a:rPr lang="ko-KR" altLang="en-US" dirty="0"/>
              <a:t>로 고정된다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3.3~3.7V </a:t>
            </a:r>
            <a:r>
              <a:rPr lang="ko-KR" altLang="en-US" dirty="0"/>
              <a:t>배터리를 </a:t>
            </a:r>
            <a:r>
              <a:rPr lang="en-US" altLang="ko-KR" dirty="0"/>
              <a:t>Vin</a:t>
            </a:r>
            <a:r>
              <a:rPr lang="ko-KR" altLang="en-US" dirty="0"/>
              <a:t>에 넣으면</a:t>
            </a:r>
            <a:r>
              <a:rPr lang="en-US" altLang="ko-KR" dirty="0"/>
              <a:t>, </a:t>
            </a:r>
            <a:r>
              <a:rPr lang="ko-KR" altLang="en-US" dirty="0"/>
              <a:t>전압이 너무 낮아서 보드가 켜지지 않거나 불안정하게 작동된다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27652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3FE1A-B652-42C3-13FA-70CBE90ED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4BCDDD0-A29F-8C3E-145B-9F4CFA3319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94F55AC-C71F-B317-5EFD-E3E8AE1821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endParaRPr lang="en-US" altLang="ko-KR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03A01C6-497B-67F6-1476-628008B438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65975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중간에 있는 </a:t>
            </a:r>
            <a:r>
              <a:rPr lang="en-US" altLang="ko-KR" dirty="0"/>
              <a:t>FC-75</a:t>
            </a:r>
            <a:r>
              <a:rPr lang="ko-KR" altLang="en-US" dirty="0"/>
              <a:t>모듈은 </a:t>
            </a:r>
            <a:r>
              <a:rPr lang="en-US" altLang="ko-KR" dirty="0"/>
              <a:t>＂</a:t>
            </a:r>
            <a:r>
              <a:rPr lang="ko-KR" altLang="en-US" dirty="0"/>
              <a:t>리튬 배터리 충전 모듈</a:t>
            </a:r>
            <a:r>
              <a:rPr lang="en-US" altLang="ko-KR" dirty="0"/>
              <a:t>”</a:t>
            </a:r>
            <a:r>
              <a:rPr lang="ko-KR" altLang="en-US" dirty="0"/>
              <a:t>로</a:t>
            </a:r>
            <a:r>
              <a:rPr lang="en-US" altLang="ko-KR" dirty="0"/>
              <a:t>, </a:t>
            </a:r>
            <a:r>
              <a:rPr lang="ko-KR" altLang="en-US" dirty="0"/>
              <a:t>리튬 이온 </a:t>
            </a:r>
            <a:r>
              <a:rPr lang="en-US" altLang="ko-KR" dirty="0"/>
              <a:t>/ </a:t>
            </a:r>
            <a:r>
              <a:rPr lang="ko-KR" altLang="en-US" dirty="0"/>
              <a:t>리튬 폴리머 배터리를 안전하게 충전해주는 모듈이다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IN+ / IN0 : </a:t>
            </a:r>
            <a:r>
              <a:rPr lang="ko-KR" altLang="en-US" dirty="0"/>
              <a:t>입력</a:t>
            </a:r>
            <a:r>
              <a:rPr lang="en-US" altLang="ko-KR" dirty="0"/>
              <a:t>(</a:t>
            </a:r>
            <a:r>
              <a:rPr lang="ko-KR" altLang="en-US" dirty="0"/>
              <a:t>태양광 패널 또는 </a:t>
            </a:r>
            <a:r>
              <a:rPr lang="en-US" altLang="ko-KR" dirty="0"/>
              <a:t>USB)</a:t>
            </a:r>
            <a:r>
              <a:rPr lang="en-US" altLang="ko-KR" baseline="0" dirty="0"/>
              <a:t>  -&gt;  </a:t>
            </a:r>
            <a:r>
              <a:rPr lang="ko-KR" altLang="en-US" baseline="0" dirty="0"/>
              <a:t>전압 </a:t>
            </a:r>
            <a:r>
              <a:rPr lang="en-US" altLang="ko-KR" baseline="0" dirty="0"/>
              <a:t>4.5V ~ 6V</a:t>
            </a:r>
          </a:p>
          <a:p>
            <a:r>
              <a:rPr lang="en-US" altLang="ko-KR" baseline="0" dirty="0"/>
              <a:t>BAT+ / BAT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52737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75B6D-EB09-F6DB-578B-61822A91F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96DCAE4-47DB-92BF-CD45-43057AD10B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9E93CAA-D885-233C-6E56-4636756C2B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endParaRPr lang="en-US" altLang="ko-KR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D42319-6D2A-651C-710C-67CB60710F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81294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BF346-050F-0D76-FF85-9B64C7350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CDF4B1-1BCB-9B1B-7BAB-2815D0941D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770F253-E182-9ACB-566D-DF51D3FB45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endParaRPr lang="en-US" altLang="ko-KR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E4D1D5-4857-B7DA-3B24-CB1BB1C92A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1475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7F4E1-3FFC-5B65-ABCA-3DB873E84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DECD6C3-816C-7654-F6AD-1FF46B5DE7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FCA101F-AF12-CDBC-6ACD-63AD6CF49D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endParaRPr lang="en-US" altLang="ko-KR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C37862-73D5-ED1B-15F5-E84703FEAD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63046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9F22B-7560-5D87-4C15-1AFCE7186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7191CB4-9812-B2E2-158A-8340E9B84E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8F41ECA-43AF-33E0-C370-9B3B03367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endParaRPr lang="en-US" altLang="ko-KR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24DF36-0DD6-3016-1743-296D06D375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10373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8474E-107B-C82E-0D8F-63A32D060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4C060A-4FC7-6744-639C-FAF3DEF0EB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C532EFF-D763-B53D-E17F-6C5CED6538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endParaRPr lang="en-US" altLang="ko-KR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9CA2D1-FD95-B6C7-DC94-24FBD3F2BC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70288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DEDD5-634A-7EBD-7DDC-DE8271C1F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EAF4959-B8FF-57D3-094C-5118B3B88A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98BDD4D-78D9-13C3-E304-D4BE6BC650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endParaRPr lang="en-US" altLang="ko-KR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527630-3248-2A13-F62D-0BA91E948F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3188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FBA4C-14A4-74E0-7BD1-E1BE8E578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4A2FBA-B12C-0E53-890D-CEFD7D118D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1E9C0A3-642D-8965-0A55-D29CE929F1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endParaRPr lang="en-US" altLang="ko-KR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994BD4-DAA6-CFD1-E5D7-C545C85E63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50031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DB381-1A76-A15D-ECA6-68809ADB4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2FE773-16E8-9650-8FCD-AE55D920D7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ABE38F2-427F-9E6A-E76C-2292CAACFB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r>
              <a:rPr lang="ko-KR" altLang="en-US" dirty="0">
                <a:latin typeface="+mn-lt"/>
              </a:rPr>
              <a:t>파이썬 기반 웹 프레임워크</a:t>
            </a:r>
            <a:endParaRPr lang="en-US" altLang="ko-KR" dirty="0">
              <a:latin typeface="+mn-lt"/>
            </a:endParaRPr>
          </a:p>
          <a:p>
            <a:pPr algn="l" fontAlgn="base"/>
            <a:r>
              <a:rPr lang="ko-KR" altLang="en-US" dirty="0">
                <a:latin typeface="+mn-lt"/>
              </a:rPr>
              <a:t>자바 기반 웹 프레임워크 대표 </a:t>
            </a:r>
            <a:r>
              <a:rPr lang="en-US" altLang="ko-KR" dirty="0">
                <a:latin typeface="+mn-lt"/>
              </a:rPr>
              <a:t>: Spring</a:t>
            </a:r>
          </a:p>
          <a:p>
            <a:pPr algn="l" fontAlgn="base"/>
            <a:endParaRPr lang="en-US" altLang="ko-KR" dirty="0">
              <a:latin typeface="+mn-lt"/>
            </a:endParaRPr>
          </a:p>
          <a:p>
            <a:pPr algn="l" fontAlgn="base"/>
            <a:r>
              <a:rPr lang="en-US" altLang="ko-KR" dirty="0">
                <a:latin typeface="+mn-lt"/>
              </a:rPr>
              <a:t>- </a:t>
            </a:r>
            <a:r>
              <a:rPr lang="ko-KR" altLang="en-US" dirty="0">
                <a:latin typeface="+mn-lt"/>
              </a:rPr>
              <a:t>파이썬 기반으로 웹 개발을 하고 싶을 때 사용한다</a:t>
            </a:r>
            <a:r>
              <a:rPr lang="en-US" altLang="ko-KR" dirty="0">
                <a:latin typeface="+mn-lt"/>
              </a:rPr>
              <a:t>.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47603A-475F-50A3-8098-0C68EB15F2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10978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AB2BD-4BC4-AFB5-740F-C225C7F0F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265454-C250-09F5-3DFC-2AD9CCA4B5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69F39EE-C11D-C03B-42C7-CFBD82C760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r>
              <a:rPr lang="ko-KR" altLang="en-US" dirty="0">
                <a:latin typeface="+mn-lt"/>
              </a:rPr>
              <a:t>파이썬 기반 웹 프레임워크</a:t>
            </a:r>
            <a:endParaRPr lang="en-US" altLang="ko-KR" dirty="0">
              <a:latin typeface="+mn-lt"/>
            </a:endParaRPr>
          </a:p>
          <a:p>
            <a:pPr algn="l" fontAlgn="base"/>
            <a:r>
              <a:rPr lang="ko-KR" altLang="en-US" dirty="0">
                <a:latin typeface="+mn-lt"/>
              </a:rPr>
              <a:t>자바 기반 웹 프레임워크 대표 </a:t>
            </a:r>
            <a:r>
              <a:rPr lang="en-US" altLang="ko-KR" dirty="0">
                <a:latin typeface="+mn-lt"/>
              </a:rPr>
              <a:t>: Spring</a:t>
            </a:r>
          </a:p>
          <a:p>
            <a:pPr algn="l" fontAlgn="base"/>
            <a:endParaRPr lang="en-US" altLang="ko-KR" dirty="0">
              <a:latin typeface="+mn-lt"/>
            </a:endParaRPr>
          </a:p>
          <a:p>
            <a:pPr algn="l" fontAlgn="base"/>
            <a:r>
              <a:rPr lang="en-US" altLang="ko-KR" dirty="0">
                <a:latin typeface="+mn-lt"/>
              </a:rPr>
              <a:t>- </a:t>
            </a:r>
            <a:r>
              <a:rPr lang="ko-KR" altLang="en-US" dirty="0">
                <a:latin typeface="+mn-lt"/>
              </a:rPr>
              <a:t>파이썬 기반으로 웹 개발을 하고 싶을 때 사용한다</a:t>
            </a:r>
            <a:r>
              <a:rPr lang="en-US" altLang="ko-KR" dirty="0">
                <a:latin typeface="+mn-lt"/>
              </a:rPr>
              <a:t>.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60980B-D885-C496-CDD5-B6DA64298E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06820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B4086-CD20-332E-342B-F492B2B6A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397D637-F2AE-BDED-43CC-EC661DA2FC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26DF9D6-29E3-D7F7-BF0B-C1D7EC06C3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r>
              <a:rPr lang="ko-KR" altLang="en-US" dirty="0">
                <a:latin typeface="+mn-lt"/>
              </a:rPr>
              <a:t>파이썬 기반 웹 프레임워크</a:t>
            </a:r>
            <a:endParaRPr lang="en-US" altLang="ko-KR" dirty="0">
              <a:latin typeface="+mn-lt"/>
            </a:endParaRPr>
          </a:p>
          <a:p>
            <a:pPr algn="l" fontAlgn="base"/>
            <a:r>
              <a:rPr lang="ko-KR" altLang="en-US" dirty="0">
                <a:latin typeface="+mn-lt"/>
              </a:rPr>
              <a:t>자바 기반 웹 프레임워크 대표 </a:t>
            </a:r>
            <a:r>
              <a:rPr lang="en-US" altLang="ko-KR" dirty="0">
                <a:latin typeface="+mn-lt"/>
              </a:rPr>
              <a:t>: Spring</a:t>
            </a:r>
          </a:p>
          <a:p>
            <a:pPr algn="l" fontAlgn="base"/>
            <a:endParaRPr lang="en-US" altLang="ko-KR" dirty="0">
              <a:latin typeface="+mn-lt"/>
            </a:endParaRPr>
          </a:p>
          <a:p>
            <a:pPr algn="l" fontAlgn="base"/>
            <a:r>
              <a:rPr lang="en-US" altLang="ko-KR" dirty="0">
                <a:latin typeface="+mn-lt"/>
              </a:rPr>
              <a:t>- </a:t>
            </a:r>
            <a:r>
              <a:rPr lang="ko-KR" altLang="en-US" dirty="0">
                <a:latin typeface="+mn-lt"/>
              </a:rPr>
              <a:t>파이썬 기반으로 웹 개발을 하고 싶을 때 사용한다</a:t>
            </a:r>
            <a:r>
              <a:rPr lang="en-US" altLang="ko-KR" dirty="0">
                <a:latin typeface="+mn-lt"/>
              </a:rPr>
              <a:t>.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544A9B-8EB8-0E8A-F6EB-A9E3BA4BEA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7220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23906-4FE1-1047-A451-65162AED7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9B6CE4B-7B2F-41B4-9FF9-6EC8CFFDE4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3429A2F-254A-4AAF-DE61-A6CC48213F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r>
              <a:rPr lang="ko-KR" altLang="en-US" dirty="0">
                <a:latin typeface="+mn-lt"/>
              </a:rPr>
              <a:t>파이썬 기반 웹 프레임워크</a:t>
            </a:r>
            <a:endParaRPr lang="en-US" altLang="ko-KR" dirty="0">
              <a:latin typeface="+mn-lt"/>
            </a:endParaRPr>
          </a:p>
          <a:p>
            <a:pPr algn="l" fontAlgn="base"/>
            <a:r>
              <a:rPr lang="ko-KR" altLang="en-US" dirty="0">
                <a:latin typeface="+mn-lt"/>
              </a:rPr>
              <a:t>자바 기반 웹 프레임워크 대표 </a:t>
            </a:r>
            <a:r>
              <a:rPr lang="en-US" altLang="ko-KR" dirty="0">
                <a:latin typeface="+mn-lt"/>
              </a:rPr>
              <a:t>: Spring</a:t>
            </a:r>
          </a:p>
          <a:p>
            <a:pPr algn="l" fontAlgn="base"/>
            <a:endParaRPr lang="en-US" altLang="ko-KR" dirty="0">
              <a:latin typeface="+mn-lt"/>
            </a:endParaRPr>
          </a:p>
          <a:p>
            <a:pPr algn="l" fontAlgn="base"/>
            <a:r>
              <a:rPr lang="en-US" altLang="ko-KR" dirty="0">
                <a:latin typeface="+mn-lt"/>
              </a:rPr>
              <a:t>- </a:t>
            </a:r>
            <a:r>
              <a:rPr lang="ko-KR" altLang="en-US" dirty="0">
                <a:latin typeface="+mn-lt"/>
              </a:rPr>
              <a:t>파이썬 기반으로 웹 개발을 하고 싶을 때 사용한다</a:t>
            </a:r>
            <a:r>
              <a:rPr lang="en-US" altLang="ko-KR" dirty="0">
                <a:latin typeface="+mn-lt"/>
              </a:rPr>
              <a:t>.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E8DC37-402A-B584-F7C5-BF82ED2405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6781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B4F59-3967-0302-08C9-78A092117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F7EAD2-70DF-B01F-B89B-AE064470B0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46C7E70-E2B0-C728-07F9-A61DC08604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r>
              <a:rPr lang="ko-KR" altLang="en-US" dirty="0">
                <a:latin typeface="+mn-lt"/>
              </a:rPr>
              <a:t>파이썬 기반 웹 프레임워크</a:t>
            </a:r>
            <a:endParaRPr lang="en-US" altLang="ko-KR" dirty="0">
              <a:latin typeface="+mn-lt"/>
            </a:endParaRPr>
          </a:p>
          <a:p>
            <a:pPr algn="l" fontAlgn="base"/>
            <a:r>
              <a:rPr lang="ko-KR" altLang="en-US" dirty="0">
                <a:latin typeface="+mn-lt"/>
              </a:rPr>
              <a:t>자바 기반 웹 프레임워크 대표 </a:t>
            </a:r>
            <a:r>
              <a:rPr lang="en-US" altLang="ko-KR" dirty="0">
                <a:latin typeface="+mn-lt"/>
              </a:rPr>
              <a:t>: Spring</a:t>
            </a:r>
          </a:p>
          <a:p>
            <a:pPr algn="l" fontAlgn="base"/>
            <a:endParaRPr lang="en-US" altLang="ko-KR" dirty="0">
              <a:latin typeface="+mn-lt"/>
            </a:endParaRPr>
          </a:p>
          <a:p>
            <a:pPr algn="l" fontAlgn="base"/>
            <a:r>
              <a:rPr lang="en-US" altLang="ko-KR" dirty="0">
                <a:latin typeface="+mn-lt"/>
              </a:rPr>
              <a:t>- </a:t>
            </a:r>
            <a:r>
              <a:rPr lang="ko-KR" altLang="en-US" dirty="0">
                <a:latin typeface="+mn-lt"/>
              </a:rPr>
              <a:t>파이썬 기반으로 웹 개발을 하고 싶을 때 사용한다</a:t>
            </a:r>
            <a:r>
              <a:rPr lang="en-US" altLang="ko-KR" dirty="0">
                <a:latin typeface="+mn-lt"/>
              </a:rPr>
              <a:t>.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0F2F35-4DC6-4434-5FF0-A81AC0CED6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54400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FFB30-82D9-D4F8-A2A9-0796D2CFD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B90B47E-8A57-6DAB-EFCC-1C7035385A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9481F74-993D-4949-652B-C6494A2C7D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r>
              <a:rPr lang="ko-KR" altLang="en-US" dirty="0">
                <a:latin typeface="+mn-lt"/>
              </a:rPr>
              <a:t>파이썬 기반 웹 프레임워크</a:t>
            </a:r>
            <a:endParaRPr lang="en-US" altLang="ko-KR" dirty="0">
              <a:latin typeface="+mn-lt"/>
            </a:endParaRPr>
          </a:p>
          <a:p>
            <a:pPr algn="l" fontAlgn="base"/>
            <a:r>
              <a:rPr lang="ko-KR" altLang="en-US" dirty="0">
                <a:latin typeface="+mn-lt"/>
              </a:rPr>
              <a:t>자바 기반 웹 프레임워크 대표 </a:t>
            </a:r>
            <a:r>
              <a:rPr lang="en-US" altLang="ko-KR" dirty="0">
                <a:latin typeface="+mn-lt"/>
              </a:rPr>
              <a:t>: Spring</a:t>
            </a:r>
          </a:p>
          <a:p>
            <a:pPr algn="l" fontAlgn="base"/>
            <a:endParaRPr lang="en-US" altLang="ko-KR" dirty="0">
              <a:latin typeface="+mn-lt"/>
            </a:endParaRPr>
          </a:p>
          <a:p>
            <a:pPr algn="l" fontAlgn="base"/>
            <a:r>
              <a:rPr lang="en-US" altLang="ko-KR" dirty="0">
                <a:latin typeface="+mn-lt"/>
              </a:rPr>
              <a:t>- </a:t>
            </a:r>
            <a:r>
              <a:rPr lang="ko-KR" altLang="en-US" dirty="0">
                <a:latin typeface="+mn-lt"/>
              </a:rPr>
              <a:t>파이썬 기반으로 웹 개발을 하고 싶을 때 사용한다</a:t>
            </a:r>
            <a:r>
              <a:rPr lang="en-US" altLang="ko-KR" dirty="0">
                <a:latin typeface="+mn-lt"/>
              </a:rPr>
              <a:t>.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130418-7F43-D389-3B2B-59DAE9D102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00846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A8181-B06C-8EC2-CF83-58AC62902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75B5AEA-682B-F232-2917-D951E81F04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EFAD30-4F42-AF39-3E78-7969813265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r>
              <a:rPr lang="ko-KR" altLang="en-US" dirty="0">
                <a:latin typeface="+mn-lt"/>
              </a:rPr>
              <a:t>파이썬 기반 웹 프레임워크</a:t>
            </a:r>
            <a:endParaRPr lang="en-US" altLang="ko-KR" dirty="0">
              <a:latin typeface="+mn-lt"/>
            </a:endParaRPr>
          </a:p>
          <a:p>
            <a:pPr algn="l" fontAlgn="base"/>
            <a:r>
              <a:rPr lang="ko-KR" altLang="en-US" dirty="0">
                <a:latin typeface="+mn-lt"/>
              </a:rPr>
              <a:t>자바 기반 웹 프레임워크 대표 </a:t>
            </a:r>
            <a:r>
              <a:rPr lang="en-US" altLang="ko-KR" dirty="0">
                <a:latin typeface="+mn-lt"/>
              </a:rPr>
              <a:t>: Spring</a:t>
            </a:r>
          </a:p>
          <a:p>
            <a:pPr algn="l" fontAlgn="base"/>
            <a:endParaRPr lang="en-US" altLang="ko-KR" dirty="0">
              <a:latin typeface="+mn-lt"/>
            </a:endParaRPr>
          </a:p>
          <a:p>
            <a:pPr algn="l" fontAlgn="base"/>
            <a:r>
              <a:rPr lang="en-US" altLang="ko-KR" dirty="0">
                <a:latin typeface="+mn-lt"/>
              </a:rPr>
              <a:t>- </a:t>
            </a:r>
            <a:r>
              <a:rPr lang="ko-KR" altLang="en-US" dirty="0">
                <a:latin typeface="+mn-lt"/>
              </a:rPr>
              <a:t>파이썬 기반으로 웹 개발을 하고 싶을 때 사용한다</a:t>
            </a:r>
            <a:r>
              <a:rPr lang="en-US" altLang="ko-KR" dirty="0">
                <a:latin typeface="+mn-lt"/>
              </a:rPr>
              <a:t>.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4FA25E-9918-8993-7EE7-93A83238E0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45684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C45FC-571F-DFA5-2B3C-97E3A352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E2DCCA-7D12-113E-991F-D8AFB2226A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F81D55-2D54-C130-448E-7B3EF08976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r>
              <a:rPr lang="ko-KR" altLang="en-US" dirty="0">
                <a:latin typeface="+mn-lt"/>
              </a:rPr>
              <a:t>파이썬 기반 웹 프레임워크</a:t>
            </a:r>
            <a:endParaRPr lang="en-US" altLang="ko-KR" dirty="0">
              <a:latin typeface="+mn-lt"/>
            </a:endParaRPr>
          </a:p>
          <a:p>
            <a:pPr algn="l" fontAlgn="base"/>
            <a:r>
              <a:rPr lang="ko-KR" altLang="en-US" dirty="0">
                <a:latin typeface="+mn-lt"/>
              </a:rPr>
              <a:t>자바 기반 웹 프레임워크 대표 </a:t>
            </a:r>
            <a:r>
              <a:rPr lang="en-US" altLang="ko-KR" dirty="0">
                <a:latin typeface="+mn-lt"/>
              </a:rPr>
              <a:t>: Spring</a:t>
            </a:r>
          </a:p>
          <a:p>
            <a:pPr algn="l" fontAlgn="base"/>
            <a:endParaRPr lang="en-US" altLang="ko-KR" dirty="0">
              <a:latin typeface="+mn-lt"/>
            </a:endParaRPr>
          </a:p>
          <a:p>
            <a:pPr algn="l" fontAlgn="base"/>
            <a:r>
              <a:rPr lang="en-US" altLang="ko-KR" dirty="0">
                <a:latin typeface="+mn-lt"/>
              </a:rPr>
              <a:t>- </a:t>
            </a:r>
            <a:r>
              <a:rPr lang="ko-KR" altLang="en-US" dirty="0">
                <a:latin typeface="+mn-lt"/>
              </a:rPr>
              <a:t>파이썬 기반으로 웹 개발을 하고 싶을 때 사용한다</a:t>
            </a:r>
            <a:r>
              <a:rPr lang="en-US" altLang="ko-KR" dirty="0">
                <a:latin typeface="+mn-lt"/>
              </a:rPr>
              <a:t>.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E571FD-9434-0D5A-EFE0-B69CAD9EA2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97426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DEBE4-4925-DC04-3163-09F140FB5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20F63B-C46F-76F5-F024-562B18C990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D7094F2-10DC-159C-7D20-A739DC2AE2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r>
              <a:rPr lang="ko-KR" altLang="en-US" dirty="0">
                <a:latin typeface="+mn-lt"/>
              </a:rPr>
              <a:t>파이썬 기반 웹 프레임워크</a:t>
            </a:r>
            <a:endParaRPr lang="en-US" altLang="ko-KR" dirty="0">
              <a:latin typeface="+mn-lt"/>
            </a:endParaRPr>
          </a:p>
          <a:p>
            <a:pPr algn="l" fontAlgn="base"/>
            <a:r>
              <a:rPr lang="ko-KR" altLang="en-US" dirty="0">
                <a:latin typeface="+mn-lt"/>
              </a:rPr>
              <a:t>자바 기반 웹 프레임워크 대표 </a:t>
            </a:r>
            <a:r>
              <a:rPr lang="en-US" altLang="ko-KR" dirty="0">
                <a:latin typeface="+mn-lt"/>
              </a:rPr>
              <a:t>: Spring</a:t>
            </a:r>
          </a:p>
          <a:p>
            <a:pPr algn="l" fontAlgn="base"/>
            <a:endParaRPr lang="en-US" altLang="ko-KR" dirty="0">
              <a:latin typeface="+mn-lt"/>
            </a:endParaRPr>
          </a:p>
          <a:p>
            <a:pPr algn="l" fontAlgn="base"/>
            <a:r>
              <a:rPr lang="en-US" altLang="ko-KR" dirty="0">
                <a:latin typeface="+mn-lt"/>
              </a:rPr>
              <a:t>- </a:t>
            </a:r>
            <a:r>
              <a:rPr lang="ko-KR" altLang="en-US" dirty="0">
                <a:latin typeface="+mn-lt"/>
              </a:rPr>
              <a:t>파이썬 기반으로 웹 개발을 하고 싶을 때 사용한다</a:t>
            </a:r>
            <a:r>
              <a:rPr lang="en-US" altLang="ko-KR" dirty="0">
                <a:latin typeface="+mn-lt"/>
              </a:rPr>
              <a:t>.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73E1A-0C8E-C67D-6863-F698D7065F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67905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시리얼 통신을 진행할 때 </a:t>
            </a:r>
            <a:r>
              <a:rPr lang="en-US" altLang="ko-KR" dirty="0" err="1"/>
              <a:t>pytho</a:t>
            </a:r>
            <a:r>
              <a:rPr lang="ko-KR" altLang="en-US" dirty="0"/>
              <a:t>이 없이도 </a:t>
            </a:r>
            <a:r>
              <a:rPr lang="en-US" altLang="ko-KR" dirty="0"/>
              <a:t>html(</a:t>
            </a:r>
            <a:r>
              <a:rPr lang="ko-KR" altLang="en-US" dirty="0"/>
              <a:t>웹</a:t>
            </a:r>
            <a:r>
              <a:rPr lang="en-US" altLang="ko-KR" dirty="0"/>
              <a:t>) </a:t>
            </a:r>
            <a:r>
              <a:rPr lang="en-US" altLang="ko-KR" dirty="0">
                <a:sym typeface="Wingdings" panose="05000000000000000000" pitchFamily="2" charset="2"/>
              </a:rPr>
              <a:t> </a:t>
            </a:r>
            <a:r>
              <a:rPr lang="ko-KR" altLang="en-US" dirty="0" err="1">
                <a:sym typeface="Wingdings" panose="05000000000000000000" pitchFamily="2" charset="2"/>
              </a:rPr>
              <a:t>아두이노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시리얼 직접 연결도 가능하지만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안정성</a:t>
            </a:r>
            <a:r>
              <a:rPr lang="en-US" altLang="ko-KR" dirty="0">
                <a:sym typeface="Wingdings" panose="05000000000000000000" pitchFamily="2" charset="2"/>
              </a:rPr>
              <a:t>/</a:t>
            </a:r>
            <a:r>
              <a:rPr lang="ko-KR" altLang="en-US" dirty="0">
                <a:sym typeface="Wingdings" panose="05000000000000000000" pitchFamily="2" charset="2"/>
              </a:rPr>
              <a:t>호환성</a:t>
            </a:r>
            <a:r>
              <a:rPr lang="en-US" altLang="ko-KR" dirty="0">
                <a:sym typeface="Wingdings" panose="05000000000000000000" pitchFamily="2" charset="2"/>
              </a:rPr>
              <a:t>/</a:t>
            </a:r>
            <a:r>
              <a:rPr lang="ko-KR" altLang="en-US" dirty="0">
                <a:sym typeface="Wingdings" panose="05000000000000000000" pitchFamily="2" charset="2"/>
              </a:rPr>
              <a:t>확장성 측면에서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Python(</a:t>
            </a:r>
            <a:r>
              <a:rPr lang="ko-KR" altLang="en-US" dirty="0">
                <a:sym typeface="Wingdings" panose="05000000000000000000" pitchFamily="2" charset="2"/>
              </a:rPr>
              <a:t>혹은 </a:t>
            </a:r>
            <a:r>
              <a:rPr lang="en-US" altLang="ko-KR" dirty="0">
                <a:sym typeface="Wingdings" panose="05000000000000000000" pitchFamily="2" charset="2"/>
              </a:rPr>
              <a:t>node.js </a:t>
            </a:r>
            <a:r>
              <a:rPr lang="ko-KR" altLang="en-US" dirty="0">
                <a:sym typeface="Wingdings" panose="05000000000000000000" pitchFamily="2" charset="2"/>
              </a:rPr>
              <a:t>같은 중간 서버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r>
              <a:rPr lang="ko-KR" altLang="en-US" dirty="0">
                <a:sym typeface="Wingdings" panose="05000000000000000000" pitchFamily="2" charset="2"/>
              </a:rPr>
              <a:t>를 두는 게 훨씬 안전하다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69040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E0F24-3284-E77E-60CF-69EE25B2A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FBDE5E9-B858-350D-C2C6-7F72E27A12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0C93C27-9D2A-2E0C-8DCF-2D87AB452E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시리얼 통신을 진행할 때 </a:t>
            </a:r>
            <a:r>
              <a:rPr lang="en-US" altLang="ko-KR" dirty="0" err="1"/>
              <a:t>pytho</a:t>
            </a:r>
            <a:r>
              <a:rPr lang="ko-KR" altLang="en-US" dirty="0"/>
              <a:t>이 없이도 </a:t>
            </a:r>
            <a:r>
              <a:rPr lang="en-US" altLang="ko-KR" dirty="0"/>
              <a:t>html(</a:t>
            </a:r>
            <a:r>
              <a:rPr lang="ko-KR" altLang="en-US" dirty="0"/>
              <a:t>웹</a:t>
            </a:r>
            <a:r>
              <a:rPr lang="en-US" altLang="ko-KR" dirty="0"/>
              <a:t>) </a:t>
            </a:r>
            <a:r>
              <a:rPr lang="en-US" altLang="ko-KR" dirty="0">
                <a:sym typeface="Wingdings" panose="05000000000000000000" pitchFamily="2" charset="2"/>
              </a:rPr>
              <a:t> </a:t>
            </a:r>
            <a:r>
              <a:rPr lang="ko-KR" altLang="en-US" dirty="0" err="1">
                <a:sym typeface="Wingdings" panose="05000000000000000000" pitchFamily="2" charset="2"/>
              </a:rPr>
              <a:t>아두이노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시리얼 직접 연결도 가능하지만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안정성</a:t>
            </a:r>
            <a:r>
              <a:rPr lang="en-US" altLang="ko-KR" dirty="0">
                <a:sym typeface="Wingdings" panose="05000000000000000000" pitchFamily="2" charset="2"/>
              </a:rPr>
              <a:t>/</a:t>
            </a:r>
            <a:r>
              <a:rPr lang="ko-KR" altLang="en-US" dirty="0">
                <a:sym typeface="Wingdings" panose="05000000000000000000" pitchFamily="2" charset="2"/>
              </a:rPr>
              <a:t>호환성</a:t>
            </a:r>
            <a:r>
              <a:rPr lang="en-US" altLang="ko-KR" dirty="0">
                <a:sym typeface="Wingdings" panose="05000000000000000000" pitchFamily="2" charset="2"/>
              </a:rPr>
              <a:t>/</a:t>
            </a:r>
            <a:r>
              <a:rPr lang="ko-KR" altLang="en-US" dirty="0">
                <a:sym typeface="Wingdings" panose="05000000000000000000" pitchFamily="2" charset="2"/>
              </a:rPr>
              <a:t>확장성 측면에서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Python(</a:t>
            </a:r>
            <a:r>
              <a:rPr lang="ko-KR" altLang="en-US" dirty="0">
                <a:sym typeface="Wingdings" panose="05000000000000000000" pitchFamily="2" charset="2"/>
              </a:rPr>
              <a:t>혹은 </a:t>
            </a:r>
            <a:r>
              <a:rPr lang="en-US" altLang="ko-KR" dirty="0">
                <a:sym typeface="Wingdings" panose="05000000000000000000" pitchFamily="2" charset="2"/>
              </a:rPr>
              <a:t>node.js </a:t>
            </a:r>
            <a:r>
              <a:rPr lang="ko-KR" altLang="en-US" dirty="0">
                <a:sym typeface="Wingdings" panose="05000000000000000000" pitchFamily="2" charset="2"/>
              </a:rPr>
              <a:t>같은 중간 서버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r>
              <a:rPr lang="ko-KR" altLang="en-US" dirty="0">
                <a:sym typeface="Wingdings" panose="05000000000000000000" pitchFamily="2" charset="2"/>
              </a:rPr>
              <a:t>를 두는 게 훨씬 안전하다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7783FD-E1E2-EC75-BA7C-3B64B4DA03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95400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81C62-96EA-9D6B-2CCE-F42A12FEB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C3F1D34-FF03-3E53-D9E1-7AC56DACD7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E41BFE1-2A0A-A25A-2C55-0870E545E2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시리얼 통신을 진행할 때 </a:t>
            </a:r>
            <a:r>
              <a:rPr lang="en-US" altLang="ko-KR" dirty="0" err="1"/>
              <a:t>pytho</a:t>
            </a:r>
            <a:r>
              <a:rPr lang="ko-KR" altLang="en-US" dirty="0"/>
              <a:t>이 없이도 </a:t>
            </a:r>
            <a:r>
              <a:rPr lang="en-US" altLang="ko-KR" dirty="0"/>
              <a:t>html(</a:t>
            </a:r>
            <a:r>
              <a:rPr lang="ko-KR" altLang="en-US" dirty="0"/>
              <a:t>웹</a:t>
            </a:r>
            <a:r>
              <a:rPr lang="en-US" altLang="ko-KR" dirty="0"/>
              <a:t>) </a:t>
            </a:r>
            <a:r>
              <a:rPr lang="en-US" altLang="ko-KR" dirty="0">
                <a:sym typeface="Wingdings" panose="05000000000000000000" pitchFamily="2" charset="2"/>
              </a:rPr>
              <a:t> </a:t>
            </a:r>
            <a:r>
              <a:rPr lang="ko-KR" altLang="en-US" dirty="0" err="1">
                <a:sym typeface="Wingdings" panose="05000000000000000000" pitchFamily="2" charset="2"/>
              </a:rPr>
              <a:t>아두이노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시리얼 직접 연결도 가능하지만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안정성</a:t>
            </a:r>
            <a:r>
              <a:rPr lang="en-US" altLang="ko-KR" dirty="0">
                <a:sym typeface="Wingdings" panose="05000000000000000000" pitchFamily="2" charset="2"/>
              </a:rPr>
              <a:t>/</a:t>
            </a:r>
            <a:r>
              <a:rPr lang="ko-KR" altLang="en-US" dirty="0">
                <a:sym typeface="Wingdings" panose="05000000000000000000" pitchFamily="2" charset="2"/>
              </a:rPr>
              <a:t>호환성</a:t>
            </a:r>
            <a:r>
              <a:rPr lang="en-US" altLang="ko-KR" dirty="0">
                <a:sym typeface="Wingdings" panose="05000000000000000000" pitchFamily="2" charset="2"/>
              </a:rPr>
              <a:t>/</a:t>
            </a:r>
            <a:r>
              <a:rPr lang="ko-KR" altLang="en-US" dirty="0">
                <a:sym typeface="Wingdings" panose="05000000000000000000" pitchFamily="2" charset="2"/>
              </a:rPr>
              <a:t>확장성 측면에서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Python(</a:t>
            </a:r>
            <a:r>
              <a:rPr lang="ko-KR" altLang="en-US" dirty="0">
                <a:sym typeface="Wingdings" panose="05000000000000000000" pitchFamily="2" charset="2"/>
              </a:rPr>
              <a:t>혹은 </a:t>
            </a:r>
            <a:r>
              <a:rPr lang="en-US" altLang="ko-KR" dirty="0">
                <a:sym typeface="Wingdings" panose="05000000000000000000" pitchFamily="2" charset="2"/>
              </a:rPr>
              <a:t>node.js </a:t>
            </a:r>
            <a:r>
              <a:rPr lang="ko-KR" altLang="en-US" dirty="0">
                <a:sym typeface="Wingdings" panose="05000000000000000000" pitchFamily="2" charset="2"/>
              </a:rPr>
              <a:t>같은 중간 서버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r>
              <a:rPr lang="ko-KR" altLang="en-US" dirty="0">
                <a:sym typeface="Wingdings" panose="05000000000000000000" pitchFamily="2" charset="2"/>
              </a:rPr>
              <a:t>를 두는 게 훨씬 안전하다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A857FE-1D3E-8852-A6D0-45465A5DB5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227415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03904-490B-797B-F74A-B5AD683B5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6030FE-614C-6262-D530-96B9C3024C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57262C-F1A0-5AB6-DE5F-CABD7EFCAA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시리얼 통신을 진행할 때 </a:t>
            </a:r>
            <a:r>
              <a:rPr lang="en-US" altLang="ko-KR" dirty="0" err="1"/>
              <a:t>pytho</a:t>
            </a:r>
            <a:r>
              <a:rPr lang="ko-KR" altLang="en-US" dirty="0"/>
              <a:t>이 없이도 </a:t>
            </a:r>
            <a:r>
              <a:rPr lang="en-US" altLang="ko-KR" dirty="0"/>
              <a:t>html(</a:t>
            </a:r>
            <a:r>
              <a:rPr lang="ko-KR" altLang="en-US" dirty="0"/>
              <a:t>웹</a:t>
            </a:r>
            <a:r>
              <a:rPr lang="en-US" altLang="ko-KR" dirty="0"/>
              <a:t>) </a:t>
            </a:r>
            <a:r>
              <a:rPr lang="en-US" altLang="ko-KR" dirty="0">
                <a:sym typeface="Wingdings" panose="05000000000000000000" pitchFamily="2" charset="2"/>
              </a:rPr>
              <a:t> </a:t>
            </a:r>
            <a:r>
              <a:rPr lang="ko-KR" altLang="en-US" dirty="0" err="1">
                <a:sym typeface="Wingdings" panose="05000000000000000000" pitchFamily="2" charset="2"/>
              </a:rPr>
              <a:t>아두이노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시리얼 직접 연결도 가능하지만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안정성</a:t>
            </a:r>
            <a:r>
              <a:rPr lang="en-US" altLang="ko-KR" dirty="0">
                <a:sym typeface="Wingdings" panose="05000000000000000000" pitchFamily="2" charset="2"/>
              </a:rPr>
              <a:t>/</a:t>
            </a:r>
            <a:r>
              <a:rPr lang="ko-KR" altLang="en-US" dirty="0">
                <a:sym typeface="Wingdings" panose="05000000000000000000" pitchFamily="2" charset="2"/>
              </a:rPr>
              <a:t>호환성</a:t>
            </a:r>
            <a:r>
              <a:rPr lang="en-US" altLang="ko-KR" dirty="0">
                <a:sym typeface="Wingdings" panose="05000000000000000000" pitchFamily="2" charset="2"/>
              </a:rPr>
              <a:t>/</a:t>
            </a:r>
            <a:r>
              <a:rPr lang="ko-KR" altLang="en-US" dirty="0">
                <a:sym typeface="Wingdings" panose="05000000000000000000" pitchFamily="2" charset="2"/>
              </a:rPr>
              <a:t>확장성 측면에서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Python(</a:t>
            </a:r>
            <a:r>
              <a:rPr lang="ko-KR" altLang="en-US" dirty="0">
                <a:sym typeface="Wingdings" panose="05000000000000000000" pitchFamily="2" charset="2"/>
              </a:rPr>
              <a:t>혹은 </a:t>
            </a:r>
            <a:r>
              <a:rPr lang="en-US" altLang="ko-KR" dirty="0">
                <a:sym typeface="Wingdings" panose="05000000000000000000" pitchFamily="2" charset="2"/>
              </a:rPr>
              <a:t>node.js </a:t>
            </a:r>
            <a:r>
              <a:rPr lang="ko-KR" altLang="en-US" dirty="0">
                <a:sym typeface="Wingdings" panose="05000000000000000000" pitchFamily="2" charset="2"/>
              </a:rPr>
              <a:t>같은 중간 서버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r>
              <a:rPr lang="ko-KR" altLang="en-US" dirty="0">
                <a:sym typeface="Wingdings" panose="05000000000000000000" pitchFamily="2" charset="2"/>
              </a:rPr>
              <a:t>를 두는 게 훨씬 안전하다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421EB9-B1DA-3C11-E6A9-254767CC9E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316615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F4366-A83B-782B-F704-7C2940AE8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FF6C9EB-A2B2-E912-B149-612401F4E1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48C5BF0-0619-A60D-EFF1-156897701C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454E18-FE8A-5BF6-88B5-54A6524F43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87344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538ED-9A59-2F00-5010-1A092EC15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9FC5F85-F734-C970-7E00-05D1E1367D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D5BA7AF-FE03-4075-594F-71117444BF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C9B186-41F4-13EA-3CE6-0A97F3CFB4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525828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?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왜 </a:t>
            </a:r>
            <a:r>
              <a:rPr lang="ko-KR" alt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아두이노의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RX-pin0, TX-pin1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에 맞춰서 연결하지 않나요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?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맞습니다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아두이노가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스케치를 통해 신호를 받을 때나 </a:t>
            </a:r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PC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로 </a:t>
            </a:r>
            <a:r>
              <a:rPr lang="ko-KR" alt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코딩된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프로그램을 </a:t>
            </a:r>
            <a:r>
              <a:rPr lang="ko-KR" alt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업로드받을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때 시리얼 통신을 사용한다고 아실 겁니다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TX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와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RX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는 각각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Transmit(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전송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), Receive(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수신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이란 뜻으로 시리얼 통신을 할 때 데이터를 전송하고 수신하는 통로가 됩니다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</a:p>
          <a:p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그래서 이미 </a:t>
            </a:r>
            <a:r>
              <a:rPr lang="ko-KR" alt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아두이노에</a:t>
            </a:r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USB</a:t>
            </a:r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가 연결되어 있는 동안은 </a:t>
            </a:r>
            <a:r>
              <a:rPr lang="ko-KR" alt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아두이노의</a:t>
            </a:r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TX</a:t>
            </a:r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와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RX</a:t>
            </a:r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PC</a:t>
            </a:r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와 연결되어 있어서 </a:t>
            </a:r>
            <a:endParaRPr lang="en-US" altLang="ko-KR" sz="12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ko-KR" alt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아두이노와</a:t>
            </a:r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ESP-01 </a:t>
            </a:r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와이파이 모듈 사이의 시리얼 통신을 위해 새로운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RX, TX</a:t>
            </a:r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를 디지털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Pin2</a:t>
            </a:r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번과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</a:t>
            </a:r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번에 각각 지정을 해야 합니다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ko-KR" altLang="en-US" b="1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390642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9948C-2D7F-624C-76E9-A21E01843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165B4D5-69C4-3323-FA0E-6BD5B81731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DD98546-8984-D1CE-2D7E-0090190482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?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왜 </a:t>
            </a:r>
            <a:r>
              <a:rPr lang="ko-KR" alt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아두이노의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RX-pin0, TX-pin1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에 맞춰서 연결하지 않나요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? 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맞습니다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아두이노가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스케치를 통해 신호를 받을 때나 </a:t>
            </a:r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PC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로 </a:t>
            </a:r>
            <a:r>
              <a:rPr lang="ko-KR" alt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코딩된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프로그램을 </a:t>
            </a:r>
            <a:r>
              <a:rPr lang="ko-KR" alt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업로드받을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때 시리얼 통신을 사용한다고 아실 겁니다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TX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와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RX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는 각각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Transmit(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전송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), Receive(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수신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이란 뜻으로 시리얼 통신을 할 때 데이터를 전송하고 수신하는 통로가 됩니다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</a:p>
          <a:p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그래서 이미 </a:t>
            </a:r>
            <a:r>
              <a:rPr lang="ko-KR" alt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아두이노에</a:t>
            </a:r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USB</a:t>
            </a:r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가 연결되어 있는 동안은 </a:t>
            </a:r>
            <a:r>
              <a:rPr lang="ko-KR" alt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아두이노의</a:t>
            </a:r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TX</a:t>
            </a:r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와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RX</a:t>
            </a:r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PC</a:t>
            </a:r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와 연결되어 있어서 </a:t>
            </a:r>
            <a:endParaRPr lang="en-US" altLang="ko-KR" sz="12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ko-KR" alt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아두이노와</a:t>
            </a:r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ESP-01 </a:t>
            </a:r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와이파이 모듈 사이의 시리얼 통신을 위해 새로운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RX, TX</a:t>
            </a:r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를 디지털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Pin2</a:t>
            </a:r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번과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</a:t>
            </a:r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번에 각각 지정을 해야 합니다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ko-KR" altLang="en-US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61D410-4EB1-B303-C506-008D9E3BB3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64443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3DDEA-8002-79FF-4329-EE5E9E811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8882CD-F0DD-0D53-838B-0820604E14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1BFA95E-B4FB-810A-9E18-AE56F6043B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BE1174-FFBC-7D2E-446E-F64732406E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021290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59368-67DF-45E4-0B64-9CE1FC194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9107E6D-2C4A-655A-E7E2-26670EFCFF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DA47B6E-074B-E403-F3CF-4D6C004E42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25B9C9-F785-283D-2089-8814AE69BB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882079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6AEEF-90E8-27F6-98CC-5FE02620F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FE98F9A-2B3F-BFCE-6988-4D116155E2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8F2339A-7B6C-F27E-A322-B614C56EC5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DF6C3D-2E1F-BFAD-91F8-1C10A7409F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944054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E00FC-FECC-0B22-45E3-7AF9D85C8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325D7A7-319D-93C2-D950-04794964F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15F4A8-AC78-5A6F-D76D-9628B735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07CB66-C409-C77A-BE76-8088EDF9E6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187896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6C56E-AAA3-1E23-411B-9C678E05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20C8B7-8E5F-2C6A-3318-8A805E6C7E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65AD0DA-9E01-64F7-B57A-B0C5D00B1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# </a:t>
            </a:r>
            <a:r>
              <a:rPr lang="ko-KR" altLang="en-US" sz="1200" dirty="0" err="1"/>
              <a:t>netsh</a:t>
            </a:r>
            <a:r>
              <a:rPr lang="ko-KR" altLang="en-US" sz="1200" dirty="0"/>
              <a:t> </a:t>
            </a:r>
            <a:r>
              <a:rPr lang="ko-KR" altLang="en-US" sz="1200" dirty="0" err="1"/>
              <a:t>advfirewall</a:t>
            </a:r>
            <a:r>
              <a:rPr lang="ko-KR" altLang="en-US" sz="1200" dirty="0"/>
              <a:t> </a:t>
            </a:r>
            <a:r>
              <a:rPr lang="ko-KR" altLang="en-US" sz="1200" dirty="0" err="1"/>
              <a:t>firewall</a:t>
            </a:r>
            <a:r>
              <a:rPr lang="ko-KR" altLang="en-US" sz="1200" dirty="0"/>
              <a:t> </a:t>
            </a:r>
            <a:r>
              <a:rPr lang="ko-KR" altLang="en-US" sz="1200" dirty="0" err="1"/>
              <a:t>add</a:t>
            </a:r>
            <a:r>
              <a:rPr lang="ko-KR" altLang="en-US" sz="1200" dirty="0"/>
              <a:t> </a:t>
            </a:r>
            <a:r>
              <a:rPr lang="ko-KR" altLang="en-US" sz="1200" dirty="0" err="1"/>
              <a:t>rule</a:t>
            </a:r>
            <a:r>
              <a:rPr lang="ko-KR" altLang="en-US" sz="1200" dirty="0"/>
              <a:t> </a:t>
            </a:r>
            <a:r>
              <a:rPr lang="ko-KR" altLang="en-US" sz="1200" dirty="0" err="1"/>
              <a:t>name</a:t>
            </a:r>
            <a:r>
              <a:rPr lang="ko-KR" altLang="en-US" sz="1200" dirty="0"/>
              <a:t>="Flask5000" </a:t>
            </a:r>
            <a:r>
              <a:rPr lang="ko-KR" altLang="en-US" sz="1200" dirty="0" err="1"/>
              <a:t>dir</a:t>
            </a:r>
            <a:r>
              <a:rPr lang="ko-KR" altLang="en-US" sz="1200" dirty="0"/>
              <a:t>=</a:t>
            </a:r>
            <a:r>
              <a:rPr lang="ko-KR" altLang="en-US" sz="1200" dirty="0" err="1"/>
              <a:t>in</a:t>
            </a:r>
            <a:r>
              <a:rPr lang="ko-KR" altLang="en-US" sz="1200" dirty="0"/>
              <a:t> </a:t>
            </a:r>
            <a:r>
              <a:rPr lang="ko-KR" altLang="en-US" sz="1200" dirty="0" err="1"/>
              <a:t>action</a:t>
            </a:r>
            <a:r>
              <a:rPr lang="ko-KR" altLang="en-US" sz="1200" dirty="0"/>
              <a:t>=</a:t>
            </a:r>
            <a:r>
              <a:rPr lang="ko-KR" altLang="en-US" sz="1200" dirty="0" err="1"/>
              <a:t>allow</a:t>
            </a:r>
            <a:r>
              <a:rPr lang="ko-KR" altLang="en-US" sz="1200" dirty="0"/>
              <a:t> </a:t>
            </a:r>
            <a:r>
              <a:rPr lang="ko-KR" altLang="en-US" sz="1200" dirty="0" err="1"/>
              <a:t>protocol</a:t>
            </a:r>
            <a:r>
              <a:rPr lang="ko-KR" altLang="en-US" sz="1200" dirty="0"/>
              <a:t>=TCP </a:t>
            </a:r>
            <a:r>
              <a:rPr lang="ko-KR" altLang="en-US" sz="1200" dirty="0" err="1"/>
              <a:t>localport</a:t>
            </a:r>
            <a:r>
              <a:rPr lang="ko-KR" altLang="en-US" sz="1200" dirty="0"/>
              <a:t>=5000</a:t>
            </a:r>
            <a:endParaRPr lang="en-US" altLang="ko-KR" sz="1200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 err="1"/>
              <a:t>netsh</a:t>
            </a:r>
            <a:r>
              <a:rPr lang="ko-KR" altLang="en-US" sz="1200" dirty="0"/>
              <a:t> </a:t>
            </a:r>
            <a:r>
              <a:rPr lang="ko-KR" altLang="en-US" sz="1200" dirty="0" err="1"/>
              <a:t>advfirewall</a:t>
            </a:r>
            <a:r>
              <a:rPr lang="ko-KR" altLang="en-US" sz="1200" dirty="0"/>
              <a:t> </a:t>
            </a:r>
            <a:r>
              <a:rPr lang="ko-KR" altLang="en-US" sz="1200" dirty="0" err="1"/>
              <a:t>firewall</a:t>
            </a:r>
            <a:r>
              <a:rPr lang="ko-KR" altLang="en-US" sz="1200" dirty="0"/>
              <a:t> </a:t>
            </a:r>
            <a:r>
              <a:rPr lang="ko-KR" altLang="en-US" sz="1200" dirty="0" err="1"/>
              <a:t>add</a:t>
            </a:r>
            <a:r>
              <a:rPr lang="ko-KR" altLang="en-US" sz="1200" dirty="0"/>
              <a:t> </a:t>
            </a:r>
            <a:r>
              <a:rPr lang="ko-KR" altLang="en-US" sz="1200" dirty="0" err="1"/>
              <a:t>rule</a:t>
            </a:r>
            <a:r>
              <a:rPr lang="ko-KR" altLang="en-US" sz="1200" dirty="0"/>
              <a:t> </a:t>
            </a:r>
            <a:r>
              <a:rPr lang="ko-KR" altLang="en-US" sz="1200" dirty="0" err="1"/>
              <a:t>name</a:t>
            </a:r>
            <a:r>
              <a:rPr lang="ko-KR" altLang="en-US" sz="1200" dirty="0"/>
              <a:t>="Flask5000</a:t>
            </a:r>
            <a:r>
              <a:rPr lang="en-US" altLang="ko-KR" sz="1200" dirty="0"/>
              <a:t>-2</a:t>
            </a:r>
            <a:r>
              <a:rPr lang="ko-KR" altLang="en-US" sz="1200" dirty="0"/>
              <a:t>" </a:t>
            </a:r>
            <a:r>
              <a:rPr lang="ko-KR" altLang="en-US" sz="1200" dirty="0" err="1"/>
              <a:t>dir</a:t>
            </a:r>
            <a:r>
              <a:rPr lang="ko-KR" altLang="en-US" sz="1200" dirty="0"/>
              <a:t>=</a:t>
            </a:r>
            <a:r>
              <a:rPr lang="ko-KR" altLang="en-US" sz="1200" dirty="0" err="1"/>
              <a:t>in</a:t>
            </a:r>
            <a:r>
              <a:rPr lang="ko-KR" altLang="en-US" sz="1200" dirty="0"/>
              <a:t> </a:t>
            </a:r>
            <a:r>
              <a:rPr lang="ko-KR" altLang="en-US" sz="1200" dirty="0" err="1"/>
              <a:t>action</a:t>
            </a:r>
            <a:r>
              <a:rPr lang="ko-KR" altLang="en-US" sz="1200" dirty="0"/>
              <a:t>=</a:t>
            </a:r>
            <a:r>
              <a:rPr lang="ko-KR" altLang="en-US" sz="1200" dirty="0" err="1"/>
              <a:t>allow</a:t>
            </a:r>
            <a:r>
              <a:rPr lang="ko-KR" altLang="en-US" sz="1200" dirty="0"/>
              <a:t> </a:t>
            </a:r>
            <a:r>
              <a:rPr lang="ko-KR" altLang="en-US" sz="1200" dirty="0" err="1"/>
              <a:t>protocol</a:t>
            </a:r>
            <a:r>
              <a:rPr lang="ko-KR" altLang="en-US" sz="1200" dirty="0"/>
              <a:t>=TCP </a:t>
            </a:r>
            <a:r>
              <a:rPr lang="ko-KR" altLang="en-US" sz="1200" dirty="0" err="1"/>
              <a:t>localport</a:t>
            </a:r>
            <a:r>
              <a:rPr lang="ko-KR" altLang="en-US" sz="1200" dirty="0"/>
              <a:t>=5000</a:t>
            </a:r>
          </a:p>
          <a:p>
            <a:pPr algn="l"/>
            <a:endParaRPr lang="en-US" altLang="ko-KR" sz="1200" dirty="0"/>
          </a:p>
          <a:p>
            <a:pPr algn="l"/>
            <a:r>
              <a:rPr lang="ko-KR" altLang="en-US" sz="1200" dirty="0"/>
              <a:t>외부에서 접속 및 와이파이 모듈에서 </a:t>
            </a:r>
            <a:r>
              <a:rPr lang="en-US" altLang="ko-KR" sz="1200" dirty="0"/>
              <a:t>Flask</a:t>
            </a:r>
            <a:r>
              <a:rPr lang="ko-KR" altLang="en-US" sz="1200" dirty="0"/>
              <a:t>로의 </a:t>
            </a:r>
            <a:endParaRPr lang="en-US" altLang="ko-KR" sz="1200" dirty="0"/>
          </a:p>
          <a:p>
            <a:pPr algn="l"/>
            <a:r>
              <a:rPr lang="ko-KR" altLang="en-US" sz="1200" dirty="0"/>
              <a:t>접속을 위해 방화벽을 열어줘야 한다</a:t>
            </a:r>
            <a:r>
              <a:rPr lang="en-US" altLang="ko-KR" sz="1200" dirty="0"/>
              <a:t>.</a:t>
            </a:r>
            <a:endParaRPr lang="ko-KR" altLang="en-US" sz="1200" dirty="0"/>
          </a:p>
          <a:p>
            <a:pPr algn="l"/>
            <a:endParaRPr lang="ko-KR" altLang="en-US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4CA5E4-46D8-A532-4FAF-A651178C30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079373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A61F5-7B6F-2744-FD37-B96956AFB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E79A2A-A71F-3460-6FB0-81EA6EC2F7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B65C201-4CA7-6E17-10AD-1FB2583626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ko-KR" sz="1200" b="0" dirty="0"/>
              <a:t>Mac</a:t>
            </a:r>
            <a:r>
              <a:rPr lang="ko-KR" altLang="en-US" sz="1200" b="0" dirty="0"/>
              <a:t>이 </a:t>
            </a:r>
            <a:r>
              <a:rPr lang="en-US" altLang="ko-KR" sz="1200" b="0" dirty="0"/>
              <a:t>IP </a:t>
            </a:r>
            <a:r>
              <a:rPr lang="ko-KR" altLang="en-US" sz="1200" b="0" dirty="0"/>
              <a:t>확인</a:t>
            </a:r>
            <a:endParaRPr lang="en-US" altLang="ko-KR" sz="1200" b="0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0" dirty="0"/>
              <a:t>	</a:t>
            </a:r>
            <a:r>
              <a:rPr lang="en-US" altLang="ko-KR" b="0" dirty="0" err="1"/>
              <a:t>ifconfig</a:t>
            </a:r>
            <a:r>
              <a:rPr lang="en-US" altLang="ko-KR" b="0" dirty="0"/>
              <a:t> | grep "</a:t>
            </a:r>
            <a:r>
              <a:rPr lang="en-US" altLang="ko-KR" b="0" dirty="0" err="1"/>
              <a:t>inet</a:t>
            </a:r>
            <a:r>
              <a:rPr lang="en-US" altLang="ko-KR" b="0" dirty="0"/>
              <a:t> 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57B3BC-2A23-328A-8505-F8093FF08A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74767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B7C2D-1074-9021-4CF1-F65997849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B9E264-4BF1-5D79-4028-4D594CE2D5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15D53EE-743A-5ED3-36FE-1AFD323320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endParaRPr lang="en-US" altLang="ko-KR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F70D01-DE53-8066-18CB-087D30773B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661546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700D9-067F-36A8-03BE-2D385BD01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80A790-650A-3A95-7B7D-590B922B19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A06A48-03F2-2937-8A93-AB1B94DF0F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endParaRPr lang="en-US" altLang="ko-KR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6F162A-930F-3867-5942-D5E15B585B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624910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D33F6-794A-6CC0-C4EB-3254AF557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E774FB1-D309-90D0-8C3E-F3555526F3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560F57C-3D20-5EF7-E224-97ED56BB9B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endParaRPr lang="en-US" altLang="ko-KR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B87EF8-6EA6-A856-6163-FDECF63099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68320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755337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481929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BAD0E-24AE-E748-8E5D-230690674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A70F63C-8D13-ACC6-BD6F-F8EFC6FE9B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951C008-948B-BF31-F31D-B26EFF4CC8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5AEE42-74CF-EB3B-972C-9B2A5F6865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966487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B2C28-5D25-1A56-9186-A42F5F279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C607720-7889-A5DF-0E11-38501D647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22099B-640B-D478-0AC5-26FD8A35EC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EEDC84-2A18-29C9-4D97-98939FEF10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146557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5ED5A-37D5-3F03-5631-6692691FC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D08B541-EC96-DB18-444A-22399C7518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D6AB9C9-131B-EA75-8C96-57F5F561AB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262234-0EE5-4FEE-1905-12C666E3EC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339046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A7073-0D79-9568-8EE8-DF979990C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EA2C793-FED5-17ED-DFF0-C3D139F675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2A771B8-57DF-4FD4-31FC-07985B4FBD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E7BE5D-CE7B-94D0-2702-E0AD6C46FD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804726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E536E-4A4A-ACDF-2FC5-116240112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97954A-FC66-D522-7BBC-5E496F028D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9DF322C-72BE-D4C6-57C2-5D7FB38B66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61AEDE-2D6B-7A39-4910-9C9A4FE439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6010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32E75-1712-AF86-D047-373F673DF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446D528-F126-F28E-6E8F-2EEF0302E7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2D30053-259B-100C-07EF-9D9CAABC2B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148836-18B5-9DFB-BAC8-7FFC025428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043645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F5F53-93E4-6455-F6C5-77311B9FD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417932C-DA35-8D69-3043-04E11BC6C4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D261F7A-6DAB-E4AC-CC3C-3A1E00077D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EBB688-4412-85D3-E6C4-D6823474F0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58581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633B4-640C-A29A-38EF-8473A75E8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413649-1A6E-906B-D3C9-9F46B55CAF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9C43F06-A623-AABF-9071-5E05E0825E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8CA9E5-613B-FEB0-27C6-B928044465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580915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45D07-4970-747D-B3C1-226167C38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7ECFC2-DDF5-4CD5-5B83-7D5908CB3C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80D1C1-3F18-4090-E1A7-00908D21BC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endParaRPr lang="en-US" altLang="ko-KR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4AD50D-0138-5689-3F03-AD30A767BC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81850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363AF495-5D7E-D543-8293-A330C0279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F0A9264D-0D91-1C47-F467-5413B437A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EBF2-68F7-4F19-A749-6831437CAE65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F32C6696-EE0A-BC2D-7063-70F289365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588913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460" y="224276"/>
            <a:ext cx="10515600" cy="1325563"/>
          </a:xfrm>
        </p:spPr>
        <p:txBody>
          <a:bodyPr>
            <a:normAutofit/>
          </a:bodyPr>
          <a:lstStyle>
            <a:lvl1pPr>
              <a:defRPr sz="4800"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851400"/>
          </a:xfrm>
        </p:spPr>
        <p:txBody>
          <a:bodyPr/>
          <a:lstStyle>
            <a:lvl1pPr>
              <a:lnSpc>
                <a:spcPct val="120000"/>
              </a:lnSpc>
              <a:defRPr sz="2400"/>
            </a:lvl1pPr>
            <a:lvl2pPr>
              <a:lnSpc>
                <a:spcPct val="120000"/>
              </a:lnSpc>
              <a:defRPr sz="2000"/>
            </a:lvl2pPr>
            <a:lvl3pPr>
              <a:lnSpc>
                <a:spcPct val="120000"/>
              </a:lnSpc>
              <a:defRPr sz="1800"/>
            </a:lvl3pPr>
            <a:lvl4pPr>
              <a:lnSpc>
                <a:spcPct val="120000"/>
              </a:lnSpc>
              <a:defRPr sz="1600"/>
            </a:lvl4pPr>
            <a:lvl5pPr>
              <a:lnSpc>
                <a:spcPct val="120000"/>
              </a:lnSpc>
              <a:defRPr sz="16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897DBF-398C-9DB6-E916-35AB4FE2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5B8D2-7CD5-9B15-8E13-87FF760E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3132" y="646168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fld id="{083A2CE0-18CD-4102-B738-4ACFF9E68B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2800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>
          <a:xfrm>
            <a:off x="9203132" y="6460503"/>
            <a:ext cx="2743200" cy="365125"/>
          </a:xfrm>
          <a:prstGeom prst="rect">
            <a:avLst/>
          </a:prstGeom>
        </p:spPr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2652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F06F24-622A-4AA1-9EE9-61C4C87F1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D00FB5B-CBB9-D05F-2D4C-35F2E2778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CFD3D05-2043-7424-C7F9-3D759F9AA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65429-C731-4E12-954F-54C9E5190F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361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A4579422-9426-9FEC-70F2-16B5A9ADED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0E2B5B01-93B1-9ADC-F3DF-2B340E54EC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3132" y="645994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36EBF2-68F7-4F19-A749-6831437CAE65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CF3BE842-C521-0C8F-A4B5-11422EB6C247}"/>
              </a:ext>
            </a:extLst>
          </p:cNvPr>
          <p:cNvSpPr txBox="1">
            <a:spLocks/>
          </p:cNvSpPr>
          <p:nvPr userDrawn="1"/>
        </p:nvSpPr>
        <p:spPr>
          <a:xfrm>
            <a:off x="10555576" y="218354"/>
            <a:ext cx="293806" cy="321897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defRPr>
            </a:lvl1pPr>
          </a:lstStyle>
          <a:p>
            <a:r>
              <a:rPr lang="en-US" altLang="ko-KR" sz="2400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sz="2400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2BDCCE0A-8512-9AD3-FCFE-854EDADA9794}"/>
              </a:ext>
            </a:extLst>
          </p:cNvPr>
          <p:cNvGrpSpPr/>
          <p:nvPr userDrawn="1"/>
        </p:nvGrpSpPr>
        <p:grpSpPr>
          <a:xfrm>
            <a:off x="9299385" y="287928"/>
            <a:ext cx="2646947" cy="325258"/>
            <a:chOff x="22849643" y="-4470425"/>
            <a:chExt cx="7688784" cy="944801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2AB111EE-FD1E-BC5A-5D1E-AC40300BC5A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41510" y="-4460662"/>
              <a:ext cx="2996917" cy="935038"/>
            </a:xfrm>
            <a:prstGeom prst="rect">
              <a:avLst/>
            </a:prstGeom>
          </p:spPr>
        </p:pic>
        <p:pic>
          <p:nvPicPr>
            <p:cNvPr id="9" name="그림 8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71F583FB-0B92-1510-CF5E-6C92F79050E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49643" y="-4470425"/>
              <a:ext cx="3459479" cy="7449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55190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0" r:id="rId4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4049" y="3037564"/>
            <a:ext cx="10243899" cy="2028316"/>
          </a:xfrm>
        </p:spPr>
        <p:txBody>
          <a:bodyPr wrap="square">
            <a:noAutofit/>
          </a:bodyPr>
          <a:lstStyle/>
          <a:p>
            <a:r>
              <a:rPr lang="ko-KR" altLang="en-US" sz="4800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endParaRPr lang="en-US" altLang="ko-KR" sz="4800" b="1" dirty="0">
              <a:solidFill>
                <a:srgbClr val="2B2B2B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SemiBold" panose="02000703000000020004" pitchFamily="2" charset="-127"/>
            </a:endParaRPr>
          </a:p>
          <a:p>
            <a:r>
              <a:rPr lang="en-US" altLang="ko-KR" sz="4800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sz="4800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 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1324" y="1985210"/>
            <a:ext cx="4069351" cy="614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64918-0770-70C9-77E4-1DC637E6A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882005-66EF-CFFC-AE74-BB96987C6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태양광 패널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65F5FF-BA61-4715-5439-EFE2A97979B6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FE00FF03-7862-5E1C-8F96-8762AB6CB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3760" y="1549839"/>
            <a:ext cx="5861280" cy="4627123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햇빛을 받아 직류</a:t>
            </a:r>
            <a:r>
              <a:rPr lang="en-US" altLang="ko-KR" sz="2000" dirty="0"/>
              <a:t>(DC) </a:t>
            </a:r>
            <a:r>
              <a:rPr lang="ko-KR" altLang="en-US" sz="2000" dirty="0"/>
              <a:t>전기로 변환하는 부품</a:t>
            </a:r>
            <a:endParaRPr lang="en-US" altLang="ko-KR" sz="2000" dirty="0"/>
          </a:p>
          <a:p>
            <a:r>
              <a:rPr lang="ko-KR" altLang="en-US" sz="2000" dirty="0" err="1"/>
              <a:t>광전</a:t>
            </a:r>
            <a:r>
              <a:rPr lang="ko-KR" altLang="en-US" sz="2000" dirty="0"/>
              <a:t> 효과를 이용하며</a:t>
            </a:r>
            <a:r>
              <a:rPr lang="en-US" altLang="ko-KR" sz="2000" dirty="0"/>
              <a:t>, </a:t>
            </a:r>
            <a:r>
              <a:rPr lang="ko-KR" altLang="en-US" sz="2000" dirty="0"/>
              <a:t>여러 개의 태양 전지로 이루어져 있다</a:t>
            </a:r>
            <a:r>
              <a:rPr lang="en-US" altLang="ko-KR" sz="2000" dirty="0"/>
              <a:t>.</a:t>
            </a:r>
          </a:p>
        </p:txBody>
      </p:sp>
      <p:pic>
        <p:nvPicPr>
          <p:cNvPr id="1026" name="Picture 2" descr="G52 5V 200mA 1W 태양전지판 아두이노 실험 교재 키트 - 싸이피아">
            <a:extLst>
              <a:ext uri="{FF2B5EF4-FFF2-40B4-BE49-F238E27FC236}">
                <a16:creationId xmlns:a16="http://schemas.microsoft.com/office/drawing/2014/main" id="{A0EEEF27-C872-102B-48A3-FD6DE5230F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525"/>
          <a:stretch>
            <a:fillRect/>
          </a:stretch>
        </p:blipFill>
        <p:spPr bwMode="auto">
          <a:xfrm>
            <a:off x="536460" y="1549839"/>
            <a:ext cx="4762500" cy="3975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375660-9DED-4AEC-4149-83315C59C421}"/>
              </a:ext>
            </a:extLst>
          </p:cNvPr>
          <p:cNvSpPr txBox="1">
            <a:spLocks/>
          </p:cNvSpPr>
          <p:nvPr/>
        </p:nvSpPr>
        <p:spPr>
          <a:xfrm>
            <a:off x="7364681" y="3135590"/>
            <a:ext cx="4100359" cy="8040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400" dirty="0"/>
              <a:t>※ </a:t>
            </a:r>
            <a:r>
              <a:rPr lang="ko-KR" altLang="en-US" sz="1400" dirty="0" err="1"/>
              <a:t>광전</a:t>
            </a:r>
            <a:r>
              <a:rPr lang="ko-KR" altLang="en-US" sz="1400" dirty="0"/>
              <a:t> </a:t>
            </a:r>
            <a:r>
              <a:rPr lang="ko-KR" altLang="en-US" sz="1400" dirty="0" err="1"/>
              <a:t>효과란</a:t>
            </a:r>
            <a:r>
              <a:rPr lang="en-US" altLang="ko-KR" sz="1400" dirty="0"/>
              <a:t>?</a:t>
            </a:r>
          </a:p>
          <a:p>
            <a:pPr marL="0" indent="0">
              <a:buNone/>
            </a:pPr>
            <a:r>
              <a:rPr lang="ko-KR" altLang="en-US" sz="1400" dirty="0"/>
              <a:t>금속 등의 물질이 빛에 쪼이면 전자를 내놓는 현상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372132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705646-5EB3-CECB-110A-29B75A0DA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pic>
        <p:nvPicPr>
          <p:cNvPr id="7" name="Picture 2" descr="G52 5V 200mA 1W 태양전지판 아두이노 실험 교재 키트 - 싸이피아">
            <a:extLst>
              <a:ext uri="{FF2B5EF4-FFF2-40B4-BE49-F238E27FC236}">
                <a16:creationId xmlns:a16="http://schemas.microsoft.com/office/drawing/2014/main" id="{7463FFB5-D7F2-9152-0361-5EDEC8C863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525"/>
          <a:stretch>
            <a:fillRect/>
          </a:stretch>
        </p:blipFill>
        <p:spPr bwMode="auto">
          <a:xfrm>
            <a:off x="1261489" y="2730526"/>
            <a:ext cx="3612113" cy="3015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2D6111F-6F19-424C-A224-6B8965F7C6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497749">
            <a:off x="4189217" y="3900420"/>
            <a:ext cx="3029495" cy="2049364"/>
          </a:xfrm>
          <a:prstGeom prst="rect">
            <a:avLst/>
          </a:prstGeom>
        </p:spPr>
      </p:pic>
      <p:pic>
        <p:nvPicPr>
          <p:cNvPr id="1026" name="Picture 2" descr="해 - 무료 날씨개 아이콘">
            <a:extLst>
              <a:ext uri="{FF2B5EF4-FFF2-40B4-BE49-F238E27FC236}">
                <a16:creationId xmlns:a16="http://schemas.microsoft.com/office/drawing/2014/main" id="{48B0AD7F-00EC-9C1E-2D39-632C1037E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602" y="1386444"/>
            <a:ext cx="2042556" cy="2042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화살표: 아래쪽 8">
            <a:extLst>
              <a:ext uri="{FF2B5EF4-FFF2-40B4-BE49-F238E27FC236}">
                <a16:creationId xmlns:a16="http://schemas.microsoft.com/office/drawing/2014/main" id="{BF797560-9384-D8EC-9BA1-95A325EC5817}"/>
              </a:ext>
            </a:extLst>
          </p:cNvPr>
          <p:cNvSpPr/>
          <p:nvPr/>
        </p:nvSpPr>
        <p:spPr>
          <a:xfrm rot="4347590">
            <a:off x="3450119" y="2064685"/>
            <a:ext cx="585597" cy="2210963"/>
          </a:xfrm>
          <a:prstGeom prst="downArrow">
            <a:avLst/>
          </a:prstGeom>
          <a:solidFill>
            <a:srgbClr val="FFAE35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81EAF56-F1DC-E66E-B422-CB892528A2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3106" y="1928275"/>
            <a:ext cx="3672123" cy="3708481"/>
          </a:xfrm>
          <a:prstGeom prst="rect">
            <a:avLst/>
          </a:prstGeom>
        </p:spPr>
      </p:pic>
      <p:sp>
        <p:nvSpPr>
          <p:cNvPr id="10" name="제목 1">
            <a:extLst>
              <a:ext uri="{FF2B5EF4-FFF2-40B4-BE49-F238E27FC236}">
                <a16:creationId xmlns:a16="http://schemas.microsoft.com/office/drawing/2014/main" id="{AF6C8C08-4D42-3E83-B11A-BBEF1108F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460" y="224276"/>
            <a:ext cx="10515600" cy="1325563"/>
          </a:xfrm>
        </p:spPr>
        <p:txBody>
          <a:bodyPr/>
          <a:lstStyle/>
          <a:p>
            <a:r>
              <a:rPr lang="ko-KR" altLang="en-US" dirty="0"/>
              <a:t>태양광 패널 실습</a:t>
            </a:r>
          </a:p>
        </p:txBody>
      </p:sp>
    </p:spTree>
    <p:extLst>
      <p:ext uri="{BB962C8B-B14F-4D97-AF65-F5344CB8AC3E}">
        <p14:creationId xmlns:p14="http://schemas.microsoft.com/office/powerpoint/2010/main" val="1676128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AC403-510B-BE9C-B1F3-EE4F24345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81F832-041A-DA3A-5A26-F7B4A23D1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태양광 패널 실습 </a:t>
            </a:r>
            <a:r>
              <a:rPr lang="en-US" altLang="ko-KR" dirty="0"/>
              <a:t>Quiz</a:t>
            </a:r>
            <a:endParaRPr lang="ko-KR" altLang="en-US" dirty="0"/>
          </a:p>
        </p:txBody>
      </p:sp>
      <p:sp>
        <p:nvSpPr>
          <p:cNvPr id="5" name="내용 개체 틀 5">
            <a:extLst>
              <a:ext uri="{FF2B5EF4-FFF2-40B4-BE49-F238E27FC236}">
                <a16:creationId xmlns:a16="http://schemas.microsoft.com/office/drawing/2014/main" id="{4538F2DD-2840-B570-FA70-BE07ED48F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39"/>
            <a:ext cx="10515600" cy="4627124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태양광 패널을 통해 전원을 공급받은 후</a:t>
            </a:r>
            <a:r>
              <a:rPr lang="en-US" altLang="ko-KR" dirty="0"/>
              <a:t>, LED 2</a:t>
            </a:r>
            <a:r>
              <a:rPr lang="ko-KR" altLang="en-US" dirty="0"/>
              <a:t>개를 </a:t>
            </a:r>
            <a:r>
              <a:rPr lang="ko-KR" altLang="en-US" dirty="0" err="1"/>
              <a:t>켜시오</a:t>
            </a:r>
            <a:r>
              <a:rPr lang="en-US" altLang="ko-KR" dirty="0"/>
              <a:t>.</a:t>
            </a:r>
          </a:p>
        </p:txBody>
      </p:sp>
      <p:pic>
        <p:nvPicPr>
          <p:cNvPr id="4" name="Picture 2" descr="아두이노]Breadboard Jumper Cables(20P-SET) 점퍼 케이블 (M1000006992)">
            <a:extLst>
              <a:ext uri="{FF2B5EF4-FFF2-40B4-BE49-F238E27FC236}">
                <a16:creationId xmlns:a16="http://schemas.microsoft.com/office/drawing/2014/main" id="{7C334408-BC2C-74DD-0A9B-848CA54070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541" y="4324888"/>
            <a:ext cx="1940813" cy="1940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ED54D7F-F36C-2708-957C-49E139DB91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1902" y="2704225"/>
            <a:ext cx="1619476" cy="109552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72F320F-B20D-258F-6BA0-60B157243C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5578" y="2672215"/>
            <a:ext cx="2522922" cy="9590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7E3A299-C3E7-DF93-563E-5F69B3576D1C}"/>
              </a:ext>
            </a:extLst>
          </p:cNvPr>
          <p:cNvSpPr txBox="1"/>
          <p:nvPr/>
        </p:nvSpPr>
        <p:spPr>
          <a:xfrm>
            <a:off x="7846273" y="3955556"/>
            <a:ext cx="1661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브레드</a:t>
            </a:r>
            <a:r>
              <a:rPr lang="ko-KR" altLang="en-US" dirty="0"/>
              <a:t> 보드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1962C1-EB2E-14E9-C60A-A5A480E3B2E2}"/>
              </a:ext>
            </a:extLst>
          </p:cNvPr>
          <p:cNvSpPr txBox="1"/>
          <p:nvPr/>
        </p:nvSpPr>
        <p:spPr>
          <a:xfrm>
            <a:off x="6369181" y="6092354"/>
            <a:ext cx="1661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점퍼 케이블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7703DE-5A17-3BD5-0288-73243A0F4066}"/>
              </a:ext>
            </a:extLst>
          </p:cNvPr>
          <p:cNvSpPr txBox="1"/>
          <p:nvPr/>
        </p:nvSpPr>
        <p:spPr>
          <a:xfrm>
            <a:off x="2042044" y="3959685"/>
            <a:ext cx="2222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아두이노</a:t>
            </a:r>
            <a:r>
              <a:rPr lang="ko-KR" altLang="en-US" dirty="0"/>
              <a:t> 호환보드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893316-F962-F9E4-AD21-8A32405D0025}"/>
              </a:ext>
            </a:extLst>
          </p:cNvPr>
          <p:cNvSpPr txBox="1"/>
          <p:nvPr/>
        </p:nvSpPr>
        <p:spPr>
          <a:xfrm>
            <a:off x="3649457" y="6088580"/>
            <a:ext cx="1619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LED</a:t>
            </a:r>
            <a:endParaRPr lang="ko-KR" altLang="en-US" dirty="0"/>
          </a:p>
        </p:txBody>
      </p:sp>
      <p:pic>
        <p:nvPicPr>
          <p:cNvPr id="16" name="Picture 2" descr="4 LED 5개 색상랜덤 아두이노 베스트 부품">
            <a:extLst>
              <a:ext uri="{FF2B5EF4-FFF2-40B4-BE49-F238E27FC236}">
                <a16:creationId xmlns:a16="http://schemas.microsoft.com/office/drawing/2014/main" id="{3A866A88-898D-FE34-877A-4C53B71A20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73" t="25571" r="71768" b="12666"/>
          <a:stretch>
            <a:fillRect/>
          </a:stretch>
        </p:blipFill>
        <p:spPr bwMode="auto">
          <a:xfrm>
            <a:off x="4206868" y="4644051"/>
            <a:ext cx="431534" cy="1436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F71DDB0-BB1A-F7C6-C213-3E63FE4EA180}"/>
              </a:ext>
            </a:extLst>
          </p:cNvPr>
          <p:cNvSpPr txBox="1"/>
          <p:nvPr/>
        </p:nvSpPr>
        <p:spPr>
          <a:xfrm>
            <a:off x="4798165" y="3951278"/>
            <a:ext cx="2222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태양광 패널</a:t>
            </a:r>
          </a:p>
        </p:txBody>
      </p:sp>
      <p:pic>
        <p:nvPicPr>
          <p:cNvPr id="21" name="Picture 2" descr="G52 5V 200mA 1W 태양전지판 아두이노 실험 교재 키트 - 싸이피아">
            <a:extLst>
              <a:ext uri="{FF2B5EF4-FFF2-40B4-BE49-F238E27FC236}">
                <a16:creationId xmlns:a16="http://schemas.microsoft.com/office/drawing/2014/main" id="{7463FFB5-D7F2-9152-0361-5EDEC8C863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525"/>
          <a:stretch>
            <a:fillRect/>
          </a:stretch>
        </p:blipFill>
        <p:spPr bwMode="auto">
          <a:xfrm>
            <a:off x="5203697" y="2352092"/>
            <a:ext cx="1784606" cy="1489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6040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23048-0E7C-81F4-EDB2-C26A68B69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1CA3F3-BC8A-9ED6-91C7-E8F88E103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279" y="195305"/>
            <a:ext cx="10515600" cy="1325563"/>
          </a:xfrm>
        </p:spPr>
        <p:txBody>
          <a:bodyPr/>
          <a:lstStyle/>
          <a:p>
            <a:r>
              <a:rPr lang="ko-KR" altLang="en-US" dirty="0"/>
              <a:t>태양광 패널로 베터리 충전하기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CD53B4-2E10-EFC9-242E-AE22A0A91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7" name="내용 개체 틀 5">
            <a:extLst>
              <a:ext uri="{FF2B5EF4-FFF2-40B4-BE49-F238E27FC236}">
                <a16:creationId xmlns:a16="http://schemas.microsoft.com/office/drawing/2014/main" id="{6F5F1D67-538B-EC24-96FC-E3C038EE0911}"/>
              </a:ext>
            </a:extLst>
          </p:cNvPr>
          <p:cNvSpPr txBox="1">
            <a:spLocks/>
          </p:cNvSpPr>
          <p:nvPr/>
        </p:nvSpPr>
        <p:spPr>
          <a:xfrm>
            <a:off x="838200" y="5448299"/>
            <a:ext cx="10515600" cy="728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ko-KR" altLang="en-US" dirty="0"/>
          </a:p>
        </p:txBody>
      </p:sp>
      <p:pic>
        <p:nvPicPr>
          <p:cNvPr id="2054" name="Picture 6" descr="아두이노 태양광패널 (5.5V 160mA)-모바일 11번가">
            <a:extLst>
              <a:ext uri="{FF2B5EF4-FFF2-40B4-BE49-F238E27FC236}">
                <a16:creationId xmlns:a16="http://schemas.microsoft.com/office/drawing/2014/main" id="{A28B7158-23FD-9FC4-0296-6863DE13D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536460" y="1345847"/>
            <a:ext cx="3960681" cy="3960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3A65235-A4DB-15B3-AD4D-DB1F243968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5100403" y="2476739"/>
            <a:ext cx="2204949" cy="1698895"/>
          </a:xfrm>
          <a:prstGeom prst="rect">
            <a:avLst/>
          </a:prstGeom>
        </p:spPr>
      </p:pic>
      <p:pic>
        <p:nvPicPr>
          <p:cNvPr id="2056" name="Picture 8" descr="리튬폴리머 배터리 3.7V, 3000mAh, KC인증 : 리튬전지 &gt; 파워/전원">
            <a:extLst>
              <a:ext uri="{FF2B5EF4-FFF2-40B4-BE49-F238E27FC236}">
                <a16:creationId xmlns:a16="http://schemas.microsoft.com/office/drawing/2014/main" id="{960413FD-9749-A63D-91F0-AD839FA8CE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9794" y="2036922"/>
            <a:ext cx="2395137" cy="2395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8638A65-4463-3CB1-CAAC-DBEA4E867FA2}"/>
              </a:ext>
            </a:extLst>
          </p:cNvPr>
          <p:cNvCxnSpPr>
            <a:cxnSpLocks/>
          </p:cNvCxnSpPr>
          <p:nvPr/>
        </p:nvCxnSpPr>
        <p:spPr>
          <a:xfrm>
            <a:off x="3650620" y="2819982"/>
            <a:ext cx="1619395" cy="252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064B1D86-6C1B-D1F4-D722-1B5156B3E732}"/>
              </a:ext>
            </a:extLst>
          </p:cNvPr>
          <p:cNvCxnSpPr>
            <a:cxnSpLocks/>
          </p:cNvCxnSpPr>
          <p:nvPr/>
        </p:nvCxnSpPr>
        <p:spPr>
          <a:xfrm>
            <a:off x="7029014" y="2819982"/>
            <a:ext cx="1717117" cy="11085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04C36E5C-41C7-641F-3809-127B67DFAB2A}"/>
              </a:ext>
            </a:extLst>
          </p:cNvPr>
          <p:cNvCxnSpPr/>
          <p:nvPr/>
        </p:nvCxnSpPr>
        <p:spPr>
          <a:xfrm flipV="1">
            <a:off x="3601203" y="3797203"/>
            <a:ext cx="1857276" cy="8376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1E972B3D-1A34-421A-1E93-CCDE31B6EF8C}"/>
              </a:ext>
            </a:extLst>
          </p:cNvPr>
          <p:cNvCxnSpPr>
            <a:cxnSpLocks/>
          </p:cNvCxnSpPr>
          <p:nvPr/>
        </p:nvCxnSpPr>
        <p:spPr>
          <a:xfrm flipV="1">
            <a:off x="6973173" y="3749404"/>
            <a:ext cx="1717117" cy="13156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E1D25B0-94D5-C998-4DDA-FC691C0B650A}"/>
              </a:ext>
            </a:extLst>
          </p:cNvPr>
          <p:cNvSpPr txBox="1"/>
          <p:nvPr/>
        </p:nvSpPr>
        <p:spPr>
          <a:xfrm>
            <a:off x="4322893" y="2255768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dirty="0">
                <a:solidFill>
                  <a:srgbClr val="FF0000"/>
                </a:solidFill>
              </a:rPr>
              <a:t>+</a:t>
            </a:r>
            <a:endParaRPr lang="ko-KR" altLang="en-US" sz="3600" dirty="0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3EFD14A-73E6-7520-CB2A-8A8DE0B3950F}"/>
              </a:ext>
            </a:extLst>
          </p:cNvPr>
          <p:cNvSpPr txBox="1"/>
          <p:nvPr/>
        </p:nvSpPr>
        <p:spPr>
          <a:xfrm>
            <a:off x="4395928" y="3245343"/>
            <a:ext cx="5723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/>
              <a:t>-</a:t>
            </a:r>
            <a:endParaRPr lang="ko-KR" altLang="en-US" sz="3600" dirty="0"/>
          </a:p>
        </p:txBody>
      </p:sp>
      <p:sp>
        <p:nvSpPr>
          <p:cNvPr id="22" name="내용 개체 틀 5">
            <a:extLst>
              <a:ext uri="{FF2B5EF4-FFF2-40B4-BE49-F238E27FC236}">
                <a16:creationId xmlns:a16="http://schemas.microsoft.com/office/drawing/2014/main" id="{D020AE58-9AC1-7326-1424-C8D492329294}"/>
              </a:ext>
            </a:extLst>
          </p:cNvPr>
          <p:cNvSpPr txBox="1">
            <a:spLocks/>
          </p:cNvSpPr>
          <p:nvPr/>
        </p:nvSpPr>
        <p:spPr>
          <a:xfrm>
            <a:off x="990600" y="5600699"/>
            <a:ext cx="10515600" cy="728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dirty="0" err="1"/>
              <a:t>납뗌</a:t>
            </a:r>
            <a:r>
              <a:rPr lang="ko-KR" altLang="en-US" dirty="0"/>
              <a:t> 후 결선</a:t>
            </a:r>
            <a:r>
              <a:rPr lang="en-US" altLang="ko-KR" dirty="0"/>
              <a:t>(+, - </a:t>
            </a:r>
            <a:r>
              <a:rPr lang="ko-KR" altLang="en-US" dirty="0"/>
              <a:t>극성 주의</a:t>
            </a:r>
            <a:r>
              <a:rPr lang="en-US" altLang="ko-KR" dirty="0"/>
              <a:t>, </a:t>
            </a:r>
            <a:r>
              <a:rPr lang="ko-KR" altLang="en-US" dirty="0"/>
              <a:t>전압 확인</a:t>
            </a:r>
            <a:r>
              <a:rPr lang="en-US" altLang="ko-KR" dirty="0"/>
              <a:t>!!)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70481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23048-0E7C-81F4-EDB2-C26A68B69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1CA3F3-BC8A-9ED6-91C7-E8F88E103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279" y="195305"/>
            <a:ext cx="10515600" cy="1325563"/>
          </a:xfrm>
        </p:spPr>
        <p:txBody>
          <a:bodyPr/>
          <a:lstStyle/>
          <a:p>
            <a:r>
              <a:rPr lang="ko-KR" altLang="en-US" dirty="0"/>
              <a:t>태양광 패널로 베터리 충전하기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CD53B4-2E10-EFC9-242E-AE22A0A91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7" name="내용 개체 틀 5">
            <a:extLst>
              <a:ext uri="{FF2B5EF4-FFF2-40B4-BE49-F238E27FC236}">
                <a16:creationId xmlns:a16="http://schemas.microsoft.com/office/drawing/2014/main" id="{6F5F1D67-538B-EC24-96FC-E3C038EE0911}"/>
              </a:ext>
            </a:extLst>
          </p:cNvPr>
          <p:cNvSpPr txBox="1">
            <a:spLocks/>
          </p:cNvSpPr>
          <p:nvPr/>
        </p:nvSpPr>
        <p:spPr>
          <a:xfrm>
            <a:off x="838200" y="5448299"/>
            <a:ext cx="10515600" cy="728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22" t="26009" r="31613" b="24385"/>
          <a:stretch/>
        </p:blipFill>
        <p:spPr>
          <a:xfrm rot="5400000">
            <a:off x="634345" y="1674855"/>
            <a:ext cx="4553562" cy="4450652"/>
          </a:xfrm>
          <a:prstGeom prst="rect">
            <a:avLst/>
          </a:prstGeom>
        </p:spPr>
      </p:pic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F3BE0895-9CC5-CA4E-0455-1FDCB1215E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4090154"/>
              </p:ext>
            </p:extLst>
          </p:nvPr>
        </p:nvGraphicFramePr>
        <p:xfrm>
          <a:off x="5784586" y="2325988"/>
          <a:ext cx="5569214" cy="2415824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2430266">
                  <a:extLst>
                    <a:ext uri="{9D8B030D-6E8A-4147-A177-3AD203B41FA5}">
                      <a16:colId xmlns:a16="http://schemas.microsoft.com/office/drawing/2014/main" val="778410855"/>
                    </a:ext>
                  </a:extLst>
                </a:gridCol>
                <a:gridCol w="3138948">
                  <a:extLst>
                    <a:ext uri="{9D8B030D-6E8A-4147-A177-3AD203B41FA5}">
                      <a16:colId xmlns:a16="http://schemas.microsoft.com/office/drawing/2014/main" val="2844750320"/>
                    </a:ext>
                  </a:extLst>
                </a:gridCol>
              </a:tblGrid>
              <a:tr h="603956"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/>
                        <a:t>LED</a:t>
                      </a:r>
                      <a:r>
                        <a:rPr lang="en-US" altLang="ko-KR" baseline="0" dirty="0"/>
                        <a:t> </a:t>
                      </a:r>
                      <a:r>
                        <a:rPr lang="ko-KR" altLang="en-US" baseline="0" dirty="0"/>
                        <a:t>상태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의미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3514045"/>
                  </a:ext>
                </a:extLst>
              </a:tr>
              <a:tr h="603956"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 err="1"/>
                        <a:t>빨간불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충전 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3567233"/>
                  </a:ext>
                </a:extLst>
              </a:tr>
              <a:tr h="603956"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 err="1"/>
                        <a:t>파란불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충전 완료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 err="1"/>
                        <a:t>전류차단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1988941"/>
                  </a:ext>
                </a:extLst>
              </a:tr>
              <a:tr h="603956"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전원 자체가 연결되지 않음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67445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1152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23048-0E7C-81F4-EDB2-C26A68B69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1CA3F3-BC8A-9ED6-91C7-E8F88E103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279" y="195305"/>
            <a:ext cx="10515600" cy="1325563"/>
          </a:xfrm>
        </p:spPr>
        <p:txBody>
          <a:bodyPr/>
          <a:lstStyle/>
          <a:p>
            <a:r>
              <a:rPr lang="ko-KR" altLang="en-US" dirty="0"/>
              <a:t>주의할 점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CD53B4-2E10-EFC9-242E-AE22A0A91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7" name="내용 개체 틀 5">
            <a:extLst>
              <a:ext uri="{FF2B5EF4-FFF2-40B4-BE49-F238E27FC236}">
                <a16:creationId xmlns:a16="http://schemas.microsoft.com/office/drawing/2014/main" id="{6F5F1D67-538B-EC24-96FC-E3C038EE0911}"/>
              </a:ext>
            </a:extLst>
          </p:cNvPr>
          <p:cNvSpPr txBox="1">
            <a:spLocks/>
          </p:cNvSpPr>
          <p:nvPr/>
        </p:nvSpPr>
        <p:spPr>
          <a:xfrm>
            <a:off x="838200" y="5448299"/>
            <a:ext cx="10515600" cy="728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ko-KR" altLang="en-US" dirty="0"/>
          </a:p>
        </p:txBody>
      </p:sp>
      <p:pic>
        <p:nvPicPr>
          <p:cNvPr id="8" name="Picture 8" descr="리튬폴리머 배터리 3.7V, 3000mAh, KC인증 : 리튬전지 &gt; 파워/전원">
            <a:extLst>
              <a:ext uri="{FF2B5EF4-FFF2-40B4-BE49-F238E27FC236}">
                <a16:creationId xmlns:a16="http://schemas.microsoft.com/office/drawing/2014/main" id="{960413FD-9749-A63D-91F0-AD839FA8CE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97" t="18848" r="22399" b="17314"/>
          <a:stretch/>
        </p:blipFill>
        <p:spPr bwMode="auto">
          <a:xfrm>
            <a:off x="1349115" y="1958103"/>
            <a:ext cx="3182236" cy="3490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E00FF03-7862-5E1C-8F96-8762AB6CB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3760" y="1884556"/>
            <a:ext cx="5861280" cy="4292406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리튬 배터리의 경우</a:t>
            </a:r>
            <a:r>
              <a:rPr lang="en-US" altLang="ko-KR" sz="2000" dirty="0"/>
              <a:t>, </a:t>
            </a:r>
            <a:r>
              <a:rPr lang="ko-KR" altLang="en-US" sz="2000" dirty="0"/>
              <a:t>항상 </a:t>
            </a:r>
            <a:r>
              <a:rPr lang="en-US" altLang="ko-KR" sz="2000" dirty="0"/>
              <a:t>3.0 ~ 4.2V </a:t>
            </a:r>
            <a:r>
              <a:rPr lang="ko-KR" altLang="en-US" sz="2000" dirty="0"/>
              <a:t>사이에서 변하는 전원이다</a:t>
            </a:r>
            <a:r>
              <a:rPr lang="en-US" altLang="ko-KR" sz="2000" dirty="0"/>
              <a:t>.</a:t>
            </a:r>
          </a:p>
          <a:p>
            <a:r>
              <a:rPr lang="ko-KR" altLang="en-US" sz="2000" dirty="0"/>
              <a:t>즉</a:t>
            </a:r>
            <a:r>
              <a:rPr lang="en-US" altLang="ko-KR" sz="2000" dirty="0"/>
              <a:t>, 5V</a:t>
            </a:r>
            <a:r>
              <a:rPr lang="ko-KR" altLang="en-US" sz="2000" dirty="0"/>
              <a:t>보다 낮기 때문에 </a:t>
            </a:r>
            <a:r>
              <a:rPr lang="ko-KR" altLang="en-US" sz="2000" dirty="0" err="1"/>
              <a:t>아두이노</a:t>
            </a:r>
            <a:r>
              <a:rPr lang="ko-KR" altLang="en-US" sz="2000" dirty="0"/>
              <a:t> </a:t>
            </a:r>
            <a:r>
              <a:rPr lang="ko-KR" altLang="en-US" sz="2000" dirty="0" err="1"/>
              <a:t>우노</a:t>
            </a:r>
            <a:r>
              <a:rPr lang="ko-KR" altLang="en-US" sz="2000" dirty="0"/>
              <a:t> 보드에서 필요로 하는 전압</a:t>
            </a:r>
            <a:r>
              <a:rPr lang="en-US" altLang="ko-KR" sz="2000" dirty="0"/>
              <a:t>(5V)</a:t>
            </a:r>
            <a:r>
              <a:rPr lang="ko-KR" altLang="en-US" sz="2000" dirty="0"/>
              <a:t>을 직접 공급하지 못한다</a:t>
            </a:r>
            <a:r>
              <a:rPr lang="en-US" altLang="ko-KR" sz="2000" dirty="0"/>
              <a:t>.</a:t>
            </a:r>
          </a:p>
          <a:p>
            <a:r>
              <a:rPr lang="en-US" altLang="ko-KR" sz="2000" dirty="0"/>
              <a:t>3.7V</a:t>
            </a:r>
            <a:r>
              <a:rPr lang="ko-KR" altLang="en-US" sz="2000" dirty="0"/>
              <a:t>를 안정된 </a:t>
            </a:r>
            <a:r>
              <a:rPr lang="en-US" altLang="ko-KR" sz="2000" dirty="0"/>
              <a:t>5V</a:t>
            </a:r>
            <a:r>
              <a:rPr lang="ko-KR" altLang="en-US" sz="2000" dirty="0"/>
              <a:t>로 전압을 올려주는 </a:t>
            </a:r>
            <a:r>
              <a:rPr lang="ko-KR" altLang="en-US" sz="2000" dirty="0" err="1"/>
              <a:t>승압</a:t>
            </a:r>
            <a:r>
              <a:rPr lang="ko-KR" altLang="en-US" sz="2000" dirty="0"/>
              <a:t> 모듈</a:t>
            </a:r>
            <a:r>
              <a:rPr lang="en-US" altLang="ko-KR" sz="2000" dirty="0"/>
              <a:t>(ex. MT3608) </a:t>
            </a:r>
            <a:r>
              <a:rPr lang="ko-KR" altLang="en-US" sz="2000" dirty="0"/>
              <a:t>필요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826270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8493C7-920F-21CE-D53F-7F3805E6E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91268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ko-KR" altLang="en-US" sz="8000" dirty="0"/>
              <a:t>시리얼 통신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1E9578-C40E-2FBD-60D0-047406C6A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9BA8D70-91CA-E151-8BCD-8FBB9BB974F6}"/>
              </a:ext>
            </a:extLst>
          </p:cNvPr>
          <p:cNvSpPr/>
          <p:nvPr/>
        </p:nvSpPr>
        <p:spPr>
          <a:xfrm>
            <a:off x="3183896" y="4016831"/>
            <a:ext cx="5824207" cy="178600"/>
          </a:xfrm>
          <a:prstGeom prst="rect">
            <a:avLst/>
          </a:prstGeom>
          <a:solidFill>
            <a:srgbClr val="00FA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9076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2E238-3895-FB55-39D8-B6B919585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BBAAF4-E4AE-C4B4-65B3-1A9005419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시리얼 통신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E7257A-B13C-8AEC-E169-FB14E7C1C194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7A3A3A83-C0CD-F6FD-99D7-1FC1CE38C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3760" y="1884556"/>
            <a:ext cx="5861280" cy="4292406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컴퓨터와 데이터를 주고 받는 직렬 통신</a:t>
            </a:r>
            <a:endParaRPr lang="en-US" altLang="ko-KR" sz="2000" dirty="0"/>
          </a:p>
          <a:p>
            <a:r>
              <a:rPr lang="ko-KR" altLang="en-US" sz="2000" dirty="0"/>
              <a:t>연속적으로 통신 채널인 컴퓨터 버스를 통해 한 번에 하나의 비트 단위로 데이터를 전송하는 과정을 의미한다</a:t>
            </a:r>
            <a:r>
              <a:rPr lang="en-US" altLang="ko-KR" sz="2000" dirty="0"/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011D6C3-E59D-E0C2-61B0-37CA6B3706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344" y="4030759"/>
            <a:ext cx="3059036" cy="2069348"/>
          </a:xfrm>
          <a:prstGeom prst="rect">
            <a:avLst/>
          </a:prstGeom>
        </p:spPr>
      </p:pic>
      <p:pic>
        <p:nvPicPr>
          <p:cNvPr id="1028" name="Picture 4" descr="컴퓨터 일러스트 PNG, AI 무료 다운로드 (2023년) - 리틀딥">
            <a:extLst>
              <a:ext uri="{FF2B5EF4-FFF2-40B4-BE49-F238E27FC236}">
                <a16:creationId xmlns:a16="http://schemas.microsoft.com/office/drawing/2014/main" id="{C417710B-F061-7F8D-63E2-342E81934B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681" y="887057"/>
            <a:ext cx="3393338" cy="3393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DFA830FD-0942-EC24-D58C-369A2A779E91}"/>
              </a:ext>
            </a:extLst>
          </p:cNvPr>
          <p:cNvSpPr/>
          <p:nvPr/>
        </p:nvSpPr>
        <p:spPr>
          <a:xfrm rot="1023233">
            <a:off x="2889241" y="3795035"/>
            <a:ext cx="3052303" cy="30751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DC847A-6F59-2F03-73D0-A2DA5B187C16}"/>
              </a:ext>
            </a:extLst>
          </p:cNvPr>
          <p:cNvSpPr txBox="1"/>
          <p:nvPr/>
        </p:nvSpPr>
        <p:spPr>
          <a:xfrm>
            <a:off x="2894100" y="4488800"/>
            <a:ext cx="2222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Data</a:t>
            </a:r>
            <a:endParaRPr lang="ko-KR" altLang="en-US" dirty="0"/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F0829AFC-5D43-1969-6350-B82F7E1895E0}"/>
              </a:ext>
            </a:extLst>
          </p:cNvPr>
          <p:cNvSpPr/>
          <p:nvPr/>
        </p:nvSpPr>
        <p:spPr>
          <a:xfrm rot="11801678">
            <a:off x="2715059" y="4118684"/>
            <a:ext cx="3052303" cy="30751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8146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D2A82-FC58-BD4E-86DD-F2D6AA837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3F128C-9BB6-8E99-A3AC-4318B7462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시리얼 통신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6525FD-B0B7-C35A-BE52-C2566E15FE74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F3C94BBF-138D-6BDA-A1B1-E3D0C56E15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3760" y="1884556"/>
            <a:ext cx="5861280" cy="4292406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0</a:t>
            </a:r>
            <a:r>
              <a:rPr lang="ko-KR" altLang="en-US" sz="2000" dirty="0"/>
              <a:t>핀</a:t>
            </a:r>
            <a:r>
              <a:rPr lang="en-US" altLang="ko-KR" sz="2000" dirty="0"/>
              <a:t>(RX)</a:t>
            </a:r>
          </a:p>
          <a:p>
            <a:pPr lvl="1"/>
            <a:r>
              <a:rPr lang="en-US" altLang="ko-KR" sz="1600" dirty="0"/>
              <a:t>Receive Data</a:t>
            </a:r>
          </a:p>
          <a:p>
            <a:pPr lvl="1"/>
            <a:r>
              <a:rPr lang="ko-KR" altLang="en-US" sz="1600" dirty="0"/>
              <a:t>컴퓨터에서 보내는 신호를 받는 곳</a:t>
            </a:r>
            <a:endParaRPr lang="en-US" altLang="ko-KR" sz="1600" dirty="0"/>
          </a:p>
          <a:p>
            <a:r>
              <a:rPr lang="en-US" altLang="ko-KR" sz="2000" dirty="0"/>
              <a:t>1</a:t>
            </a:r>
            <a:r>
              <a:rPr lang="ko-KR" altLang="en-US" sz="2000" dirty="0"/>
              <a:t>핀</a:t>
            </a:r>
            <a:r>
              <a:rPr lang="en-US" altLang="ko-KR" sz="2000" dirty="0"/>
              <a:t>(TX)</a:t>
            </a:r>
          </a:p>
          <a:p>
            <a:pPr lvl="1"/>
            <a:r>
              <a:rPr lang="en-US" altLang="ko-KR" sz="1600" dirty="0"/>
              <a:t>Transit Data</a:t>
            </a:r>
          </a:p>
          <a:p>
            <a:pPr lvl="1"/>
            <a:r>
              <a:rPr lang="ko-KR" altLang="en-US" sz="1600" dirty="0"/>
              <a:t>컴퓨터로 신호를 보내는 곳</a:t>
            </a:r>
            <a:endParaRPr lang="en-US" altLang="ko-KR" sz="1600" dirty="0"/>
          </a:p>
        </p:txBody>
      </p:sp>
      <p:pic>
        <p:nvPicPr>
          <p:cNvPr id="2050" name="Picture 2" descr="아두이노 실습 준비과정 | 싸이피아SCIPIA">
            <a:extLst>
              <a:ext uri="{FF2B5EF4-FFF2-40B4-BE49-F238E27FC236}">
                <a16:creationId xmlns:a16="http://schemas.microsoft.com/office/drawing/2014/main" id="{212B0A26-F5C1-E281-F2B8-91BBC796E6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18" t="10542" r="22503" b="24254"/>
          <a:stretch>
            <a:fillRect/>
          </a:stretch>
        </p:blipFill>
        <p:spPr bwMode="auto">
          <a:xfrm rot="5400000">
            <a:off x="625284" y="2077239"/>
            <a:ext cx="4994393" cy="3418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E2B17674-8624-47D3-1D95-AB634BAD5296}"/>
              </a:ext>
            </a:extLst>
          </p:cNvPr>
          <p:cNvSpPr/>
          <p:nvPr/>
        </p:nvSpPr>
        <p:spPr>
          <a:xfrm>
            <a:off x="3610099" y="5652655"/>
            <a:ext cx="1221790" cy="52430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15866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21D12-C411-BCDB-C0FF-E327475BE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1C4442-F0E6-2046-4FDA-BA8BF42FE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시리얼 통신 실습 </a:t>
            </a:r>
            <a:r>
              <a:rPr lang="en-US" altLang="ko-KR" dirty="0"/>
              <a:t>- </a:t>
            </a:r>
            <a:r>
              <a:rPr lang="ko-KR" altLang="en-US" dirty="0"/>
              <a:t>회로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3889D54-8E39-AE6D-6C98-2B0ACF323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3162" y="1320449"/>
            <a:ext cx="7305675" cy="509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4527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6BB54-AABD-019E-AC65-FBED53F49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A5BB9C-F818-E886-B813-0E8D3223C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시리얼 통신 실습 </a:t>
            </a:r>
            <a:r>
              <a:rPr lang="en-US" altLang="ko-KR" dirty="0"/>
              <a:t>- </a:t>
            </a:r>
            <a:r>
              <a:rPr lang="ko-KR" altLang="en-US" dirty="0" err="1"/>
              <a:t>아두이노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E39C377-0AD1-4F91-2FB8-9687390295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1882"/>
          <a:stretch>
            <a:fillRect/>
          </a:stretch>
        </p:blipFill>
        <p:spPr>
          <a:xfrm>
            <a:off x="839876" y="2497620"/>
            <a:ext cx="5407832" cy="250189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824EDE0-E410-858B-E6D2-A67495E672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3447"/>
          <a:stretch>
            <a:fillRect/>
          </a:stretch>
        </p:blipFill>
        <p:spPr>
          <a:xfrm>
            <a:off x="5944292" y="1892639"/>
            <a:ext cx="5407832" cy="3711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7396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1FC15-B4B6-0870-7A31-F221D893B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E092E4-4291-3C9E-CCFE-BD58542E9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시리얼 통신 실습 </a:t>
            </a:r>
            <a:r>
              <a:rPr lang="en-US" altLang="ko-KR" dirty="0"/>
              <a:t>1</a:t>
            </a:r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파이썬</a:t>
            </a:r>
          </a:p>
        </p:txBody>
      </p:sp>
      <p:sp>
        <p:nvSpPr>
          <p:cNvPr id="3" name="내용 개체 틀 5">
            <a:extLst>
              <a:ext uri="{FF2B5EF4-FFF2-40B4-BE49-F238E27FC236}">
                <a16:creationId xmlns:a16="http://schemas.microsoft.com/office/drawing/2014/main" id="{A8D45A31-65FD-03FC-7582-55495417F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39"/>
            <a:ext cx="10515600" cy="4627124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altLang="ko-KR" dirty="0" err="1"/>
              <a:t>pyserial</a:t>
            </a:r>
            <a:r>
              <a:rPr lang="en-US" altLang="ko-KR" dirty="0"/>
              <a:t> </a:t>
            </a:r>
            <a:r>
              <a:rPr lang="ko-KR" altLang="en-US" dirty="0"/>
              <a:t>라이브러리 설치</a:t>
            </a:r>
            <a:endParaRPr lang="en-US" altLang="ko-KR" dirty="0"/>
          </a:p>
          <a:p>
            <a:pPr marL="457200" indent="-457200">
              <a:buAutoNum type="arabicPeriod"/>
            </a:pPr>
            <a:endParaRPr lang="en-US" altLang="ko-KR" dirty="0"/>
          </a:p>
          <a:p>
            <a:pPr marL="457200" indent="-457200">
              <a:buAutoNum type="arabicPeriod"/>
            </a:pPr>
            <a:endParaRPr lang="en-US" altLang="ko-KR" dirty="0"/>
          </a:p>
          <a:p>
            <a:pPr marL="457200" indent="-457200">
              <a:buAutoNum type="arabicPeriod"/>
            </a:pPr>
            <a:endParaRPr lang="en-US" altLang="ko-KR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85D1561-0FBA-3E7A-EB1F-D5CCA6251E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1818"/>
          <a:stretch>
            <a:fillRect/>
          </a:stretch>
        </p:blipFill>
        <p:spPr>
          <a:xfrm>
            <a:off x="1326321" y="2270415"/>
            <a:ext cx="9539357" cy="188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7389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6AB77-DCF3-372F-E1F8-70C84BA97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DDE94F-5E81-59B1-019C-8EE20A971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시리얼 통신 실습 </a:t>
            </a:r>
            <a:r>
              <a:rPr lang="en-US" altLang="ko-KR" dirty="0"/>
              <a:t>1</a:t>
            </a:r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파이썬</a:t>
            </a:r>
          </a:p>
        </p:txBody>
      </p:sp>
      <p:sp>
        <p:nvSpPr>
          <p:cNvPr id="3" name="내용 개체 틀 5">
            <a:extLst>
              <a:ext uri="{FF2B5EF4-FFF2-40B4-BE49-F238E27FC236}">
                <a16:creationId xmlns:a16="http://schemas.microsoft.com/office/drawing/2014/main" id="{5542696D-823D-CDC9-5B3C-F5C5C2291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39"/>
            <a:ext cx="10515600" cy="4627124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2. python</a:t>
            </a:r>
            <a:r>
              <a:rPr lang="ko-KR" altLang="en-US" dirty="0"/>
              <a:t> 코드 작성 </a:t>
            </a:r>
            <a:r>
              <a:rPr lang="en-US" altLang="ko-KR" dirty="0"/>
              <a:t>– (1)</a:t>
            </a:r>
          </a:p>
          <a:p>
            <a:pPr marL="457200" indent="-457200">
              <a:buAutoNum type="arabicPeriod"/>
            </a:pP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71A630C-23A3-176B-80A3-45FD2D62C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673" y="2283982"/>
            <a:ext cx="9862653" cy="3283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9287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C1121-AF2A-0946-08FE-1FF6437F6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7148F7-56C1-1673-652C-E25AB4264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시리얼 통신 실습 </a:t>
            </a:r>
            <a:r>
              <a:rPr lang="en-US" altLang="ko-KR" dirty="0"/>
              <a:t>1</a:t>
            </a:r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파이썬</a:t>
            </a:r>
          </a:p>
        </p:txBody>
      </p:sp>
      <p:sp>
        <p:nvSpPr>
          <p:cNvPr id="3" name="내용 개체 틀 5">
            <a:extLst>
              <a:ext uri="{FF2B5EF4-FFF2-40B4-BE49-F238E27FC236}">
                <a16:creationId xmlns:a16="http://schemas.microsoft.com/office/drawing/2014/main" id="{74CD8A57-8030-D6A0-1BEB-8CD325F83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39"/>
            <a:ext cx="10515600" cy="4627124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3. python</a:t>
            </a:r>
            <a:r>
              <a:rPr lang="ko-KR" altLang="en-US" dirty="0"/>
              <a:t> 코드 작성 </a:t>
            </a:r>
            <a:r>
              <a:rPr lang="en-US" altLang="ko-KR" dirty="0"/>
              <a:t>– (2)</a:t>
            </a:r>
          </a:p>
          <a:p>
            <a:pPr marL="457200" indent="-457200">
              <a:buAutoNum type="arabicPeriod"/>
            </a:pP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A6EBBB4-6275-4418-A190-A5718749BD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2987" y="1549839"/>
            <a:ext cx="6056438" cy="4767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0674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67FF7-A196-7427-0EA0-C366260E8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836EBE-76CC-CBD8-DC8E-188DBACDD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91268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ko-KR" altLang="en-US" sz="8000" dirty="0"/>
              <a:t>시리얼 통신 </a:t>
            </a:r>
            <a:r>
              <a:rPr lang="en-US" altLang="ko-KR" sz="8000" dirty="0"/>
              <a:t>+ </a:t>
            </a:r>
            <a:r>
              <a:rPr lang="ko-KR" altLang="en-US" sz="8000" dirty="0"/>
              <a:t>웹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3DEDF9-9B3D-A643-7CC0-8FDC2ABC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FEC9FE8-5439-F366-8C2F-5DE2CE1C72DD}"/>
              </a:ext>
            </a:extLst>
          </p:cNvPr>
          <p:cNvSpPr/>
          <p:nvPr/>
        </p:nvSpPr>
        <p:spPr>
          <a:xfrm>
            <a:off x="2528119" y="4016831"/>
            <a:ext cx="7135761" cy="178600"/>
          </a:xfrm>
          <a:prstGeom prst="rect">
            <a:avLst/>
          </a:prstGeom>
          <a:solidFill>
            <a:srgbClr val="00FA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22784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649B0-7A16-0D58-5F37-FD74B950F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8A357F-BFEC-CB3F-70F2-633BF4FEA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pic>
        <p:nvPicPr>
          <p:cNvPr id="3074" name="Picture 2" descr="01. 파이썬 시작하기 - 다빈치코딩 파이썬">
            <a:extLst>
              <a:ext uri="{FF2B5EF4-FFF2-40B4-BE49-F238E27FC236}">
                <a16:creationId xmlns:a16="http://schemas.microsoft.com/office/drawing/2014/main" id="{006F8088-3868-5A4A-6822-6E4A893396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5514" y="2538947"/>
            <a:ext cx="1997391" cy="2188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5E9807E-A851-C908-9863-DD09A6CD0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833" y="2538947"/>
            <a:ext cx="3059036" cy="2069348"/>
          </a:xfrm>
          <a:prstGeom prst="rect">
            <a:avLst/>
          </a:prstGeom>
        </p:spPr>
      </p:pic>
      <p:sp>
        <p:nvSpPr>
          <p:cNvPr id="8" name="AutoShape 4" descr="Chrome - 나무위키">
            <a:extLst>
              <a:ext uri="{FF2B5EF4-FFF2-40B4-BE49-F238E27FC236}">
                <a16:creationId xmlns:a16="http://schemas.microsoft.com/office/drawing/2014/main" id="{DE61DA29-C459-CAC9-5B9C-DFC4F14C55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42122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1" name="그래픽 10">
            <a:extLst>
              <a:ext uri="{FF2B5EF4-FFF2-40B4-BE49-F238E27FC236}">
                <a16:creationId xmlns:a16="http://schemas.microsoft.com/office/drawing/2014/main" id="{E7E7382F-309E-2DFE-096E-3BA82E1795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60872" y="2430304"/>
            <a:ext cx="1997391" cy="1997391"/>
          </a:xfrm>
          <a:prstGeom prst="rect">
            <a:avLst/>
          </a:prstGeom>
        </p:spPr>
      </p:pic>
      <p:sp>
        <p:nvSpPr>
          <p:cNvPr id="12" name="화살표: 왼쪽/오른쪽 11">
            <a:extLst>
              <a:ext uri="{FF2B5EF4-FFF2-40B4-BE49-F238E27FC236}">
                <a16:creationId xmlns:a16="http://schemas.microsoft.com/office/drawing/2014/main" id="{5E851B84-4E8F-6DE2-A1ED-7DAB442F8F23}"/>
              </a:ext>
            </a:extLst>
          </p:cNvPr>
          <p:cNvSpPr/>
          <p:nvPr/>
        </p:nvSpPr>
        <p:spPr>
          <a:xfrm>
            <a:off x="3755869" y="3297644"/>
            <a:ext cx="1385097" cy="551956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화살표: 왼쪽/오른쪽 12">
            <a:extLst>
              <a:ext uri="{FF2B5EF4-FFF2-40B4-BE49-F238E27FC236}">
                <a16:creationId xmlns:a16="http://schemas.microsoft.com/office/drawing/2014/main" id="{39E9F92E-D00A-46ED-60F2-C6CE7033693D}"/>
              </a:ext>
            </a:extLst>
          </p:cNvPr>
          <p:cNvSpPr/>
          <p:nvPr/>
        </p:nvSpPr>
        <p:spPr>
          <a:xfrm>
            <a:off x="7507453" y="3297643"/>
            <a:ext cx="1385097" cy="551956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12A58E-1D40-305B-C44F-9F69136B0B49}"/>
              </a:ext>
            </a:extLst>
          </p:cNvPr>
          <p:cNvSpPr txBox="1"/>
          <p:nvPr/>
        </p:nvSpPr>
        <p:spPr>
          <a:xfrm>
            <a:off x="3345285" y="4058363"/>
            <a:ext cx="2222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시리얼 통신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ED6782-B2AD-61E0-9B21-78ED5FABA725}"/>
              </a:ext>
            </a:extLst>
          </p:cNvPr>
          <p:cNvSpPr txBox="1"/>
          <p:nvPr/>
        </p:nvSpPr>
        <p:spPr>
          <a:xfrm>
            <a:off x="7181014" y="2773849"/>
            <a:ext cx="2222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HTTP </a:t>
            </a:r>
            <a:r>
              <a:rPr lang="ko-KR" altLang="en-US" dirty="0"/>
              <a:t>통신</a:t>
            </a:r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235F2F84-30CA-BE15-105D-24573B4ED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460" y="224276"/>
            <a:ext cx="10515600" cy="1325563"/>
          </a:xfrm>
        </p:spPr>
        <p:txBody>
          <a:bodyPr/>
          <a:lstStyle/>
          <a:p>
            <a:r>
              <a:rPr lang="ko-KR" altLang="en-US" dirty="0"/>
              <a:t>시리얼 통신 </a:t>
            </a:r>
            <a:r>
              <a:rPr lang="en-US" altLang="ko-KR" dirty="0"/>
              <a:t>+ </a:t>
            </a:r>
            <a:r>
              <a:rPr lang="ko-KR" altLang="en-US" dirty="0"/>
              <a:t>웹</a:t>
            </a:r>
          </a:p>
        </p:txBody>
      </p:sp>
    </p:spTree>
    <p:extLst>
      <p:ext uri="{BB962C8B-B14F-4D97-AF65-F5344CB8AC3E}">
        <p14:creationId xmlns:p14="http://schemas.microsoft.com/office/powerpoint/2010/main" val="4731510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0E3B4-B201-CD7D-7C0C-78E4259E8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2809A7-719A-FCF5-A93A-194AE0A84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시리얼 통신 실습 </a:t>
            </a:r>
            <a:r>
              <a:rPr lang="en-US" altLang="ko-KR" dirty="0"/>
              <a:t>2</a:t>
            </a:r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파이썬</a:t>
            </a:r>
          </a:p>
        </p:txBody>
      </p:sp>
      <p:sp>
        <p:nvSpPr>
          <p:cNvPr id="3" name="내용 개체 틀 5">
            <a:extLst>
              <a:ext uri="{FF2B5EF4-FFF2-40B4-BE49-F238E27FC236}">
                <a16:creationId xmlns:a16="http://schemas.microsoft.com/office/drawing/2014/main" id="{9FD07426-E979-23A0-8BA1-EDC665AF6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39"/>
            <a:ext cx="10515600" cy="4627124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altLang="ko-KR" dirty="0"/>
              <a:t>flask </a:t>
            </a:r>
            <a:r>
              <a:rPr lang="ko-KR" altLang="en-US" dirty="0"/>
              <a:t>라이브러리 설치</a:t>
            </a:r>
            <a:endParaRPr lang="en-US" altLang="ko-KR" dirty="0"/>
          </a:p>
          <a:p>
            <a:pPr marL="457200" indent="-457200">
              <a:buAutoNum type="arabicPeriod"/>
            </a:pPr>
            <a:endParaRPr lang="en-US" altLang="ko-KR" dirty="0"/>
          </a:p>
          <a:p>
            <a:pPr marL="457200" indent="-457200">
              <a:buAutoNum type="arabicPeriod"/>
            </a:pPr>
            <a:endParaRPr lang="en-US" altLang="ko-KR" dirty="0"/>
          </a:p>
          <a:p>
            <a:pPr marL="457200" indent="-457200">
              <a:buAutoNum type="arabicPeriod"/>
            </a:pP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E592032-14C3-2596-FA21-9FEC80D85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5541" y="2794800"/>
            <a:ext cx="6417438" cy="338216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B17BDD4-5959-43A0-DFE4-41465909CF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3539" b="94982"/>
          <a:stretch>
            <a:fillRect/>
          </a:stretch>
        </p:blipFill>
        <p:spPr>
          <a:xfrm>
            <a:off x="1160152" y="2233214"/>
            <a:ext cx="9871696" cy="715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4220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87C87-44FA-1070-6E31-E81567C41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B9DC7E-DC56-96D9-56DF-BB9C85A25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시리얼 통신 실습 </a:t>
            </a:r>
            <a:r>
              <a:rPr lang="en-US" altLang="ko-KR" dirty="0"/>
              <a:t>2</a:t>
            </a:r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파이썬</a:t>
            </a:r>
          </a:p>
        </p:txBody>
      </p:sp>
      <p:sp>
        <p:nvSpPr>
          <p:cNvPr id="3" name="내용 개체 틀 5">
            <a:extLst>
              <a:ext uri="{FF2B5EF4-FFF2-40B4-BE49-F238E27FC236}">
                <a16:creationId xmlns:a16="http://schemas.microsoft.com/office/drawing/2014/main" id="{AFFA069D-7582-3185-A7A5-71A75FB3D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39"/>
            <a:ext cx="10515600" cy="4627124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2. Python </a:t>
            </a:r>
            <a:r>
              <a:rPr lang="ko-KR" altLang="en-US" dirty="0"/>
              <a:t>코드 작성 </a:t>
            </a:r>
            <a:r>
              <a:rPr lang="en-US" altLang="ko-KR" dirty="0"/>
              <a:t>– (1)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0F319F6-8672-087C-F26C-67E8F9255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231" y="2094448"/>
            <a:ext cx="8717537" cy="417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5259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D1EF5-719E-5A23-869C-62BCBD979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E56054-C53A-55F3-E178-33B5AA950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시리얼 통신 실습 </a:t>
            </a:r>
            <a:r>
              <a:rPr lang="en-US" altLang="ko-KR" dirty="0"/>
              <a:t>2</a:t>
            </a:r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파이썬</a:t>
            </a:r>
          </a:p>
        </p:txBody>
      </p:sp>
      <p:sp>
        <p:nvSpPr>
          <p:cNvPr id="3" name="내용 개체 틀 5">
            <a:extLst>
              <a:ext uri="{FF2B5EF4-FFF2-40B4-BE49-F238E27FC236}">
                <a16:creationId xmlns:a16="http://schemas.microsoft.com/office/drawing/2014/main" id="{2529DDDF-D67F-A239-F142-9B35D81C1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39"/>
            <a:ext cx="10515600" cy="4627124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3. Python </a:t>
            </a:r>
            <a:r>
              <a:rPr lang="ko-KR" altLang="en-US" dirty="0"/>
              <a:t>코드 작성 </a:t>
            </a:r>
            <a:r>
              <a:rPr lang="en-US" altLang="ko-KR" dirty="0"/>
              <a:t>– (2)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CCC1F0D-6AD9-86B3-0F09-51C5866C57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666" y="2192296"/>
            <a:ext cx="9107879" cy="381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0174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CB91F-7D93-7CD2-9B80-9B8A74E56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C90361-56EA-56AB-DE7A-E6BA4BE89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시리얼 통신 실습 </a:t>
            </a:r>
            <a:r>
              <a:rPr lang="en-US" altLang="ko-KR" dirty="0"/>
              <a:t>2</a:t>
            </a:r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파이썬</a:t>
            </a:r>
          </a:p>
        </p:txBody>
      </p:sp>
      <p:sp>
        <p:nvSpPr>
          <p:cNvPr id="3" name="내용 개체 틀 5">
            <a:extLst>
              <a:ext uri="{FF2B5EF4-FFF2-40B4-BE49-F238E27FC236}">
                <a16:creationId xmlns:a16="http://schemas.microsoft.com/office/drawing/2014/main" id="{C8FE34F3-E3B3-5DB9-B2DC-A49485DA2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39"/>
            <a:ext cx="10515600" cy="4627124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3. Python </a:t>
            </a:r>
            <a:r>
              <a:rPr lang="ko-KR" altLang="en-US" dirty="0"/>
              <a:t>코드 작성 </a:t>
            </a:r>
            <a:r>
              <a:rPr lang="en-US" altLang="ko-KR" dirty="0"/>
              <a:t>– (2)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C4303D8-3540-E690-7E2F-EFC63154E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666" y="2192296"/>
            <a:ext cx="9107879" cy="381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0963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68C5F-1226-8A8C-8D44-B0132159E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BB9914-EBD9-6CD0-BA64-D18B35DCC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시리얼 통신 실습 </a:t>
            </a:r>
            <a:r>
              <a:rPr lang="en-US" altLang="ko-KR" dirty="0"/>
              <a:t>2</a:t>
            </a:r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웹</a:t>
            </a:r>
          </a:p>
        </p:txBody>
      </p:sp>
      <p:sp>
        <p:nvSpPr>
          <p:cNvPr id="3" name="내용 개체 틀 5">
            <a:extLst>
              <a:ext uri="{FF2B5EF4-FFF2-40B4-BE49-F238E27FC236}">
                <a16:creationId xmlns:a16="http://schemas.microsoft.com/office/drawing/2014/main" id="{ECF57929-7CA4-67ED-D488-35AA98CA4B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39"/>
            <a:ext cx="10515600" cy="4627124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4. index.html </a:t>
            </a:r>
            <a:r>
              <a:rPr lang="ko-KR" altLang="en-US" dirty="0"/>
              <a:t>파일 제작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6CF608A-BF94-16A8-9066-20B6C7015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2275" y="2157413"/>
            <a:ext cx="6267450" cy="40195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605941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73BFD-A39A-7DC1-039F-05552B4C3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0BD39F-E7C4-52EC-5103-CBE101C71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시리얼 통신 실습 </a:t>
            </a:r>
            <a:r>
              <a:rPr lang="en-US" altLang="ko-KR" dirty="0"/>
              <a:t>2</a:t>
            </a:r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웹</a:t>
            </a:r>
          </a:p>
        </p:txBody>
      </p:sp>
      <p:sp>
        <p:nvSpPr>
          <p:cNvPr id="3" name="내용 개체 틀 5">
            <a:extLst>
              <a:ext uri="{FF2B5EF4-FFF2-40B4-BE49-F238E27FC236}">
                <a16:creationId xmlns:a16="http://schemas.microsoft.com/office/drawing/2014/main" id="{1023DCE0-8ADC-EDEB-0E21-AB4F71775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39"/>
            <a:ext cx="10515600" cy="4627124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2.  </a:t>
            </a:r>
            <a:r>
              <a:rPr lang="en-US" altLang="ko-KR" dirty="0" err="1"/>
              <a:t>Javascript</a:t>
            </a:r>
            <a:r>
              <a:rPr lang="en-US" altLang="ko-KR" dirty="0"/>
              <a:t> </a:t>
            </a:r>
            <a:r>
              <a:rPr lang="ko-KR" altLang="en-US" dirty="0"/>
              <a:t>연결</a:t>
            </a:r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132EB8E-9BD8-DF88-2665-30EAD64C1E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1812" y="1511479"/>
            <a:ext cx="6001988" cy="66828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2956559-33AA-6605-7AF3-C02526AE05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2787" y="2103971"/>
            <a:ext cx="7206425" cy="4529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7541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7A01E-C96C-DD71-CB79-5AF07764F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45FE7E46-E319-AE87-5C38-DCAC93E209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895" y="1405137"/>
            <a:ext cx="9107879" cy="381208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2300984B-94E1-0CC3-8798-6EEB3116BB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3391" y="1861476"/>
            <a:ext cx="6736743" cy="423452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AA0F98E-9C8D-12AD-9E95-B95C88C0E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시리얼 통신 실습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DCC22EF-7667-1D1D-4B06-313F715ED7AE}"/>
              </a:ext>
            </a:extLst>
          </p:cNvPr>
          <p:cNvSpPr/>
          <p:nvPr/>
        </p:nvSpPr>
        <p:spPr>
          <a:xfrm>
            <a:off x="902525" y="1425039"/>
            <a:ext cx="2066306" cy="26125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74C1627-EEB8-2FBE-4AC4-988AEA3FBF00}"/>
              </a:ext>
            </a:extLst>
          </p:cNvPr>
          <p:cNvSpPr/>
          <p:nvPr/>
        </p:nvSpPr>
        <p:spPr>
          <a:xfrm>
            <a:off x="10290048" y="2596896"/>
            <a:ext cx="426720" cy="27511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7B4B1A6-D820-8302-267D-F864541DBA47}"/>
              </a:ext>
            </a:extLst>
          </p:cNvPr>
          <p:cNvSpPr/>
          <p:nvPr/>
        </p:nvSpPr>
        <p:spPr>
          <a:xfrm>
            <a:off x="9809414" y="2596896"/>
            <a:ext cx="426720" cy="27511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606E4EE-8425-DE52-F371-C27D8DB8440C}"/>
              </a:ext>
            </a:extLst>
          </p:cNvPr>
          <p:cNvSpPr/>
          <p:nvPr/>
        </p:nvSpPr>
        <p:spPr>
          <a:xfrm>
            <a:off x="3713174" y="4712208"/>
            <a:ext cx="1139241" cy="505017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04375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56030-FEE3-1D47-E141-6D024A883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A5CA5C01-937D-838E-769D-CCE8E11EF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895" y="1405137"/>
            <a:ext cx="9107879" cy="381208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BCD14D0-E12F-201D-DB8A-25725904F8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3391" y="1861476"/>
            <a:ext cx="6736743" cy="423452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1EB0103-08D1-9F78-F3EB-45AB70984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시리얼 통신 실습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7EFFD7B-F8A7-C28D-5EA8-C7D89F10D192}"/>
              </a:ext>
            </a:extLst>
          </p:cNvPr>
          <p:cNvSpPr/>
          <p:nvPr/>
        </p:nvSpPr>
        <p:spPr>
          <a:xfrm>
            <a:off x="3286031" y="2180943"/>
            <a:ext cx="859248" cy="33060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8DC0070-5F8A-4148-D1DB-A2136FE6A1DA}"/>
              </a:ext>
            </a:extLst>
          </p:cNvPr>
          <p:cNvSpPr/>
          <p:nvPr/>
        </p:nvSpPr>
        <p:spPr>
          <a:xfrm>
            <a:off x="8009821" y="3311181"/>
            <a:ext cx="780611" cy="35861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45991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96AB8-DB7D-0D89-B222-FC43E5D54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15B5521B-DA5F-F6D8-545C-D39304C00A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907" y="2641728"/>
            <a:ext cx="9107879" cy="381208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1204EAC-33C4-6DB5-2F1C-520A0DBE4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시리얼 통신 실습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C76B589-5A0E-473E-B76B-D05BF11BD6C6}"/>
              </a:ext>
            </a:extLst>
          </p:cNvPr>
          <p:cNvSpPr/>
          <p:nvPr/>
        </p:nvSpPr>
        <p:spPr>
          <a:xfrm>
            <a:off x="3907822" y="5363055"/>
            <a:ext cx="1737073" cy="46472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054A333-C548-8023-5D24-A7E3F10FBCCD}"/>
              </a:ext>
            </a:extLst>
          </p:cNvPr>
          <p:cNvSpPr/>
          <p:nvPr/>
        </p:nvSpPr>
        <p:spPr>
          <a:xfrm>
            <a:off x="3993166" y="5416109"/>
            <a:ext cx="728460" cy="358611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3B347F9-71C0-6E17-68E7-C2E28FA886AE}"/>
              </a:ext>
            </a:extLst>
          </p:cNvPr>
          <p:cNvGrpSpPr/>
          <p:nvPr/>
        </p:nvGrpSpPr>
        <p:grpSpPr>
          <a:xfrm>
            <a:off x="5148399" y="1186787"/>
            <a:ext cx="6344694" cy="3988093"/>
            <a:chOff x="5252846" y="764352"/>
            <a:chExt cx="6736743" cy="4234524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CC707D10-5B60-1AC3-1A1F-2227D5D75F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52846" y="764352"/>
              <a:ext cx="6736743" cy="4234524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3E9C1656-5A05-6E1A-6CB9-72F507E67297}"/>
                </a:ext>
              </a:extLst>
            </p:cNvPr>
            <p:cNvSpPr/>
            <p:nvPr/>
          </p:nvSpPr>
          <p:spPr>
            <a:xfrm>
              <a:off x="5794260" y="2748633"/>
              <a:ext cx="1301484" cy="311559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69F9C315-94C0-221E-CF3F-6ED4F23B3516}"/>
                </a:ext>
              </a:extLst>
            </p:cNvPr>
            <p:cNvSpPr/>
            <p:nvPr/>
          </p:nvSpPr>
          <p:spPr>
            <a:xfrm>
              <a:off x="11052060" y="2939417"/>
              <a:ext cx="728460" cy="358611"/>
            </a:xfrm>
            <a:prstGeom prst="rect">
              <a:avLst/>
            </a:prstGeom>
            <a:noFill/>
            <a:ln w="7620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3083325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3F1A7-31BA-1325-A294-1B6A6353A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9B021F-43C1-93FB-2AE0-90B35BD6C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91268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altLang="ko-KR" sz="6600" dirty="0"/>
              <a:t>Python</a:t>
            </a:r>
            <a:r>
              <a:rPr lang="ko-KR" altLang="en-US" sz="6600" dirty="0"/>
              <a:t>이 꼭 필요할까</a:t>
            </a:r>
            <a:r>
              <a:rPr lang="en-US" altLang="ko-KR" sz="6600" dirty="0"/>
              <a:t>?</a:t>
            </a:r>
            <a:endParaRPr lang="ko-KR" altLang="en-US" sz="66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ADFF07-8228-1A6C-4AA6-6B12642FE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415847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7CAD5-3D7D-F355-A2A5-73DFAF434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873E6F-06EF-4607-C3CA-44D9E924E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91268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altLang="ko-KR" sz="6600" dirty="0"/>
              <a:t>Python</a:t>
            </a:r>
            <a:r>
              <a:rPr lang="ko-KR" altLang="en-US" sz="6600" dirty="0"/>
              <a:t>이 꼭 필요할까</a:t>
            </a:r>
            <a:r>
              <a:rPr lang="en-US" altLang="ko-KR" sz="6600" dirty="0"/>
              <a:t>?</a:t>
            </a:r>
            <a:endParaRPr lang="ko-KR" altLang="en-US" sz="66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D7078C-8C3E-C9FA-7A07-78263D59E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28</a:t>
            </a:fld>
            <a:endParaRPr lang="ko-KR" altLang="en-US" dirty="0"/>
          </a:p>
        </p:txBody>
      </p:sp>
      <p:sp>
        <p:nvSpPr>
          <p:cNvPr id="3" name="곱하기 기호 2">
            <a:extLst>
              <a:ext uri="{FF2B5EF4-FFF2-40B4-BE49-F238E27FC236}">
                <a16:creationId xmlns:a16="http://schemas.microsoft.com/office/drawing/2014/main" id="{27D77115-5225-3219-6E7E-AFCFB3FFD454}"/>
              </a:ext>
            </a:extLst>
          </p:cNvPr>
          <p:cNvSpPr/>
          <p:nvPr/>
        </p:nvSpPr>
        <p:spPr>
          <a:xfrm>
            <a:off x="2268187" y="-309489"/>
            <a:ext cx="7327075" cy="7327075"/>
          </a:xfrm>
          <a:prstGeom prst="mathMultiply">
            <a:avLst>
              <a:gd name="adj1" fmla="val 8285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89061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18682-B7B4-57E8-E16C-20419C0A2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EA1D82-0096-FF21-04FC-EDB5E4DCD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29</a:t>
            </a:fld>
            <a:endParaRPr lang="ko-KR" altLang="en-US" dirty="0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86F0B9B7-2274-9954-C541-5DD7018D9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시리얼 통신 실습 </a:t>
            </a:r>
            <a:r>
              <a:rPr lang="en-US" altLang="ko-KR" dirty="0"/>
              <a:t>3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CAB3269-0E9C-8228-3C3F-771578259D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3039" y="2053805"/>
            <a:ext cx="5886450" cy="98107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955D63D-7755-FB42-656F-89D52153D0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889" y="1549839"/>
            <a:ext cx="4086231" cy="4411683"/>
          </a:xfrm>
          <a:prstGeom prst="rect">
            <a:avLst/>
          </a:prstGeom>
        </p:spPr>
      </p:pic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E76FE798-3562-E253-779C-1514CEB16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3760" y="3538847"/>
            <a:ext cx="5861280" cy="2638114"/>
          </a:xfrm>
        </p:spPr>
        <p:txBody>
          <a:bodyPr>
            <a:normAutofit/>
          </a:bodyPr>
          <a:lstStyle/>
          <a:p>
            <a:r>
              <a:rPr lang="ko-KR" altLang="en-US" sz="1600" dirty="0"/>
              <a:t>중간 서버가 없을 경우</a:t>
            </a:r>
            <a:r>
              <a:rPr lang="en-US" altLang="ko-KR" sz="1600" dirty="0"/>
              <a:t>, JavaScript </a:t>
            </a:r>
            <a:r>
              <a:rPr lang="ko-KR" altLang="en-US" sz="1600" dirty="0"/>
              <a:t>코드를 위와 같이 작성하면 </a:t>
            </a:r>
            <a:r>
              <a:rPr lang="en-US" altLang="ko-KR" sz="1600" dirty="0"/>
              <a:t>Serial </a:t>
            </a:r>
            <a:r>
              <a:rPr lang="ko-KR" altLang="en-US" sz="1600" dirty="0"/>
              <a:t>포트를 브라우저에서 직접 선택 가능하다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132680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1F0E1-122D-0898-5F82-B80496B14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E0FE54-5D2F-8933-710D-7AE880CA6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30</a:t>
            </a:fld>
            <a:endParaRPr lang="ko-KR" altLang="en-US" dirty="0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0A010204-3AC6-02FD-3630-6F6D50AC8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시리얼 통신 실습 </a:t>
            </a:r>
            <a:r>
              <a:rPr lang="en-US" altLang="ko-KR" dirty="0"/>
              <a:t>3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2754E01-4517-D453-B3F1-F67DAA1B32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5103" y="3360718"/>
            <a:ext cx="7175510" cy="205014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6394620-548C-6DBC-DD8C-C375BEE982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5103" y="1725064"/>
            <a:ext cx="7321794" cy="1220299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767DAE0A-340C-DB44-80B4-C3EB48C083CB}"/>
              </a:ext>
            </a:extLst>
          </p:cNvPr>
          <p:cNvSpPr/>
          <p:nvPr/>
        </p:nvSpPr>
        <p:spPr>
          <a:xfrm>
            <a:off x="2581387" y="4492506"/>
            <a:ext cx="4187548" cy="43575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7B95A10C-C708-3BC7-2734-6292E9454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3865" y="4971684"/>
            <a:ext cx="6762411" cy="6193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600" dirty="0">
                <a:solidFill>
                  <a:srgbClr val="FF0000"/>
                </a:solidFill>
              </a:rPr>
              <a:t>사전에 선택된 포트</a:t>
            </a:r>
            <a:r>
              <a:rPr lang="en-US" altLang="ko-KR" sz="1600" dirty="0">
                <a:solidFill>
                  <a:srgbClr val="FF0000"/>
                </a:solidFill>
              </a:rPr>
              <a:t>(writer)</a:t>
            </a:r>
            <a:r>
              <a:rPr lang="ko-KR" altLang="en-US" sz="1600" dirty="0">
                <a:solidFill>
                  <a:srgbClr val="FF0000"/>
                </a:solidFill>
              </a:rPr>
              <a:t>로 데이터 보내기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26038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65E9D-8EE4-C1B9-18FF-FB1032C25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77D53F-7859-6003-AE74-B7FAF968A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91268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ko-KR" altLang="en-US" sz="8000" dirty="0"/>
              <a:t>와이파이 통신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7E76C1-745D-1881-A930-D7B2DD533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31</a:t>
            </a:fld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E8F6EB1-A44B-55E2-7F1D-238CFF4E1786}"/>
              </a:ext>
            </a:extLst>
          </p:cNvPr>
          <p:cNvSpPr/>
          <p:nvPr/>
        </p:nvSpPr>
        <p:spPr>
          <a:xfrm>
            <a:off x="2528119" y="4016831"/>
            <a:ext cx="7135761" cy="178600"/>
          </a:xfrm>
          <a:prstGeom prst="rect">
            <a:avLst/>
          </a:prstGeom>
          <a:solidFill>
            <a:srgbClr val="00FA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05625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E9A90-9447-96CB-165E-B927D43A1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EE2A16-1E7C-98EE-E45E-4E75868C4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ESP8266(ESP-01)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4F7925-B492-594F-1CF9-47B6FE21B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32</a:t>
            </a:fld>
            <a:endParaRPr lang="ko-KR" altLang="en-US" dirty="0"/>
          </a:p>
        </p:txBody>
      </p:sp>
      <p:pic>
        <p:nvPicPr>
          <p:cNvPr id="26626" name="Picture 2" descr="ESP8266(ESP-01, ESP-01S) 개요, 업로드하기">
            <a:extLst>
              <a:ext uri="{FF2B5EF4-FFF2-40B4-BE49-F238E27FC236}">
                <a16:creationId xmlns:a16="http://schemas.microsoft.com/office/drawing/2014/main" id="{0EEDC83B-EF53-A5CF-D94D-5358E5AE27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14" t="12410" r="10935" b="10789"/>
          <a:stretch>
            <a:fillRect/>
          </a:stretch>
        </p:blipFill>
        <p:spPr bwMode="auto">
          <a:xfrm>
            <a:off x="1013605" y="1724357"/>
            <a:ext cx="4264197" cy="4278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1923A3F8-4548-F823-4FF1-F3EEC7EC6631}"/>
              </a:ext>
            </a:extLst>
          </p:cNvPr>
          <p:cNvSpPr txBox="1">
            <a:spLocks/>
          </p:cNvSpPr>
          <p:nvPr/>
        </p:nvSpPr>
        <p:spPr>
          <a:xfrm>
            <a:off x="5603760" y="1724357"/>
            <a:ext cx="5861280" cy="4452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dirty="0" err="1"/>
              <a:t>Wifi</a:t>
            </a:r>
            <a:r>
              <a:rPr lang="en-US" altLang="ko-KR" sz="2000" dirty="0"/>
              <a:t> </a:t>
            </a:r>
            <a:r>
              <a:rPr lang="ko-KR" altLang="en-US" sz="2000" dirty="0"/>
              <a:t>모듈 중 가장 보편적인 모델</a:t>
            </a:r>
            <a:endParaRPr lang="en-US" altLang="ko-KR" sz="2000" dirty="0"/>
          </a:p>
          <a:p>
            <a:r>
              <a:rPr lang="ko-KR" altLang="en-US" sz="2000" dirty="0"/>
              <a:t>활용 </a:t>
            </a:r>
            <a:r>
              <a:rPr lang="en-US" altLang="ko-KR" sz="2000" dirty="0"/>
              <a:t>: IoT </a:t>
            </a:r>
            <a:r>
              <a:rPr lang="ko-KR" altLang="en-US" sz="2000" dirty="0"/>
              <a:t>사물인터넷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스마트홈</a:t>
            </a:r>
            <a:r>
              <a:rPr lang="ko-KR" altLang="en-US" sz="2000" dirty="0"/>
              <a:t> 을 구성 시</a:t>
            </a:r>
            <a:endParaRPr lang="en-US" altLang="ko-KR" sz="2000" dirty="0"/>
          </a:p>
          <a:p>
            <a:r>
              <a:rPr lang="ko-KR" altLang="en-US" sz="2000" dirty="0"/>
              <a:t>시리얼 통신을 통해 </a:t>
            </a:r>
            <a:r>
              <a:rPr lang="en-US" altLang="ko-KR" sz="2000" dirty="0"/>
              <a:t>AT </a:t>
            </a:r>
            <a:r>
              <a:rPr lang="ko-KR" altLang="en-US" sz="2000" dirty="0"/>
              <a:t>변경 가능하며</a:t>
            </a:r>
            <a:r>
              <a:rPr lang="en-US" altLang="ko-KR" sz="2000" dirty="0"/>
              <a:t>, 3.3V</a:t>
            </a:r>
            <a:r>
              <a:rPr lang="ko-KR" altLang="en-US" sz="2000" dirty="0"/>
              <a:t>에서 동작한다</a:t>
            </a:r>
            <a:r>
              <a:rPr lang="en-US" altLang="ko-KR" sz="2000" dirty="0"/>
              <a:t>.</a:t>
            </a:r>
          </a:p>
          <a:p>
            <a:r>
              <a:rPr lang="en-US" altLang="ko-KR" sz="2000" dirty="0"/>
              <a:t>2.4GHz</a:t>
            </a:r>
            <a:r>
              <a:rPr lang="ko-KR" altLang="en-US" sz="2000" dirty="0"/>
              <a:t>만 지원하기 때문에</a:t>
            </a:r>
            <a:r>
              <a:rPr lang="en-US" altLang="ko-KR" sz="2000" dirty="0"/>
              <a:t> 5GHz </a:t>
            </a:r>
            <a:r>
              <a:rPr lang="ko-KR" altLang="en-US" sz="2000" dirty="0"/>
              <a:t>네트워크 대역에서는 활용 불가능하다</a:t>
            </a:r>
            <a:r>
              <a:rPr lang="en-US" altLang="ko-K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57580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CB152-FCD9-74EA-DC96-FEA4CE6C1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2268CB-CC3C-85A4-661E-E2EBD8D1D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ESP-01</a:t>
            </a:r>
            <a:r>
              <a:rPr lang="ko-KR" altLang="en-US" dirty="0"/>
              <a:t> 어댑터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2B1146-7459-53E4-6EDC-1AF173CE4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33</a:t>
            </a:fld>
            <a:endParaRPr lang="ko-KR" altLang="en-US" dirty="0"/>
          </a:p>
        </p:txBody>
      </p:sp>
      <p:pic>
        <p:nvPicPr>
          <p:cNvPr id="33794" name="Picture 2" descr="ESP8266 ESP-01 아답터 보드 -5V (ESP8266 ESP-01 Adaptor Board)">
            <a:extLst>
              <a:ext uri="{FF2B5EF4-FFF2-40B4-BE49-F238E27FC236}">
                <a16:creationId xmlns:a16="http://schemas.microsoft.com/office/drawing/2014/main" id="{40F74E9A-9325-9E96-3FC2-2CBB4F46B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716" y="1237755"/>
            <a:ext cx="47625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B7A57157-7EAF-821F-49F4-1483DE51A45B}"/>
              </a:ext>
            </a:extLst>
          </p:cNvPr>
          <p:cNvSpPr txBox="1">
            <a:spLocks/>
          </p:cNvSpPr>
          <p:nvPr/>
        </p:nvSpPr>
        <p:spPr>
          <a:xfrm>
            <a:off x="5603760" y="1724357"/>
            <a:ext cx="5861280" cy="4452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dirty="0"/>
              <a:t>ESP8266 </a:t>
            </a:r>
            <a:r>
              <a:rPr lang="ko-KR" altLang="en-US" sz="2000" dirty="0"/>
              <a:t>모듈과 </a:t>
            </a:r>
            <a:r>
              <a:rPr lang="ko-KR" altLang="en-US" sz="2000" dirty="0" err="1"/>
              <a:t>아두이노</a:t>
            </a:r>
            <a:r>
              <a:rPr lang="ko-KR" altLang="en-US" sz="2000" dirty="0"/>
              <a:t> 연결 시 복잡하게 점퍼선과 저항을 연결해야 하는 문제점을 해소하기 위해 등장</a:t>
            </a:r>
            <a:endParaRPr lang="en-US" altLang="ko-KR" sz="2000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6789EF40-A1AE-E442-3FEE-BD5024B802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487"/>
          <a:stretch>
            <a:fillRect/>
          </a:stretch>
        </p:blipFill>
        <p:spPr bwMode="auto">
          <a:xfrm>
            <a:off x="5906006" y="3275482"/>
            <a:ext cx="5434929" cy="2901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78937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C6C052-96F4-D26B-5103-0535B42FB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와이파이 모듈 실습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F9DC91-9ECE-0A57-5773-3F80786E8B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D9B2D2-A8E3-2F22-16C6-18D1B39DB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34</a:t>
            </a:fld>
            <a:endParaRPr lang="ko-KR" altLang="en-US" dirty="0"/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196F74E0-54E5-E14A-72C5-CBAE0A86D1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487"/>
          <a:stretch>
            <a:fillRect/>
          </a:stretch>
        </p:blipFill>
        <p:spPr bwMode="auto">
          <a:xfrm>
            <a:off x="639886" y="2036242"/>
            <a:ext cx="6319055" cy="3373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9BC7665-81CB-B76F-6B49-97478419ED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5595663"/>
              </p:ext>
            </p:extLst>
          </p:nvPr>
        </p:nvGraphicFramePr>
        <p:xfrm>
          <a:off x="7489127" y="2847429"/>
          <a:ext cx="3428010" cy="1751104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498679">
                  <a:extLst>
                    <a:ext uri="{9D8B030D-6E8A-4147-A177-3AD203B41FA5}">
                      <a16:colId xmlns:a16="http://schemas.microsoft.com/office/drawing/2014/main" val="3270330777"/>
                    </a:ext>
                  </a:extLst>
                </a:gridCol>
                <a:gridCol w="1929331">
                  <a:extLst>
                    <a:ext uri="{9D8B030D-6E8A-4147-A177-3AD203B41FA5}">
                      <a16:colId xmlns:a16="http://schemas.microsoft.com/office/drawing/2014/main" val="4130277623"/>
                    </a:ext>
                  </a:extLst>
                </a:gridCol>
              </a:tblGrid>
              <a:tr h="4377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GND</a:t>
                      </a:r>
                      <a:endParaRPr lang="ko-KR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GND</a:t>
                      </a:r>
                      <a:endParaRPr lang="ko-KR" altLang="en-US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1821111"/>
                  </a:ext>
                </a:extLst>
              </a:tr>
              <a:tr h="4377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VCC</a:t>
                      </a:r>
                      <a:endParaRPr lang="ko-KR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5V</a:t>
                      </a:r>
                      <a:endParaRPr lang="ko-KR" altLang="en-US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3377169"/>
                  </a:ext>
                </a:extLst>
              </a:tr>
              <a:tr h="4377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TX</a:t>
                      </a:r>
                      <a:endParaRPr lang="ko-KR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</a:t>
                      </a:r>
                      <a:r>
                        <a:rPr lang="ko-KR" altLang="en-US" b="0" dirty="0"/>
                        <a:t>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6249091"/>
                  </a:ext>
                </a:extLst>
              </a:tr>
              <a:tr h="4377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RX</a:t>
                      </a:r>
                      <a:endParaRPr lang="ko-KR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3</a:t>
                      </a:r>
                      <a:r>
                        <a:rPr lang="ko-KR" altLang="en-US" b="0" dirty="0"/>
                        <a:t>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00370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30481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387C411-696B-D6D4-B4A2-D1609CA96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6C3027-9B02-2FF0-9917-74C37F366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와이파이 모듈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FA4F68-7321-D4E1-AAA1-64954E2EE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35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611A183-664D-0F40-E64A-D9097E02D8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9701" y="2861326"/>
            <a:ext cx="5559540" cy="3600360"/>
          </a:xfrm>
          <a:prstGeom prst="rect">
            <a:avLst/>
          </a:prstGeom>
        </p:spPr>
      </p:pic>
      <p:sp>
        <p:nvSpPr>
          <p:cNvPr id="9" name="내용 개체 틀 5">
            <a:extLst>
              <a:ext uri="{FF2B5EF4-FFF2-40B4-BE49-F238E27FC236}">
                <a16:creationId xmlns:a16="http://schemas.microsoft.com/office/drawing/2014/main" id="{8222D4E0-4494-5DC1-B8F7-2099406B6622}"/>
              </a:ext>
            </a:extLst>
          </p:cNvPr>
          <p:cNvSpPr txBox="1">
            <a:spLocks/>
          </p:cNvSpPr>
          <p:nvPr/>
        </p:nvSpPr>
        <p:spPr>
          <a:xfrm>
            <a:off x="821962" y="1413165"/>
            <a:ext cx="9944595" cy="4627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altLang="ko-KR" dirty="0"/>
              <a:t>ESP8266 </a:t>
            </a:r>
            <a:r>
              <a:rPr lang="ko-KR" altLang="en-US" dirty="0"/>
              <a:t>보드 추가</a:t>
            </a:r>
            <a:endParaRPr lang="en-US" altLang="ko-KR" dirty="0"/>
          </a:p>
          <a:p>
            <a:pPr lvl="1">
              <a:buFontTx/>
              <a:buChar char="-"/>
            </a:pPr>
            <a:r>
              <a:rPr lang="ko-KR" altLang="en-US" dirty="0"/>
              <a:t>파일 </a:t>
            </a:r>
            <a:r>
              <a:rPr lang="en-US" altLang="ko-KR" dirty="0"/>
              <a:t>&gt; </a:t>
            </a:r>
            <a:r>
              <a:rPr lang="ko-KR" altLang="en-US" dirty="0"/>
              <a:t>기본 설정 </a:t>
            </a:r>
            <a:r>
              <a:rPr lang="en-US" altLang="ko-KR" dirty="0"/>
              <a:t>&gt; </a:t>
            </a:r>
            <a:r>
              <a:rPr lang="ko-KR" altLang="en-US" dirty="0"/>
              <a:t>추가 보드 관리자 </a:t>
            </a:r>
            <a:r>
              <a:rPr lang="en-US" altLang="ko-KR" dirty="0"/>
              <a:t>URL</a:t>
            </a:r>
            <a:r>
              <a:rPr lang="ko-KR" altLang="en-US" dirty="0"/>
              <a:t>에 아래 주소 입력</a:t>
            </a:r>
            <a:endParaRPr lang="en-US" altLang="ko-KR" dirty="0"/>
          </a:p>
          <a:p>
            <a:pPr lvl="1">
              <a:buFontTx/>
              <a:buChar char="-"/>
            </a:pPr>
            <a:r>
              <a:rPr lang="en-US" altLang="ko-KR" dirty="0"/>
              <a:t>https://arduino.esp8266.com/stable/package_esp8266com_index.json</a:t>
            </a:r>
          </a:p>
          <a:p>
            <a:pPr lvl="1">
              <a:buFontTx/>
              <a:buChar char="-"/>
            </a:pP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3970758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99D1DFC-5A90-93D0-EB74-D28CF5028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5A0849-76A7-BB25-C0E9-C76A125ED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와이파이 모듈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49F794-48EC-398E-DBFC-6A54A8FCD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36</a:t>
            </a:fld>
            <a:endParaRPr lang="ko-KR" altLang="en-US" dirty="0"/>
          </a:p>
        </p:txBody>
      </p:sp>
      <p:sp>
        <p:nvSpPr>
          <p:cNvPr id="9" name="내용 개체 틀 5">
            <a:extLst>
              <a:ext uri="{FF2B5EF4-FFF2-40B4-BE49-F238E27FC236}">
                <a16:creationId xmlns:a16="http://schemas.microsoft.com/office/drawing/2014/main" id="{6A1F0E0E-DC6D-A1CA-CED8-A22788FABA86}"/>
              </a:ext>
            </a:extLst>
          </p:cNvPr>
          <p:cNvSpPr txBox="1">
            <a:spLocks/>
          </p:cNvSpPr>
          <p:nvPr/>
        </p:nvSpPr>
        <p:spPr>
          <a:xfrm>
            <a:off x="821963" y="1413165"/>
            <a:ext cx="5274038" cy="4627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2. </a:t>
            </a:r>
            <a:r>
              <a:rPr lang="ko-KR" altLang="en-US" dirty="0"/>
              <a:t>보드 매니저에서 </a:t>
            </a:r>
            <a:r>
              <a:rPr lang="en-US" altLang="ko-KR" dirty="0"/>
              <a:t>ESP8266 by</a:t>
            </a:r>
            <a:r>
              <a:rPr lang="ko-KR" altLang="en-US" dirty="0"/>
              <a:t> </a:t>
            </a:r>
            <a:r>
              <a:rPr lang="en-US" altLang="ko-KR" dirty="0"/>
              <a:t>ESP8266</a:t>
            </a:r>
            <a:r>
              <a:rPr lang="ko-KR" altLang="en-US" dirty="0"/>
              <a:t> </a:t>
            </a:r>
            <a:r>
              <a:rPr lang="en-US" altLang="ko-KR" dirty="0"/>
              <a:t>Community </a:t>
            </a:r>
            <a:r>
              <a:rPr lang="ko-KR" altLang="en-US" dirty="0"/>
              <a:t>설치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697350C-E2B2-B245-4F87-CDB41ECC6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4357" y="1442389"/>
            <a:ext cx="4010025" cy="470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7824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0AA9D-F076-E578-0AA5-FD303683D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325B97-674F-0113-0F90-D4DF94804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와이파이 모듈 동작 확인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98A96E-5D21-4805-65AA-711461380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37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0B80920-85D0-AA83-0928-F8BD2DB97C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707" y="1304059"/>
            <a:ext cx="6067425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1024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AC4F7-8EF1-4A4B-9C46-785A81BC7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DB15FA-ADBA-5398-265F-26DFD758D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와이파이 모듈 동작 확인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8475AE-82E3-6DC3-51AD-D5199BCD8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38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B7C2240-B929-A78D-4CF1-32F8802D2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2575" y="1862137"/>
            <a:ext cx="9086850" cy="31337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6C0A7039-EE79-6669-5703-C20944A8F0A3}"/>
              </a:ext>
            </a:extLst>
          </p:cNvPr>
          <p:cNvSpPr/>
          <p:nvPr/>
        </p:nvSpPr>
        <p:spPr>
          <a:xfrm>
            <a:off x="6751606" y="2386615"/>
            <a:ext cx="3887820" cy="43575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41124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T…"/>
          <p:cNvSpPr txBox="1">
            <a:spLocks noGrp="1"/>
          </p:cNvSpPr>
          <p:nvPr>
            <p:ph type="body" idx="1"/>
          </p:nvPr>
        </p:nvSpPr>
        <p:spPr>
          <a:xfrm>
            <a:off x="838200" y="688769"/>
            <a:ext cx="10515600" cy="512738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116586" indent="-116586" defTabSz="466344">
              <a:spcBef>
                <a:spcPts val="500"/>
              </a:spcBef>
              <a:defRPr sz="1224"/>
            </a:pPr>
            <a:r>
              <a:rPr sz="2000" dirty="0"/>
              <a:t>AT</a:t>
            </a:r>
          </a:p>
          <a:p>
            <a:pPr marL="349757" lvl="1" indent="-116586" defTabSz="466344">
              <a:spcBef>
                <a:spcPts val="500"/>
              </a:spcBef>
              <a:defRPr sz="1224"/>
            </a:pPr>
            <a:r>
              <a:rPr sz="1600" dirty="0" err="1"/>
              <a:t>모듈</a:t>
            </a:r>
            <a:r>
              <a:rPr sz="1600" dirty="0"/>
              <a:t> </a:t>
            </a:r>
            <a:r>
              <a:rPr sz="1600" dirty="0" err="1"/>
              <a:t>동작</a:t>
            </a:r>
            <a:r>
              <a:rPr sz="1600" dirty="0"/>
              <a:t> </a:t>
            </a:r>
            <a:r>
              <a:rPr sz="1600" dirty="0" err="1"/>
              <a:t>확인</a:t>
            </a:r>
            <a:endParaRPr sz="1600" dirty="0"/>
          </a:p>
          <a:p>
            <a:pPr marL="116586" indent="-116586" defTabSz="466344">
              <a:spcBef>
                <a:spcPts val="500"/>
              </a:spcBef>
              <a:defRPr sz="1224"/>
            </a:pPr>
            <a:r>
              <a:rPr sz="2000" dirty="0"/>
              <a:t>AT+UART=9600,8,1,0,0</a:t>
            </a:r>
          </a:p>
          <a:p>
            <a:pPr marL="349757" lvl="1" indent="-116586" defTabSz="466344">
              <a:spcBef>
                <a:spcPts val="500"/>
              </a:spcBef>
              <a:defRPr sz="1224"/>
            </a:pPr>
            <a:r>
              <a:rPr sz="1600" dirty="0" err="1"/>
              <a:t>모듈</a:t>
            </a:r>
            <a:r>
              <a:rPr sz="1600" dirty="0"/>
              <a:t> </a:t>
            </a:r>
            <a:r>
              <a:rPr sz="1600" dirty="0" err="1"/>
              <a:t>속소</a:t>
            </a:r>
            <a:r>
              <a:rPr sz="1600" dirty="0"/>
              <a:t> 9600으로 </a:t>
            </a:r>
            <a:r>
              <a:rPr sz="1600" dirty="0" err="1"/>
              <a:t>변경하기</a:t>
            </a:r>
            <a:endParaRPr sz="1600" dirty="0"/>
          </a:p>
          <a:p>
            <a:pPr marL="116586" indent="-116586" defTabSz="466344">
              <a:spcBef>
                <a:spcPts val="500"/>
              </a:spcBef>
              <a:defRPr sz="1224"/>
            </a:pPr>
            <a:r>
              <a:rPr sz="2000" dirty="0"/>
              <a:t>AT+CWMODE=1</a:t>
            </a:r>
          </a:p>
          <a:p>
            <a:pPr marL="349757" lvl="1" indent="-116586" defTabSz="466344">
              <a:spcBef>
                <a:spcPts val="500"/>
              </a:spcBef>
              <a:defRPr sz="1224"/>
            </a:pPr>
            <a:r>
              <a:rPr sz="1600" dirty="0"/>
              <a:t>WIFI </a:t>
            </a:r>
            <a:r>
              <a:rPr sz="1600" dirty="0" err="1"/>
              <a:t>모듈을</a:t>
            </a:r>
            <a:r>
              <a:rPr sz="1600" dirty="0"/>
              <a:t> </a:t>
            </a:r>
            <a:r>
              <a:rPr sz="1600" dirty="0" err="1"/>
              <a:t>client로</a:t>
            </a:r>
            <a:r>
              <a:rPr sz="1600" dirty="0"/>
              <a:t> </a:t>
            </a:r>
            <a:r>
              <a:rPr sz="1600" dirty="0" err="1"/>
              <a:t>설정</a:t>
            </a:r>
            <a:r>
              <a:rPr sz="1600" dirty="0"/>
              <a:t> (2번은 </a:t>
            </a:r>
            <a:r>
              <a:rPr sz="1600" dirty="0" err="1"/>
              <a:t>공유기</a:t>
            </a:r>
            <a:r>
              <a:rPr sz="1600" dirty="0"/>
              <a:t>)</a:t>
            </a:r>
          </a:p>
          <a:p>
            <a:pPr marL="116586" indent="-116586" defTabSz="466344">
              <a:spcBef>
                <a:spcPts val="500"/>
              </a:spcBef>
              <a:defRPr sz="1224"/>
            </a:pPr>
            <a:r>
              <a:rPr sz="2000" dirty="0"/>
              <a:t>AT+CWLAP</a:t>
            </a:r>
          </a:p>
          <a:p>
            <a:pPr marL="349757" lvl="1" indent="-116586" defTabSz="466344">
              <a:spcBef>
                <a:spcPts val="500"/>
              </a:spcBef>
              <a:defRPr sz="1224"/>
            </a:pPr>
            <a:r>
              <a:rPr sz="1600" dirty="0"/>
              <a:t>WIFI </a:t>
            </a:r>
            <a:r>
              <a:rPr sz="1600" dirty="0" err="1"/>
              <a:t>공유기</a:t>
            </a:r>
            <a:r>
              <a:rPr sz="1600" dirty="0"/>
              <a:t> </a:t>
            </a:r>
            <a:r>
              <a:rPr sz="1600" dirty="0" err="1"/>
              <a:t>목록</a:t>
            </a:r>
            <a:r>
              <a:rPr sz="1600" dirty="0"/>
              <a:t> </a:t>
            </a:r>
            <a:r>
              <a:rPr sz="1600" dirty="0" err="1"/>
              <a:t>보기</a:t>
            </a:r>
            <a:endParaRPr sz="1600" dirty="0"/>
          </a:p>
          <a:p>
            <a:pPr marL="116586" indent="-116586" defTabSz="466344">
              <a:spcBef>
                <a:spcPts val="500"/>
              </a:spcBef>
              <a:defRPr sz="1224"/>
            </a:pPr>
            <a:r>
              <a:rPr sz="2000" dirty="0"/>
              <a:t>AT+CWJAP="SSID","PASSWORD"</a:t>
            </a:r>
          </a:p>
          <a:p>
            <a:pPr marL="349757" lvl="1" indent="-116586" defTabSz="466344">
              <a:spcBef>
                <a:spcPts val="500"/>
              </a:spcBef>
              <a:defRPr sz="1224"/>
            </a:pPr>
            <a:r>
              <a:rPr sz="1600" dirty="0"/>
              <a:t>WIFI </a:t>
            </a:r>
            <a:r>
              <a:rPr sz="1600" dirty="0" err="1"/>
              <a:t>공유기</a:t>
            </a:r>
            <a:r>
              <a:rPr sz="1600" dirty="0"/>
              <a:t> </a:t>
            </a:r>
            <a:r>
              <a:rPr sz="1600" dirty="0" err="1"/>
              <a:t>연결하기</a:t>
            </a:r>
            <a:endParaRPr sz="1600" dirty="0"/>
          </a:p>
          <a:p>
            <a:pPr marL="349757" lvl="1" indent="-116586" defTabSz="466344">
              <a:spcBef>
                <a:spcPts val="500"/>
              </a:spcBef>
              <a:defRPr sz="1224"/>
            </a:pPr>
            <a:r>
              <a:rPr sz="1600" dirty="0" err="1"/>
              <a:t>연결</a:t>
            </a:r>
            <a:r>
              <a:rPr sz="1600" dirty="0"/>
              <a:t> </a:t>
            </a:r>
            <a:r>
              <a:rPr sz="1600" dirty="0" err="1"/>
              <a:t>성공시</a:t>
            </a:r>
            <a:r>
              <a:rPr sz="1600" dirty="0"/>
              <a:t>,</a:t>
            </a:r>
          </a:p>
        </p:txBody>
      </p:sp>
      <p:sp>
        <p:nvSpPr>
          <p:cNvPr id="89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672676" y="6509628"/>
            <a:ext cx="273657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757575"/>
                </a:solidFill>
                <a:effectLst/>
                <a:uFillTx/>
                <a:latin typeface="G마켓 산스 TTF Medium"/>
                <a:ea typeface="G마켓 산스 TTF Medium"/>
                <a:cs typeface="G마켓 산스 TTF Medium"/>
                <a:sym typeface="G마켓 산스 TTF Medium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메이플스토리"/>
                <a:ea typeface="메이플스토리"/>
                <a:cs typeface="메이플스토리"/>
                <a:sym typeface="메이플스토리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메이플스토리"/>
                <a:ea typeface="메이플스토리"/>
                <a:cs typeface="메이플스토리"/>
                <a:sym typeface="메이플스토리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메이플스토리"/>
                <a:ea typeface="메이플스토리"/>
                <a:cs typeface="메이플스토리"/>
                <a:sym typeface="메이플스토리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메이플스토리"/>
                <a:ea typeface="메이플스토리"/>
                <a:cs typeface="메이플스토리"/>
                <a:sym typeface="메이플스토리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메이플스토리"/>
                <a:ea typeface="메이플스토리"/>
                <a:cs typeface="메이플스토리"/>
                <a:sym typeface="메이플스토리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메이플스토리"/>
                <a:ea typeface="메이플스토리"/>
                <a:cs typeface="메이플스토리"/>
                <a:sym typeface="메이플스토리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메이플스토리"/>
                <a:ea typeface="메이플스토리"/>
                <a:cs typeface="메이플스토리"/>
                <a:sym typeface="메이플스토리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메이플스토리"/>
                <a:ea typeface="메이플스토리"/>
                <a:cs typeface="메이플스토리"/>
                <a:sym typeface="메이플스토리"/>
              </a:defRPr>
            </a:lvl9pPr>
          </a:lstStyle>
          <a:p>
            <a:fld id="{86CB4B4D-7CA3-9044-876B-883B54F8677D}" type="slidenum">
              <a:rPr lang="en-US" altLang="ko-KR" smtClean="0"/>
              <a:pPr/>
              <a:t>39</a:t>
            </a:fld>
            <a:endParaRPr/>
          </a:p>
        </p:txBody>
      </p:sp>
      <p:sp>
        <p:nvSpPr>
          <p:cNvPr id="90" name="WIFI CONNECTED…"/>
          <p:cNvSpPr txBox="1"/>
          <p:nvPr/>
        </p:nvSpPr>
        <p:spPr>
          <a:xfrm>
            <a:off x="6970429" y="1448789"/>
            <a:ext cx="2097917" cy="1209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solidFill>
                  <a:schemeClr val="accent6">
                    <a:lumOff val="-9568"/>
                  </a:schemeClr>
                </a:solidFill>
              </a:defRPr>
            </a:pPr>
            <a:r>
              <a:rPr dirty="0"/>
              <a:t>WIFI CONNECTED</a:t>
            </a:r>
          </a:p>
          <a:p>
            <a:pPr>
              <a:defRPr>
                <a:solidFill>
                  <a:schemeClr val="accent6">
                    <a:lumOff val="-9568"/>
                  </a:schemeClr>
                </a:solidFill>
              </a:defRPr>
            </a:pPr>
            <a:r>
              <a:rPr dirty="0"/>
              <a:t>WIFI GOT IP</a:t>
            </a:r>
          </a:p>
          <a:p>
            <a:pPr>
              <a:defRPr>
                <a:solidFill>
                  <a:schemeClr val="accent6">
                    <a:lumOff val="-9568"/>
                  </a:schemeClr>
                </a:solidFill>
              </a:defRPr>
            </a:pPr>
            <a:endParaRPr dirty="0"/>
          </a:p>
          <a:p>
            <a:pPr>
              <a:defRPr>
                <a:solidFill>
                  <a:schemeClr val="accent6">
                    <a:lumOff val="-9568"/>
                  </a:schemeClr>
                </a:solidFill>
              </a:defRPr>
            </a:pPr>
            <a:r>
              <a:rPr dirty="0"/>
              <a:t>OK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6F01F-AC50-57D4-9A95-3E1C78C53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367566-74A9-CFA2-BE21-796EF4063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와이파이 모듈 실습 </a:t>
            </a:r>
            <a:r>
              <a:rPr lang="en-US" altLang="ko-KR" dirty="0"/>
              <a:t>- Python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0995E1-DD7F-30E6-D6B8-24E78ECEA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40</a:t>
            </a:fld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C3518D4-E585-025F-1C40-5A94188B6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6986" y="1423369"/>
            <a:ext cx="7418028" cy="4799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6355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E1964-01E6-2E54-81F7-B229033B7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7CC335-4034-DEA8-D28D-37F24C6C6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와이파이 모듈 실습 </a:t>
            </a:r>
            <a:r>
              <a:rPr lang="en-US" altLang="ko-KR" dirty="0"/>
              <a:t>- </a:t>
            </a:r>
            <a:r>
              <a:rPr lang="ko-KR" altLang="en-US" dirty="0"/>
              <a:t>방화벽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CD867B-0CB1-A3DC-01C8-AB0B07715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41</a:t>
            </a:fld>
            <a:endParaRPr lang="ko-KR" altLang="en-US" dirty="0"/>
          </a:p>
        </p:txBody>
      </p:sp>
      <p:sp>
        <p:nvSpPr>
          <p:cNvPr id="9" name="내용 개체 틀 5">
            <a:extLst>
              <a:ext uri="{FF2B5EF4-FFF2-40B4-BE49-F238E27FC236}">
                <a16:creationId xmlns:a16="http://schemas.microsoft.com/office/drawing/2014/main" id="{7D9A3749-63EB-66AC-76A2-7B2C9AD66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39"/>
            <a:ext cx="10515600" cy="4627124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ko-KR" altLang="en-US" dirty="0"/>
              <a:t>외부에서의 접속 또는 와이파이 모듈에서의 접속을 위해 </a:t>
            </a:r>
            <a:r>
              <a:rPr lang="en-US" altLang="ko-KR" dirty="0"/>
              <a:t>Flask</a:t>
            </a:r>
            <a:r>
              <a:rPr lang="ko-KR" altLang="en-US" dirty="0"/>
              <a:t>가 연결한 포트 번호</a:t>
            </a:r>
            <a:r>
              <a:rPr lang="en-US" altLang="ko-KR" dirty="0"/>
              <a:t>(5000)</a:t>
            </a:r>
            <a:r>
              <a:rPr lang="ko-KR" altLang="en-US" dirty="0"/>
              <a:t>의 방화벽을 열어야 한다</a:t>
            </a:r>
            <a:r>
              <a:rPr lang="en-US" altLang="ko-KR" dirty="0"/>
              <a:t>.</a:t>
            </a:r>
          </a:p>
          <a:p>
            <a:pPr marL="914400" lvl="1" indent="-457200">
              <a:buFont typeface="+mj-ea"/>
              <a:buAutoNum type="circleNumDbPlain"/>
            </a:pPr>
            <a:r>
              <a:rPr lang="en-US" altLang="ko-KR" dirty="0"/>
              <a:t>Windows</a:t>
            </a:r>
          </a:p>
          <a:p>
            <a:pPr marL="1371600" lvl="2" indent="-457200">
              <a:buFont typeface="+mj-lt"/>
              <a:buAutoNum type="alphaUcPeriod"/>
            </a:pPr>
            <a:r>
              <a:rPr lang="ko-KR" altLang="en-US" dirty="0"/>
              <a:t>관리자 권한으로 </a:t>
            </a:r>
            <a:r>
              <a:rPr lang="en-US" altLang="ko-KR" dirty="0"/>
              <a:t>Windows PowerShell </a:t>
            </a:r>
            <a:r>
              <a:rPr lang="ko-KR" altLang="en-US" dirty="0"/>
              <a:t>오픈</a:t>
            </a:r>
            <a:endParaRPr lang="en-US" altLang="ko-KR" dirty="0"/>
          </a:p>
          <a:p>
            <a:pPr marL="1371600" lvl="2" indent="-457200">
              <a:buFont typeface="+mj-lt"/>
              <a:buAutoNum type="alphaUcPeriod"/>
            </a:pPr>
            <a:r>
              <a:rPr lang="ko-KR" altLang="en-US" dirty="0"/>
              <a:t>명령어 입력</a:t>
            </a:r>
            <a:endParaRPr lang="en-US" altLang="ko-KR" dirty="0"/>
          </a:p>
          <a:p>
            <a:pPr marL="1371600" lvl="3" indent="0">
              <a:lnSpc>
                <a:spcPct val="100000"/>
              </a:lnSpc>
              <a:buNone/>
            </a:pPr>
            <a:r>
              <a:rPr lang="en-US" altLang="ko-KR" dirty="0">
                <a:solidFill>
                  <a:schemeClr val="bg1"/>
                </a:solidFill>
                <a:highlight>
                  <a:srgbClr val="000000"/>
                </a:highlight>
              </a:rPr>
              <a:t># </a:t>
            </a:r>
            <a:r>
              <a:rPr lang="ko-KR" altLang="en-US" dirty="0" err="1">
                <a:solidFill>
                  <a:schemeClr val="bg1"/>
                </a:solidFill>
                <a:highlight>
                  <a:srgbClr val="000000"/>
                </a:highlight>
              </a:rPr>
              <a:t>netsh</a:t>
            </a:r>
            <a:r>
              <a:rPr lang="ko-KR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 </a:t>
            </a:r>
            <a:r>
              <a:rPr lang="ko-KR" altLang="en-US" dirty="0" err="1">
                <a:solidFill>
                  <a:schemeClr val="bg1"/>
                </a:solidFill>
                <a:highlight>
                  <a:srgbClr val="000000"/>
                </a:highlight>
              </a:rPr>
              <a:t>advfirewall</a:t>
            </a:r>
            <a:r>
              <a:rPr lang="ko-KR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 </a:t>
            </a:r>
            <a:r>
              <a:rPr lang="ko-KR" altLang="en-US" dirty="0" err="1">
                <a:solidFill>
                  <a:schemeClr val="bg1"/>
                </a:solidFill>
                <a:highlight>
                  <a:srgbClr val="000000"/>
                </a:highlight>
              </a:rPr>
              <a:t>firewall</a:t>
            </a:r>
            <a:r>
              <a:rPr lang="ko-KR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 </a:t>
            </a:r>
            <a:r>
              <a:rPr lang="ko-KR" altLang="en-US" dirty="0" err="1">
                <a:solidFill>
                  <a:schemeClr val="bg1"/>
                </a:solidFill>
                <a:highlight>
                  <a:srgbClr val="000000"/>
                </a:highlight>
              </a:rPr>
              <a:t>add</a:t>
            </a:r>
            <a:r>
              <a:rPr lang="ko-KR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 </a:t>
            </a:r>
            <a:r>
              <a:rPr lang="ko-KR" altLang="en-US" dirty="0" err="1">
                <a:solidFill>
                  <a:schemeClr val="bg1"/>
                </a:solidFill>
                <a:highlight>
                  <a:srgbClr val="000000"/>
                </a:highlight>
              </a:rPr>
              <a:t>rule</a:t>
            </a:r>
            <a:r>
              <a:rPr lang="ko-KR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 </a:t>
            </a:r>
            <a:r>
              <a:rPr lang="ko-KR" altLang="en-US" dirty="0" err="1">
                <a:solidFill>
                  <a:schemeClr val="bg1"/>
                </a:solidFill>
                <a:highlight>
                  <a:srgbClr val="000000"/>
                </a:highlight>
              </a:rPr>
              <a:t>name</a:t>
            </a:r>
            <a:r>
              <a:rPr lang="ko-KR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="Flask5000" </a:t>
            </a:r>
            <a:r>
              <a:rPr lang="ko-KR" altLang="en-US" dirty="0" err="1">
                <a:solidFill>
                  <a:schemeClr val="bg1"/>
                </a:solidFill>
                <a:highlight>
                  <a:srgbClr val="000000"/>
                </a:highlight>
              </a:rPr>
              <a:t>dir</a:t>
            </a:r>
            <a:r>
              <a:rPr lang="ko-KR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=</a:t>
            </a:r>
            <a:r>
              <a:rPr lang="ko-KR" altLang="en-US" dirty="0" err="1">
                <a:solidFill>
                  <a:schemeClr val="bg1"/>
                </a:solidFill>
                <a:highlight>
                  <a:srgbClr val="000000"/>
                </a:highlight>
              </a:rPr>
              <a:t>in</a:t>
            </a:r>
            <a:r>
              <a:rPr lang="ko-KR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 </a:t>
            </a:r>
            <a:r>
              <a:rPr lang="ko-KR" altLang="en-US" dirty="0" err="1">
                <a:solidFill>
                  <a:schemeClr val="bg1"/>
                </a:solidFill>
                <a:highlight>
                  <a:srgbClr val="000000"/>
                </a:highlight>
              </a:rPr>
              <a:t>action</a:t>
            </a:r>
            <a:r>
              <a:rPr lang="ko-KR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=</a:t>
            </a:r>
            <a:r>
              <a:rPr lang="ko-KR" altLang="en-US" dirty="0" err="1">
                <a:solidFill>
                  <a:schemeClr val="bg1"/>
                </a:solidFill>
                <a:highlight>
                  <a:srgbClr val="000000"/>
                </a:highlight>
              </a:rPr>
              <a:t>allow</a:t>
            </a:r>
            <a:r>
              <a:rPr lang="ko-KR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 </a:t>
            </a:r>
            <a:r>
              <a:rPr lang="ko-KR" altLang="en-US" dirty="0" err="1">
                <a:solidFill>
                  <a:schemeClr val="bg1"/>
                </a:solidFill>
                <a:highlight>
                  <a:srgbClr val="000000"/>
                </a:highlight>
              </a:rPr>
              <a:t>protocol</a:t>
            </a:r>
            <a:r>
              <a:rPr lang="ko-KR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=TCP </a:t>
            </a:r>
            <a:r>
              <a:rPr lang="ko-KR" altLang="en-US" dirty="0" err="1">
                <a:solidFill>
                  <a:schemeClr val="bg1"/>
                </a:solidFill>
                <a:highlight>
                  <a:srgbClr val="000000"/>
                </a:highlight>
              </a:rPr>
              <a:t>localport</a:t>
            </a:r>
            <a:r>
              <a:rPr lang="ko-KR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=5000</a:t>
            </a:r>
            <a:endParaRPr lang="en-US" altLang="ko-KR" dirty="0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marL="1371600" lvl="2" indent="-457200">
              <a:buFont typeface="+mj-lt"/>
              <a:buAutoNum type="alphaUcPeriod"/>
            </a:pPr>
            <a:r>
              <a:rPr lang="en-US" altLang="ko-KR" dirty="0"/>
              <a:t>[</a:t>
            </a:r>
            <a:r>
              <a:rPr lang="ko-KR" altLang="en-US" dirty="0"/>
              <a:t>네트워크 속성</a:t>
            </a:r>
            <a:r>
              <a:rPr lang="en-US" altLang="ko-KR" dirty="0"/>
              <a:t>] </a:t>
            </a:r>
            <a:r>
              <a:rPr lang="ko-KR" altLang="en-US" dirty="0"/>
              <a:t>→ </a:t>
            </a:r>
            <a:r>
              <a:rPr lang="en-US" altLang="ko-KR" dirty="0"/>
              <a:t>[</a:t>
            </a:r>
            <a:r>
              <a:rPr lang="ko-KR" altLang="en-US" dirty="0"/>
              <a:t>네트워크 프로필</a:t>
            </a:r>
            <a:r>
              <a:rPr lang="en-US" altLang="ko-KR" dirty="0"/>
              <a:t>] </a:t>
            </a:r>
            <a:r>
              <a:rPr lang="ko-KR" altLang="en-US" dirty="0"/>
              <a:t>→ </a:t>
            </a:r>
            <a:r>
              <a:rPr lang="en-US" altLang="ko-KR" dirty="0"/>
              <a:t>“</a:t>
            </a:r>
            <a:r>
              <a:rPr lang="ko-KR" altLang="en-US" dirty="0"/>
              <a:t>개인</a:t>
            </a:r>
            <a:r>
              <a:rPr lang="en-US" altLang="ko-KR" dirty="0"/>
              <a:t>” </a:t>
            </a:r>
            <a:r>
              <a:rPr lang="ko-KR" altLang="en-US" dirty="0"/>
              <a:t>설정</a:t>
            </a:r>
            <a:endParaRPr lang="en-US" altLang="ko-KR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84D4124-EE1B-9975-B63B-DD84D4D3F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4944" y="2703818"/>
            <a:ext cx="4877056" cy="91274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AD2E5CD1-9334-DB8D-8927-47AACA0275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4944" y="4228766"/>
            <a:ext cx="3978963" cy="2232920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3E4DB386-C557-FB44-9128-E7AADE51E579}"/>
              </a:ext>
            </a:extLst>
          </p:cNvPr>
          <p:cNvSpPr/>
          <p:nvPr/>
        </p:nvSpPr>
        <p:spPr>
          <a:xfrm>
            <a:off x="7360514" y="5348905"/>
            <a:ext cx="3978963" cy="82805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10608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9F36B-7DD2-8057-23B1-88AE9DA3F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63C9E-D9B0-322C-51A8-8CBCECA27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와이파이 모듈 실습 </a:t>
            </a:r>
            <a:r>
              <a:rPr lang="en-US" altLang="ko-KR" dirty="0"/>
              <a:t>- </a:t>
            </a:r>
            <a:r>
              <a:rPr lang="ko-KR" altLang="en-US" dirty="0"/>
              <a:t>방화벽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7B3252-FFC6-B616-3413-EE963D31D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42</a:t>
            </a:fld>
            <a:endParaRPr lang="ko-KR" altLang="en-US" dirty="0"/>
          </a:p>
        </p:txBody>
      </p:sp>
      <p:sp>
        <p:nvSpPr>
          <p:cNvPr id="9" name="내용 개체 틀 5">
            <a:extLst>
              <a:ext uri="{FF2B5EF4-FFF2-40B4-BE49-F238E27FC236}">
                <a16:creationId xmlns:a16="http://schemas.microsoft.com/office/drawing/2014/main" id="{9668F1C5-6B58-011D-939A-387BAAEB36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39"/>
            <a:ext cx="10515600" cy="4627124"/>
          </a:xfrm>
        </p:spPr>
        <p:txBody>
          <a:bodyPr/>
          <a:lstStyle/>
          <a:p>
            <a:pPr marL="914400" lvl="1" indent="-457200">
              <a:buFont typeface="+mj-lt"/>
              <a:buAutoNum type="circleNumDbPlain"/>
            </a:pPr>
            <a:r>
              <a:rPr lang="en-US" altLang="ko-KR" dirty="0"/>
              <a:t>Mac</a:t>
            </a:r>
          </a:p>
          <a:p>
            <a:pPr marL="1371600" lvl="2" indent="-457200">
              <a:buFont typeface="+mj-lt"/>
              <a:buAutoNum type="alphaUcPeriod"/>
            </a:pPr>
            <a:r>
              <a:rPr lang="en-US" altLang="ko-KR" dirty="0"/>
              <a:t>[</a:t>
            </a:r>
            <a:r>
              <a:rPr lang="ko-KR" altLang="en-US" dirty="0"/>
              <a:t>시스템 설정</a:t>
            </a:r>
            <a:r>
              <a:rPr lang="en-US" altLang="ko-KR" dirty="0"/>
              <a:t>] </a:t>
            </a:r>
            <a:r>
              <a:rPr lang="ko-KR" altLang="en-US" dirty="0"/>
              <a:t>→</a:t>
            </a:r>
            <a:r>
              <a:rPr lang="en-US" altLang="ko-KR" dirty="0"/>
              <a:t> [</a:t>
            </a:r>
            <a:r>
              <a:rPr lang="ko-KR" altLang="en-US" dirty="0"/>
              <a:t>네트워크</a:t>
            </a:r>
            <a:r>
              <a:rPr lang="en-US" altLang="ko-KR" dirty="0"/>
              <a:t>] </a:t>
            </a:r>
            <a:r>
              <a:rPr lang="ko-KR" altLang="en-US" dirty="0"/>
              <a:t>→ </a:t>
            </a:r>
            <a:r>
              <a:rPr lang="en-US" altLang="ko-KR" dirty="0"/>
              <a:t>[</a:t>
            </a:r>
            <a:r>
              <a:rPr lang="ko-KR" altLang="en-US" dirty="0"/>
              <a:t>방화벽</a:t>
            </a:r>
            <a:r>
              <a:rPr lang="en-US" altLang="ko-KR" dirty="0"/>
              <a:t>] </a:t>
            </a:r>
            <a:r>
              <a:rPr lang="ko-KR" altLang="en-US" dirty="0"/>
              <a:t>→ </a:t>
            </a:r>
            <a:r>
              <a:rPr lang="en-US" altLang="ko-KR" dirty="0"/>
              <a:t>ON</a:t>
            </a:r>
          </a:p>
          <a:p>
            <a:pPr marL="1371600" lvl="2" indent="-457200">
              <a:buFont typeface="+mj-lt"/>
              <a:buAutoNum type="alphaUcPeriod"/>
            </a:pPr>
            <a:r>
              <a:rPr lang="en-US" altLang="ko-KR" dirty="0"/>
              <a:t>[</a:t>
            </a:r>
            <a:r>
              <a:rPr lang="ko-KR" altLang="en-US" dirty="0"/>
              <a:t>옵션</a:t>
            </a:r>
            <a:r>
              <a:rPr lang="en-US" altLang="ko-KR" dirty="0"/>
              <a:t>]</a:t>
            </a:r>
            <a:r>
              <a:rPr lang="ko-KR" altLang="en-US" dirty="0"/>
              <a:t>에서 </a:t>
            </a:r>
            <a:r>
              <a:rPr lang="en-US" altLang="ko-KR" dirty="0"/>
              <a:t>python </a:t>
            </a:r>
            <a:r>
              <a:rPr lang="ko-KR" altLang="en-US" dirty="0"/>
              <a:t>또는 </a:t>
            </a:r>
            <a:r>
              <a:rPr lang="en-US" altLang="ko-KR" dirty="0"/>
              <a:t>python3 </a:t>
            </a:r>
            <a:r>
              <a:rPr lang="ko-KR" altLang="en-US" dirty="0"/>
              <a:t>포함 여부 확인</a:t>
            </a:r>
            <a:endParaRPr lang="en-US" altLang="ko-KR" dirty="0"/>
          </a:p>
        </p:txBody>
      </p:sp>
      <p:pic>
        <p:nvPicPr>
          <p:cNvPr id="15" name="그림 14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0E2C705-F260-9672-AD1E-4C024BA51E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92" b="45455"/>
          <a:stretch>
            <a:fillRect/>
          </a:stretch>
        </p:blipFill>
        <p:spPr>
          <a:xfrm>
            <a:off x="6802716" y="2875402"/>
            <a:ext cx="4800831" cy="2191343"/>
          </a:xfrm>
          <a:prstGeom prst="rect">
            <a:avLst/>
          </a:prstGeom>
        </p:spPr>
      </p:pic>
      <p:pic>
        <p:nvPicPr>
          <p:cNvPr id="10" name="그림 9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EAB78AB-3153-955D-7FEC-09D5EBD6CF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789" y="2875402"/>
            <a:ext cx="5676057" cy="3289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697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4A0AB-43E5-3354-6FA8-14EC9ACAB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211CA6-7E89-8829-6713-3C0ABBACA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와이파이 모듈 실습 </a:t>
            </a:r>
            <a:r>
              <a:rPr lang="en-US" altLang="ko-KR" dirty="0"/>
              <a:t>- </a:t>
            </a:r>
            <a:r>
              <a:rPr lang="ko-KR" altLang="en-US" dirty="0" err="1"/>
              <a:t>아두이노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D0974E8-8169-5A10-D043-4EE96F315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912" y="1293373"/>
            <a:ext cx="9737148" cy="5082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84971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02104-6293-FADA-67D6-9B0A8DC72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B0269A-EB7F-C8B0-10A7-60487822E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와이파이 모듈 실습 </a:t>
            </a:r>
            <a:r>
              <a:rPr lang="en-US" altLang="ko-KR" dirty="0"/>
              <a:t>- </a:t>
            </a:r>
            <a:r>
              <a:rPr lang="ko-KR" altLang="en-US" dirty="0" err="1"/>
              <a:t>아두이노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4DABCB1-3614-7588-718F-239B450FB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87" y="1649619"/>
            <a:ext cx="11782425" cy="401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472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1CBE6-520E-6C1E-6899-ABB2AD612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8E6FCD-1A53-5698-3598-F940E9EDB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와이파이 모듈 실습 </a:t>
            </a:r>
            <a:r>
              <a:rPr lang="en-US" altLang="ko-KR" dirty="0"/>
              <a:t>- </a:t>
            </a:r>
            <a:r>
              <a:rPr lang="ko-KR" altLang="en-US" dirty="0" err="1"/>
              <a:t>아두이노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E995A1B-5E63-E964-E4EF-7329DAE9E9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966" y="1461113"/>
            <a:ext cx="11264068" cy="458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96481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441659-FB7E-0233-793D-7C2A17913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46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3DD104D-2528-78FA-6F3B-BCC00829C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42" y="0"/>
            <a:ext cx="6904151" cy="6858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2662477-960E-DFF9-DCE4-EF5868133E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2693" y="851461"/>
            <a:ext cx="5562600" cy="561022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E15272A-BD78-C369-E1B2-3467EFA67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7755" y="1031798"/>
            <a:ext cx="3713109" cy="1325563"/>
          </a:xfrm>
        </p:spPr>
        <p:txBody>
          <a:bodyPr/>
          <a:lstStyle/>
          <a:p>
            <a:r>
              <a:rPr lang="ko-KR" altLang="en-US" dirty="0">
                <a:solidFill>
                  <a:srgbClr val="FF0000"/>
                </a:solidFill>
              </a:rPr>
              <a:t>방화벽 이슈</a:t>
            </a:r>
          </a:p>
        </p:txBody>
      </p:sp>
    </p:spTree>
    <p:extLst>
      <p:ext uri="{BB962C8B-B14F-4D97-AF65-F5344CB8AC3E}">
        <p14:creationId xmlns:p14="http://schemas.microsoft.com/office/powerpoint/2010/main" val="25054834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356940-BFCA-0D39-BEEF-4F294FECF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A43BAF-8384-C01E-57BC-5564BE6286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BEDB76-7ECA-99B2-564B-BEA1A8004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47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68D9877-1BC5-B29F-C2C9-DC2B9D070E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1050" y="5304745"/>
            <a:ext cx="6762750" cy="90487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F63CCBA-0774-7D39-A889-C5754267F1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460" y="0"/>
            <a:ext cx="4008783" cy="6858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A67A0AE-6E74-8195-91D7-D4F0871701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0430" y="910999"/>
            <a:ext cx="6391275" cy="3543300"/>
          </a:xfrm>
          <a:prstGeom prst="rect">
            <a:avLst/>
          </a:prstGeom>
        </p:spPr>
      </p:pic>
      <p:sp>
        <p:nvSpPr>
          <p:cNvPr id="11" name="제목 1">
            <a:extLst>
              <a:ext uri="{FF2B5EF4-FFF2-40B4-BE49-F238E27FC236}">
                <a16:creationId xmlns:a16="http://schemas.microsoft.com/office/drawing/2014/main" id="{48E403AE-F93B-777D-90E1-EF0F9C1E2D8F}"/>
              </a:ext>
            </a:extLst>
          </p:cNvPr>
          <p:cNvSpPr txBox="1">
            <a:spLocks/>
          </p:cNvSpPr>
          <p:nvPr/>
        </p:nvSpPr>
        <p:spPr>
          <a:xfrm>
            <a:off x="7972425" y="2537837"/>
            <a:ext cx="371310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defRPr>
            </a:lvl1pPr>
          </a:lstStyle>
          <a:p>
            <a:r>
              <a:rPr lang="ko-KR" altLang="en-US" dirty="0">
                <a:solidFill>
                  <a:srgbClr val="FF0000"/>
                </a:solidFill>
              </a:rPr>
              <a:t>통신 성공</a:t>
            </a:r>
          </a:p>
        </p:txBody>
      </p:sp>
    </p:spTree>
    <p:extLst>
      <p:ext uri="{BB962C8B-B14F-4D97-AF65-F5344CB8AC3E}">
        <p14:creationId xmlns:p14="http://schemas.microsoft.com/office/powerpoint/2010/main" val="2400828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45D240E-83FB-4885-0AB9-F78B85245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C0F63C14-1D97-23CA-0616-C55F6AF291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079" y="954015"/>
            <a:ext cx="8787064" cy="4949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71899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F3F40EE-3922-1761-AA1F-C48829253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31AE040-55C2-965E-18B6-C734C56D7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243" y="21643"/>
            <a:ext cx="8493702" cy="6814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79974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24385BA-B93D-69FC-DE43-FFF9E390C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F65C9C3-0416-1F25-263B-EDDB18D916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0775" y="1592190"/>
            <a:ext cx="9510449" cy="3673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02577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82B5768-486E-A9C7-0138-E9C15048A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FC94347-C026-69ED-17EE-CFD68A4CE9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4137" y="203055"/>
            <a:ext cx="8747935" cy="6451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08695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770DD60-B6A9-7C61-B2FC-AB38DA985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BBD3EE1-089C-981A-AD6F-6C95B26AF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766" y="0"/>
            <a:ext cx="10838468" cy="6809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33551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108D1FC-DD1F-6607-048C-A91E4FCCA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8D52D81-0885-E8F7-EDF7-B01914C9FB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7131" y="0"/>
            <a:ext cx="7862855" cy="6809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38495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DC0FFC4-8952-96F5-12CF-0BDCD1F36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9251138-75C1-921F-9974-1732DF53E5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432" y="-122093"/>
            <a:ext cx="11811136" cy="6744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82556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F6E219C-5C30-0128-2595-C9ED62FDF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824009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7B5A6-EE5C-E7B0-79B6-87B09B6AC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BAD618-2E5B-A825-DA33-F76EF5AB5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와이파이 모듈 실습 </a:t>
            </a:r>
            <a:r>
              <a:rPr lang="en-US" altLang="ko-KR" dirty="0"/>
              <a:t>Quiz</a:t>
            </a:r>
            <a:endParaRPr lang="ko-KR" altLang="en-US" dirty="0"/>
          </a:p>
        </p:txBody>
      </p:sp>
      <p:sp>
        <p:nvSpPr>
          <p:cNvPr id="5" name="내용 개체 틀 5">
            <a:extLst>
              <a:ext uri="{FF2B5EF4-FFF2-40B4-BE49-F238E27FC236}">
                <a16:creationId xmlns:a16="http://schemas.microsoft.com/office/drawing/2014/main" id="{4B5833CA-204D-B714-FDDF-3AB137978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39"/>
            <a:ext cx="10515600" cy="4627124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실제로 </a:t>
            </a:r>
            <a:r>
              <a:rPr lang="ko-KR" altLang="en-US" dirty="0" err="1"/>
              <a:t>온습도</a:t>
            </a:r>
            <a:r>
              <a:rPr lang="ko-KR" altLang="en-US" dirty="0"/>
              <a:t> 모듈에서 온도와 습도를 측정 후 </a:t>
            </a:r>
            <a:r>
              <a:rPr lang="en-US" altLang="ko-KR" dirty="0"/>
              <a:t>Python Flask</a:t>
            </a:r>
            <a:r>
              <a:rPr lang="ko-KR" altLang="en-US" dirty="0"/>
              <a:t>로 값 보내기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74278972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3">
      <a:majorFont>
        <a:latin typeface="G마켓 산스 TTF Bold"/>
        <a:ea typeface="G마켓 산스 TTF Bold"/>
        <a:cs typeface=""/>
      </a:majorFont>
      <a:minorFont>
        <a:latin typeface="G마켓 산스 TTF Medium"/>
        <a:ea typeface="G마켓 산스 TTF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18611</TotalTime>
  <Words>1484</Words>
  <Application>Microsoft Office PowerPoint</Application>
  <PresentationFormat>와이드스크린</PresentationFormat>
  <Paragraphs>282</Paragraphs>
  <Slides>56</Slides>
  <Notes>49</Notes>
  <HiddenSlides>13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56</vt:i4>
      </vt:variant>
    </vt:vector>
  </HeadingPairs>
  <TitlesOfParts>
    <vt:vector size="63" baseType="lpstr">
      <vt:lpstr>G마켓 산스 TTF Bold</vt:lpstr>
      <vt:lpstr>G마켓 산스 TTF Medium</vt:lpstr>
      <vt:lpstr>맑은 고딕</vt:lpstr>
      <vt:lpstr>메이플스토리</vt:lpstr>
      <vt:lpstr>Arial</vt:lpstr>
      <vt:lpstr>Wingdings</vt:lpstr>
      <vt:lpstr>1_Office 테마</vt:lpstr>
      <vt:lpstr>PowerPoint 프레젠테이션</vt:lpstr>
      <vt:lpstr>태양광 패널</vt:lpstr>
      <vt:lpstr>태양광 패널 실습</vt:lpstr>
      <vt:lpstr>태양광 패널 실습 Quiz</vt:lpstr>
      <vt:lpstr>태양광 패널로 베터리 충전하기</vt:lpstr>
      <vt:lpstr>태양광 패널로 베터리 충전하기</vt:lpstr>
      <vt:lpstr>주의할 점!</vt:lpstr>
      <vt:lpstr>시리얼 통신</vt:lpstr>
      <vt:lpstr>시리얼 통신</vt:lpstr>
      <vt:lpstr>시리얼 통신</vt:lpstr>
      <vt:lpstr>시리얼 통신 실습 - 회로</vt:lpstr>
      <vt:lpstr>시리얼 통신 실습 - 아두이노</vt:lpstr>
      <vt:lpstr>시리얼 통신 실습 1 - 파이썬</vt:lpstr>
      <vt:lpstr>시리얼 통신 실습 1 - 파이썬</vt:lpstr>
      <vt:lpstr>시리얼 통신 실습 1 - 파이썬</vt:lpstr>
      <vt:lpstr>시리얼 통신 + 웹</vt:lpstr>
      <vt:lpstr>시리얼 통신 + 웹</vt:lpstr>
      <vt:lpstr>시리얼 통신 실습 2 - 파이썬</vt:lpstr>
      <vt:lpstr>시리얼 통신 실습 2 - 파이썬</vt:lpstr>
      <vt:lpstr>시리얼 통신 실습 2 - 파이썬</vt:lpstr>
      <vt:lpstr>시리얼 통신 실습 2 - 파이썬</vt:lpstr>
      <vt:lpstr>시리얼 통신 실습 2 - 웹</vt:lpstr>
      <vt:lpstr>시리얼 통신 실습 2 - 웹</vt:lpstr>
      <vt:lpstr>시리얼 통신 실습 2</vt:lpstr>
      <vt:lpstr>시리얼 통신 실습 2</vt:lpstr>
      <vt:lpstr>시리얼 통신 실습 2</vt:lpstr>
      <vt:lpstr>Python이 꼭 필요할까?</vt:lpstr>
      <vt:lpstr>Python이 꼭 필요할까?</vt:lpstr>
      <vt:lpstr>시리얼 통신 실습 3</vt:lpstr>
      <vt:lpstr>시리얼 통신 실습 3</vt:lpstr>
      <vt:lpstr>와이파이 통신</vt:lpstr>
      <vt:lpstr>ESP8266(ESP-01)</vt:lpstr>
      <vt:lpstr>ESP-01 어댑터</vt:lpstr>
      <vt:lpstr>와이파이 모듈 실습</vt:lpstr>
      <vt:lpstr>와이파이 모듈</vt:lpstr>
      <vt:lpstr>와이파이 모듈</vt:lpstr>
      <vt:lpstr>와이파이 모듈 동작 확인</vt:lpstr>
      <vt:lpstr>와이파이 모듈 동작 확인</vt:lpstr>
      <vt:lpstr>PowerPoint 프레젠테이션</vt:lpstr>
      <vt:lpstr>와이파이 모듈 실습 - Python</vt:lpstr>
      <vt:lpstr>와이파이 모듈 실습 - 방화벽</vt:lpstr>
      <vt:lpstr>와이파이 모듈 실습 - 방화벽</vt:lpstr>
      <vt:lpstr>와이파이 모듈 실습 - 아두이노</vt:lpstr>
      <vt:lpstr>와이파이 모듈 실습 - 아두이노</vt:lpstr>
      <vt:lpstr>와이파이 모듈 실습 - 아두이노</vt:lpstr>
      <vt:lpstr>방화벽 이슈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와이파이 모듈 실습 Quiz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On Coding</dc:creator>
  <cp:lastModifiedBy>On Coding</cp:lastModifiedBy>
  <cp:revision>864</cp:revision>
  <dcterms:created xsi:type="dcterms:W3CDTF">2024-10-23T01:56:35Z</dcterms:created>
  <dcterms:modified xsi:type="dcterms:W3CDTF">2025-10-30T09:02:18Z</dcterms:modified>
</cp:coreProperties>
</file>