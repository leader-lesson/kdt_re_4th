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8"/>
  </p:notesMasterIdLst>
  <p:sldIdLst>
    <p:sldId id="1004" r:id="rId2"/>
    <p:sldId id="1006" r:id="rId3"/>
    <p:sldId id="1032" r:id="rId4"/>
    <p:sldId id="1033" r:id="rId5"/>
    <p:sldId id="1034" r:id="rId6"/>
    <p:sldId id="1037" r:id="rId7"/>
    <p:sldId id="1035" r:id="rId8"/>
    <p:sldId id="1036" r:id="rId9"/>
    <p:sldId id="1038" r:id="rId10"/>
    <p:sldId id="267" r:id="rId11"/>
    <p:sldId id="1039" r:id="rId12"/>
    <p:sldId id="1040" r:id="rId13"/>
    <p:sldId id="1041" r:id="rId14"/>
    <p:sldId id="1042" r:id="rId15"/>
    <p:sldId id="1043" r:id="rId16"/>
    <p:sldId id="1031" r:id="rId17"/>
    <p:sldId id="1045" r:id="rId18"/>
    <p:sldId id="1046" r:id="rId19"/>
    <p:sldId id="1047" r:id="rId20"/>
    <p:sldId id="1048" r:id="rId21"/>
    <p:sldId id="1050" r:id="rId22"/>
    <p:sldId id="1044" r:id="rId23"/>
    <p:sldId id="1053" r:id="rId24"/>
    <p:sldId id="1056" r:id="rId25"/>
    <p:sldId id="1058" r:id="rId26"/>
    <p:sldId id="1059" r:id="rId27"/>
    <p:sldId id="1060" r:id="rId28"/>
    <p:sldId id="1061" r:id="rId29"/>
    <p:sldId id="1062" r:id="rId30"/>
    <p:sldId id="1090" r:id="rId31"/>
    <p:sldId id="1063" r:id="rId32"/>
    <p:sldId id="1065" r:id="rId33"/>
    <p:sldId id="1066" r:id="rId34"/>
    <p:sldId id="1051" r:id="rId35"/>
    <p:sldId id="1067" r:id="rId36"/>
    <p:sldId id="1068" r:id="rId37"/>
    <p:sldId id="1069" r:id="rId38"/>
    <p:sldId id="1070" r:id="rId39"/>
    <p:sldId id="1071" r:id="rId40"/>
    <p:sldId id="1072" r:id="rId41"/>
    <p:sldId id="1073" r:id="rId42"/>
    <p:sldId id="1064" r:id="rId43"/>
    <p:sldId id="1074" r:id="rId44"/>
    <p:sldId id="1075" r:id="rId45"/>
    <p:sldId id="1076" r:id="rId46"/>
    <p:sldId id="1077" r:id="rId47"/>
    <p:sldId id="1079" r:id="rId48"/>
    <p:sldId id="1080" r:id="rId49"/>
    <p:sldId id="1081" r:id="rId50"/>
    <p:sldId id="1082" r:id="rId51"/>
    <p:sldId id="1083" r:id="rId52"/>
    <p:sldId id="1084" r:id="rId53"/>
    <p:sldId id="1085" r:id="rId54"/>
    <p:sldId id="1089" r:id="rId55"/>
    <p:sldId id="1086" r:id="rId56"/>
    <p:sldId id="1087" r:id="rId5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C5F"/>
    <a:srgbClr val="00FA3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73" autoAdjust="0"/>
    <p:restoredTop sz="72443" autoAdjust="0"/>
  </p:normalViewPr>
  <p:slideViewPr>
    <p:cSldViewPr snapToGrid="0">
      <p:cViewPr varScale="1">
        <p:scale>
          <a:sx n="72" d="100"/>
          <a:sy n="72" d="100"/>
        </p:scale>
        <p:origin x="11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lagrange0115/222345576071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naver.com/mathesis_time" TargetMode="External"/><Relationship Id="rId5" Type="http://schemas.openxmlformats.org/officeDocument/2006/relationships/hyperlink" Target="https://blog.naver.com/mathesis_time/221136759652" TargetMode="External"/><Relationship Id="rId4" Type="http://schemas.openxmlformats.org/officeDocument/2006/relationships/hyperlink" Target="https://blog.naver.com/lagrange0115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lagrange0115/222345576071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naver.com/mathesis_time" TargetMode="External"/><Relationship Id="rId5" Type="http://schemas.openxmlformats.org/officeDocument/2006/relationships/hyperlink" Target="https://blog.naver.com/mathesis_time/221136759652" TargetMode="External"/><Relationship Id="rId4" Type="http://schemas.openxmlformats.org/officeDocument/2006/relationships/hyperlink" Target="https://blog.naver.com/lagrange0115" TargetMode="Externa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31948-F3F9-15E5-3E57-5948F942A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B90F64-A4B6-DA5C-6C45-9A0C7DA6E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4326C4-0AE2-42B9-9491-3CB9F31CC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EBFA04-3275-E641-9489-C8878A02B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423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2E353-142E-7BDA-6B04-8165CF2F2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695314-A0B7-116F-0D78-8A4C593EA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4B52D6-C166-0C90-9F31-BBA303676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7CD90B-E2EC-F0EA-9E62-A0D49CEF5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409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5BA67-561B-9DDD-33BE-66C5D0ED7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BC64CC-362A-2DB6-F334-3CCEFA427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A482CC-55E4-D540-1186-6341060C1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A7159-5356-3451-F9A4-515956211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33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48D18-A0B4-DBF8-E584-922D6E975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D92D3B-39E5-5BC7-B45C-1A0061420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B44259-56BF-EC56-4E1F-6E3DC112B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51239E-184F-FEA9-BD43-B2EDBCE29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091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8906C-25CE-4003-2116-D850B9B95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EDDCD8-6953-BEC7-8711-8C62AA9BB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56E6D5-ACC9-2044-6E11-83AEDBF89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LED 3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개가 있고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각각은 저항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-&gt; GDN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으로 연결되어 있다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각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LED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는 긴 다리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(+)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는 </a:t>
            </a:r>
            <a:r>
              <a:rPr lang="ko-KR" altLang="en-US" b="0" i="0" dirty="0" err="1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아두이노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디지털 핀에 연결되어 있다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즉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 err="1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아두이노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디지털 </a:t>
            </a:r>
            <a:r>
              <a:rPr lang="ko-KR" altLang="en-US" b="0" i="0" dirty="0" err="1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출력핀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-&gt; LED(+) -&gt; LED(-) -&gt; 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저항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-&gt; GND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전기는 항상 </a:t>
            </a:r>
            <a:r>
              <a:rPr lang="en-US" altLang="ko-KR" dirty="0"/>
              <a:t>+) → (</a:t>
            </a:r>
            <a:r>
              <a:rPr lang="ko-KR" altLang="en-US" dirty="0"/>
              <a:t>부하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LED) → (–) </a:t>
            </a:r>
            <a:r>
              <a:rPr lang="ko-KR" altLang="en-US" dirty="0"/>
              <a:t>이 방향으로 흐른다</a:t>
            </a:r>
            <a:r>
              <a:rPr lang="en-US" altLang="ko-KR" dirty="0"/>
              <a:t>.</a:t>
            </a: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892696-C26E-B54F-3F91-8EC80C98D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128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38904-CB42-66F4-BA82-44C136814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6A86CF-D824-A363-FAFA-4382EBF18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4EEF5B-B7AC-F6D5-0157-E44337511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52C403-84E2-F50F-9DAB-71242F137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687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55B5D-562F-6FD0-1DA8-41AC4F364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EA7E16-D726-29FD-E94E-D6455CF13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7E4D1A-BF9F-F030-6C5A-626BDF576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E3587A-2E57-BD56-355C-587B86225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3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634AA-265C-DBC5-FF4A-E0EFA57E0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562390-F646-4EB4-DFE8-E218212D6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7789C4-C35C-5119-3115-175B7F79F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1BE1C0-5EC2-9A27-9311-18A1131EFD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017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GND :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C68C5-E26D-4AE6-AB63-F19C64B80D6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4395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713DA-0C66-62E1-F573-018D6E528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628DCB-D41E-0C47-B61C-C4D8F782B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2FD1FD-A066-51BE-725A-E1239B250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GND :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8A6575-EFD8-A060-5FAB-983C27AED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C68C5-E26D-4AE6-AB63-F19C64B80D6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529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6DC93-E442-81A5-5E41-C23F3FB76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33F36E-CFAB-B06C-88FB-075C26C05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9762BA-E6F3-1695-5D3A-A379F1D39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Pulse :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사각파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Width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폭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Modulation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변조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PWM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제어란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? (Pulse Width Modulation)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4"/>
              </a:rPr>
              <a:t>엠에스리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Dotum" panose="020B0600000101010101" pitchFamily="50" charset="-127"/>
            </a:endParaRP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dirty="0"/>
              <a:t>디지털 신호 </a:t>
            </a:r>
            <a:r>
              <a:rPr lang="en-US" altLang="ko-KR" dirty="0"/>
              <a:t>0,1</a:t>
            </a:r>
            <a:r>
              <a:rPr lang="ko-KR" altLang="en-US" dirty="0"/>
              <a:t>을 빠르게 반복해서 평균값을 내는 것처럼 보이게 하는 것</a:t>
            </a:r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아래 그림과 같이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5v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의 폭을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25%, 50%, 75%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등으로 다양하게 바꾸어 아날로그 신호를 나타냅니다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즉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0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부터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255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까지의 숫자를 표현할 수 있게 되는 것입니다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b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</a:b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64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라는 값을 나타내고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50%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127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이라는 값을 나타내는 방식입니다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[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가장 쉬운 </a:t>
            </a:r>
            <a:r>
              <a:rPr lang="ko-KR" altLang="en-US" b="0" i="0" u="sng" dirty="0" err="1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아두이노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 강의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] (33) PWM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6"/>
              </a:rPr>
              <a:t>코딩타임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br>
              <a:rPr lang="ko-KR" altLang="en-US" dirty="0">
                <a:latin typeface="+mn-lt"/>
              </a:rPr>
            </a:br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6415EF-8D99-E6E1-C0A1-30F4AC0E8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4397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8DBFB-592F-0A22-7C66-A20828EB6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D30BB2-0C21-C906-0D0D-C53A3A714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C365C9-5915-87F6-BDE9-DD776A5E6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Pulse :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사각파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Width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폭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Modulation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변조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PWM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제어란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? (Pulse Width Modulation)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4"/>
              </a:rPr>
              <a:t>엠에스리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Dotum" panose="020B0600000101010101" pitchFamily="50" charset="-127"/>
            </a:endParaRP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dirty="0"/>
              <a:t>디지털 신호 </a:t>
            </a:r>
            <a:r>
              <a:rPr lang="en-US" altLang="ko-KR" dirty="0"/>
              <a:t>0,1</a:t>
            </a:r>
            <a:r>
              <a:rPr lang="ko-KR" altLang="en-US" dirty="0"/>
              <a:t>을 빠르게 반복해서 평균값을 내는 것처럼 보이게 하는 것</a:t>
            </a:r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아래 그림과 같이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5v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의 폭을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25%, 50%, 75%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등으로 다양하게 바꾸어 아날로그 신호를 나타냅니다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즉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0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부터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255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까지의 숫자를 표현할 수 있게 되는 것입니다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b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</a:b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64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라는 값을 나타내고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50%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127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이라는 값을 나타내는 방식입니다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[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가장 쉬운 </a:t>
            </a:r>
            <a:r>
              <a:rPr lang="ko-KR" altLang="en-US" b="0" i="0" u="sng" dirty="0" err="1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아두이노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 강의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] (33) PWM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6"/>
              </a:rPr>
              <a:t>코딩타임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br>
              <a:rPr lang="ko-KR" altLang="en-US" dirty="0">
                <a:latin typeface="+mn-lt"/>
              </a:rPr>
            </a:br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447059-78C0-B718-DD26-59D72ADF1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9175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9D90-56E5-F238-F18B-58F0B769C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99AF1E-F16C-4E68-9B21-E5262A449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2EBA9F-776F-5C63-B9AF-57F35F18B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GND :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0B4B0C-71F1-B9F3-FCA9-8863420D4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C68C5-E26D-4AE6-AB63-F19C64B80D6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604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7E427-6B8A-85C2-1DBF-0766B0E4B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CAA213-B542-CE2B-620C-5658F8F9C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DFB428-AD1C-15C0-8B69-DA4CA7072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GND :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CBEEFD-4371-D2C1-93B0-3566A4190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C68C5-E26D-4AE6-AB63-F19C64B80D6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8719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96B9F-40B1-E19F-1A07-63A01C10A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B08CD4-C12C-FF98-A418-610251818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0A1329-77FA-6FEF-14B3-C4FDDA9A4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DBE993-856C-0DF6-C10B-54EBC1FE4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240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F33A5-3964-CAE2-7B9C-83D4378EC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4DCACF-F955-C0B7-99D4-AB648215F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CE2C3C-A3AD-4D71-4759-7435FB35D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86B76-D7FB-36BF-D4BA-6302FD5F8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6679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47791-A65C-FCAA-D229-E8393A14C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C80F79-9C2B-C339-4630-5632F92CE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A26F01-360C-0AB4-D36E-3A7F338B6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B01848-1F1A-378B-F84B-B8D3F6367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8175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6A5E3-545D-2683-6F62-E5350DE9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0ED2C7-7B3A-40F4-FC24-25DDB60CC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557FAD-F0C3-32DF-ED93-B9E8601B7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05052B-CC87-3764-B8BF-AC4C2F2BE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8584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F96A-197C-FD07-464A-BD724C4C3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7F4D65-C95E-A5AF-461B-CAE58455E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D75771-8528-B074-39DD-2E6EB19DA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DB710B-8B93-F154-8A5D-9393BE15D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55535-FC3F-E371-E679-75E156778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A2C638-C314-8636-FC41-617AB95B0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EC4A01-99C0-230E-87A4-D86148B2E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E28A85-AF77-76F1-F52B-5EF3286B3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0326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256F0-C170-1ED8-539D-DE5A50668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2687C9-3D6D-EF30-B1A0-F9235B67C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060FA6-9F4F-9808-A139-1E36A541B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734475-8949-654B-D19C-63A74E859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3810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CB6FA-C356-9C85-81E4-71F5FEBD7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EB3E95-DD18-9497-9886-7E2CB4AB4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6C3C7F-5311-B44B-B5BE-FA85A50F6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27A06B-4D6E-C82F-87DF-307CAA7C3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3831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9011C-456E-DF72-E747-1E216F103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257003-D820-EB76-1742-619BF3E10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0009F5-E5F5-2B1A-9AC7-DA34C8E71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38F7F0-9935-B91A-1A0E-AC199408B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8704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E3CC8-AE64-4D31-C196-2F5ED0757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B5FBCF-AF8D-5B98-93A9-C2F1E0006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F522A5-67BC-FAE7-A9C5-E493CC379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풀다운저항</a:t>
            </a:r>
            <a:endParaRPr lang="en-US" altLang="ko-KR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버튼이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5V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에 연결되어 있고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저항이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GND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로 연결되어 있다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즉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버튼을 누르기 전엔 입력 핀이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GND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로 당겨져서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LOW, 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버튼을 누르면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5V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가 연결되어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HIGH 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가 된다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5A4A0B-498C-3D6F-1A21-6AF365DB2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9376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A08D8-80BC-8B02-9D1C-33D116AD2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AF9E8A-FC67-ECF7-813D-69C8E301B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AAF73B-495B-6D72-8999-F1CFFE427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E27F34-4E58-E9E6-5090-49709E668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9629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3A3A1-E0EF-7AD2-15B5-88EDD702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FF5B10-655D-ACFD-1709-3E7E93C95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644BB4-9454-834E-F906-0E2DF2928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94FD14-29E4-519C-2FDC-ED1B0BEB6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2463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9BD0A-8AA3-C81D-8A59-E4A63AAA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32103B-077E-AA51-8E7E-6AA86E670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7117D5-E468-3E9F-08D2-D698E2036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8207F3-4A78-E8AA-6ED8-5B03BF414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9453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34027-7CF8-0456-A60C-C8FB3D12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BF5E4C-44BD-08EA-5C3D-AA00593D0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21BD5-F1D8-607C-2EAD-3DEFDD654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C7AC47-C23B-91B6-E567-EDDFB3785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5006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341CE-227F-DC9F-4F1D-C6C2AB2B9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A6DAEC-7362-D5C8-22B0-399F6DC49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D0A6F8-4723-C42E-5254-BF2375F1B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113E97-F2CC-719A-FACA-57DAA83F0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3285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F6FFF-2B4D-BFD3-2C52-45F560E22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81FCA4-D1D6-E0DE-4471-AF9543FF6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E26F88-8C69-9F0C-3EFE-F65CD4AAD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C69550-261A-BD0B-5E29-D4BC0CF3F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4867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10B09-EE6F-DE88-7E51-B6E5E1214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ABAC7D-C9B7-6869-C258-22467E8D5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B81823-299A-3762-5FCA-72C478AC9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D8DF1B-E07C-7532-8564-0D4EBD95E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3499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5DD06-F08A-77F7-9BE7-310EFB57A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34E616-8665-337F-C6C5-D1BCB5B25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1E566A-FF91-B8EA-BE9C-364EB1569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EE1A85-1AEE-4B8D-77C4-ED114B4D2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4663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0A808-063F-DB54-33D7-5E7722343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F4FEF9-6C7C-8C98-1A4E-EB0A88BA0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C5842B-61C3-F015-8668-DFF806E30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F6FAF8-14D7-CB3D-C7F2-64383532A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821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3BF75-70E2-E261-2D7C-56EAD452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5021E9-121C-84BF-DF58-7D3E3B6E29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CDE9D5-29C0-07AA-FCD8-51E725060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78B32B-E66D-C9B0-8310-D65B0D309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8526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A3E55-B894-420A-7F3C-517D83049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4C680-2FE0-097F-DF23-BBE256C42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961252-5EA3-39B9-137E-FCE06E69F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B3DD8F-8106-9848-EBEE-EE172DFF7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9531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FEFAF-7430-70B1-FA1D-3BDFAE41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6D9483-B8F6-ED5B-5A26-8B83BD6E5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6EDD87-82FC-38C3-9023-5121A14B3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0B17B1-EFCB-2D5A-1B7F-CB5ED3C66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6776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354E5-91B2-0882-CFF4-AB7BCEC1D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CB3579-2CA3-343F-EC94-900C2D5C5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562483-EC75-0DFD-0E4C-B54A502D9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1A4FD3-446D-5176-4DB9-E2ECD790D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4206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F4CE0-7D2F-7C54-6C23-75EBE366A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AF5F6A-0FBE-10B6-B2D8-D1DAD0B7D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B471A5-C5E1-91B4-AE86-26DA66052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4231B4-AFD0-F0A6-3A13-3A0A9D670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1006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D6691-443E-EB7B-09AD-A7AC62166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8F973B-9CCA-90A2-584D-016D9B9AD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778186-07E5-1D8E-03B2-414347913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A842B1-2C17-B89E-7307-D863FE884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2011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23C2F-7D40-1AE1-38AE-A261F1DE7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449151-E21D-0E07-905F-665E7F081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D80661-1443-3CF7-C40E-BFB6A8BF9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72D748-2A86-C3CF-42E3-8CAC7F616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7641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4BCE-D74C-80A8-A52D-73A43465F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7F5753-F0A5-9296-929D-E2602DC5D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1F9F60-CF56-3853-2A74-D96094114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B5FE54-8584-BDD4-B6B8-9CE40FA9C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1288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2B23F-CFB6-7739-E65A-B2E3E6EE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0DB949-E536-B81C-054D-6FDB674BC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1A4AD-6DF9-D9D0-B4AD-A71377AB0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6435A9-A1AE-C493-123D-76516A360E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4893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FA75D-2E90-2945-F357-6070F174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658B33-C885-4BC2-2EAD-1B3E4E00E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9F8394-2040-D1BF-C0DE-BE2CC725F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807314-D5A4-22C7-53A0-71215CCF5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04245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57F28-D6EB-A5F1-E193-7FE9A4B5F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C6FF79-CF80-E0A5-48EA-63834C100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DD16C4-A589-7F2C-767F-C2D5E511A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7BD9FB-1976-A717-D5F1-55A8D9A58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4837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FD9F4-138A-D0F7-672F-C3B81430B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4E8DE2-185D-A9C5-2BDF-2F58C6D3E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C18EC0-E7F5-B446-17BB-FFC505309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76B4FE-3A46-C9B5-DC45-92D711FC4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83439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A5B56-CA06-0A3D-554D-F35B40E0E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9BBEFF-88CD-87B1-8871-4B5038DA8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47D9AB-9FE0-7717-81ED-A4E1BB058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DA8553-90C0-CAC0-DD76-537C86BCB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6558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8C118-5175-C9B7-F31E-B77D709A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25E783-4F5C-0A3D-68F8-7ED4A454D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33BE79-C269-F093-741B-FD577C03B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62E7A9-11F0-D0F1-63FB-AF12026D7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9110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CB16-0C70-2EAC-9D2B-97DC73993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EB9AE9-5C53-6EA7-D13C-4B852AF73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D81E76-804E-1D36-9A0F-D2E7A2C2E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8941DE-6BCD-BE51-AAD0-50A84AAB8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44297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B15A4-95A3-8BC2-019F-2FD5CEEB5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7C7C21-3E27-1381-0833-0C2EADFEF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301070-6CB9-2EE5-65F2-DAFDE7BCE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C32642-9B64-5AF9-94E5-49F90D3EA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0454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B7847-2964-17BD-3EF6-6239BCBBD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442E71-C06C-227D-8A2C-4A5D31842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EB23D0-4EFC-363B-9A1A-4D751A683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1B8AFD-5E12-7E0C-A7CC-D097FD8EF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6427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69368-F937-3DE7-798C-867D43AB3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1C54BF-3925-55CA-6880-2036AE5A7D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732338-45EB-8969-31C3-4BADD7E03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0FB020-A82D-7224-FE44-FB849FFF9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26637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045AA-28F6-5997-4C28-FA3AA5B52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9C4E42-CCEB-5748-60DD-AC5B8B57B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CCF1C6-36E8-A045-6E0E-77ED76720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E6FE8-631B-CA62-DF4F-18A093447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2507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A7C66-1967-397D-BD2E-77D006831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FA7649-5F95-3EE5-8333-9C551F4CF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43BB33-CCF7-3DFE-5C9B-CBF17F654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3B3BDF-B490-08AA-CBAA-E842ED8B3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72632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55B8B-D005-23A1-565C-41D524467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0D7A9B-4D0E-1E95-7577-24CDAC046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4DC84F-0B55-7696-FD84-EBC3E3533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939E-3E1A-B1F0-6F9B-DAB9E3E38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39865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3DCB0-02B5-41D4-7159-40D23A8E0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0426AB-BF23-4831-F66B-D21FAA838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011B52-94CB-EF7C-DBCC-6DE52FB04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3CA02F-0336-468E-053A-415698018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927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32C6696-EE0A-BC2D-7063-70F289365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F3BE842-C521-0C8F-A4B5-11422EB6C247}"/>
              </a:ext>
            </a:extLst>
          </p:cNvPr>
          <p:cNvSpPr txBox="1">
            <a:spLocks/>
          </p:cNvSpPr>
          <p:nvPr userDrawn="1"/>
        </p:nvSpPr>
        <p:spPr>
          <a:xfrm>
            <a:off x="10555576" y="218354"/>
            <a:ext cx="293806" cy="3218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en-US" altLang="ko-KR" sz="2400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sz="2400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BDCCE0A-8512-9AD3-FCFE-854EDADA9794}"/>
              </a:ext>
            </a:extLst>
          </p:cNvPr>
          <p:cNvGrpSpPr/>
          <p:nvPr userDrawn="1"/>
        </p:nvGrpSpPr>
        <p:grpSpPr>
          <a:xfrm>
            <a:off x="9299385" y="287928"/>
            <a:ext cx="2646947" cy="325258"/>
            <a:chOff x="22849643" y="-4470425"/>
            <a:chExt cx="7688784" cy="94480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AB111EE-FD1E-BC5A-5D1E-AC40300BC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41510" y="-4460662"/>
              <a:ext cx="2996917" cy="935038"/>
            </a:xfrm>
            <a:prstGeom prst="rect">
              <a:avLst/>
            </a:prstGeom>
          </p:spPr>
        </p:pic>
        <p:pic>
          <p:nvPicPr>
            <p:cNvPr id="9" name="그림 8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71F583FB-0B92-1510-CF5E-6C92F7905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49643" y="-4470425"/>
              <a:ext cx="3459479" cy="744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rduino.cc/en/Tutorial/PWM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3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3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eg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3.jpe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3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51.jpeg"/><Relationship Id="rId4" Type="http://schemas.openxmlformats.org/officeDocument/2006/relationships/image" Target="../media/image26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049" y="3037564"/>
            <a:ext cx="10243899" cy="2028316"/>
          </a:xfrm>
        </p:spPr>
        <p:txBody>
          <a:bodyPr wrap="square">
            <a:noAutofit/>
          </a:bodyPr>
          <a:lstStyle/>
          <a:p>
            <a:r>
              <a:rPr lang="ko-KR" altLang="en-US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endParaRPr lang="en-US" altLang="ko-KR" sz="4800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 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324" y="1985210"/>
            <a:ext cx="4069351" cy="61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45C96-DEC1-08DD-B32B-A8D6E3DB5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9E08D-D36E-06E8-2737-F14FCF39D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LED </a:t>
            </a:r>
            <a:r>
              <a:rPr lang="ko-KR" altLang="en-US" dirty="0"/>
              <a:t>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A0FEAA-7691-37AA-7F4D-5559DC6E8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C187FFE-C30A-BA7B-5EDD-27A9D4D81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623413"/>
              </p:ext>
            </p:extLst>
          </p:nvPr>
        </p:nvGraphicFramePr>
        <p:xfrm>
          <a:off x="7664226" y="2722947"/>
          <a:ext cx="3424664" cy="188033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712332">
                  <a:extLst>
                    <a:ext uri="{9D8B030D-6E8A-4147-A177-3AD203B41FA5}">
                      <a16:colId xmlns:a16="http://schemas.microsoft.com/office/drawing/2014/main" val="730627021"/>
                    </a:ext>
                  </a:extLst>
                </a:gridCol>
                <a:gridCol w="1712332">
                  <a:extLst>
                    <a:ext uri="{9D8B030D-6E8A-4147-A177-3AD203B41FA5}">
                      <a16:colId xmlns:a16="http://schemas.microsoft.com/office/drawing/2014/main" val="2960328077"/>
                    </a:ext>
                  </a:extLst>
                </a:gridCol>
              </a:tblGrid>
              <a:tr h="6001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아두이노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LED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756950"/>
                  </a:ext>
                </a:extLst>
              </a:tr>
              <a:tr h="600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긴 다리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576924"/>
                  </a:ext>
                </a:extLst>
              </a:tr>
              <a:tr h="600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GND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짧은 다리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148876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BC6FCBDC-3930-07FF-237A-9B3A2C2EE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003" y="1549839"/>
            <a:ext cx="5728432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94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B2DF5-EFA6-3F17-B9DE-F5422B02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3A9DCB-168A-77EC-B3B4-D6225C95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LED </a:t>
            </a:r>
            <a:r>
              <a:rPr lang="ko-KR" altLang="en-US" dirty="0"/>
              <a:t>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0A4B94-B4B3-4C02-BABC-A3B2E33F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9653B-8660-FC86-493A-C0DFB58C7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436" y="1511257"/>
            <a:ext cx="8153127" cy="4292406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LED</a:t>
            </a:r>
            <a:r>
              <a:rPr lang="ko-KR" altLang="en-US" sz="2000" dirty="0"/>
              <a:t>가</a:t>
            </a:r>
            <a:r>
              <a:rPr lang="en-US" altLang="ko-KR" sz="2000" dirty="0"/>
              <a:t> 1</a:t>
            </a:r>
            <a:r>
              <a:rPr lang="ko-KR" altLang="en-US" sz="2000" dirty="0"/>
              <a:t>초마다 </a:t>
            </a:r>
            <a:r>
              <a:rPr lang="en-US" altLang="ko-KR" sz="2000" dirty="0"/>
              <a:t>ON, OFF</a:t>
            </a:r>
            <a:r>
              <a:rPr lang="ko-KR" altLang="en-US" sz="2000" dirty="0"/>
              <a:t>를 반복하도록 코드를 구성해보자</a:t>
            </a:r>
            <a:r>
              <a:rPr lang="en-US" altLang="ko-KR" sz="20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524323-BB76-D4F8-D99F-56C07EC43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824" y="2155868"/>
            <a:ext cx="584835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33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000F0-B2E7-5BCB-4A79-C3FCC7F6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640D13-CABC-5AF1-9CFF-7328AE50A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LED </a:t>
            </a:r>
            <a:r>
              <a:rPr lang="ko-KR" altLang="en-US" dirty="0"/>
              <a:t>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296265-9920-7A6F-EF1E-7EB7C73B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A955F5C-01E9-0A3F-7DB0-7EB26CA40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428" y="1328965"/>
            <a:ext cx="5245664" cy="466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975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B5720-C557-465F-2009-0AF3D2E8C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C799C-04FF-6B3B-F251-FDC35696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LED </a:t>
            </a:r>
            <a:r>
              <a:rPr lang="ko-KR" altLang="en-US" dirty="0"/>
              <a:t>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BF9C36-8BB4-B885-A5F2-4746FC492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74133C7-9FB9-58D3-9F51-8EFA55BE9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103147"/>
              </p:ext>
            </p:extLst>
          </p:nvPr>
        </p:nvGraphicFramePr>
        <p:xfrm>
          <a:off x="1851684" y="1873405"/>
          <a:ext cx="3424664" cy="378524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712332">
                  <a:extLst>
                    <a:ext uri="{9D8B030D-6E8A-4147-A177-3AD203B41FA5}">
                      <a16:colId xmlns:a16="http://schemas.microsoft.com/office/drawing/2014/main" val="730627021"/>
                    </a:ext>
                  </a:extLst>
                </a:gridCol>
                <a:gridCol w="1712332">
                  <a:extLst>
                    <a:ext uri="{9D8B030D-6E8A-4147-A177-3AD203B41FA5}">
                      <a16:colId xmlns:a16="http://schemas.microsoft.com/office/drawing/2014/main" val="2960328077"/>
                    </a:ext>
                  </a:extLst>
                </a:gridCol>
              </a:tblGrid>
              <a:tr h="737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아두이노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LED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756950"/>
                  </a:ext>
                </a:extLst>
              </a:tr>
              <a:tr h="786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빨간색 </a:t>
                      </a:r>
                      <a:r>
                        <a:rPr lang="en-US" altLang="ko-KR" dirty="0"/>
                        <a:t>+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긴 다리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576924"/>
                  </a:ext>
                </a:extLst>
              </a:tr>
              <a:tr h="7374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초록색 </a:t>
                      </a:r>
                      <a:r>
                        <a:rPr lang="en-US" altLang="ko-KR" dirty="0"/>
                        <a:t>+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긴 다리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387090"/>
                  </a:ext>
                </a:extLst>
              </a:tr>
              <a:tr h="7374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파란색 </a:t>
                      </a:r>
                      <a:r>
                        <a:rPr lang="en-US" altLang="ko-KR" dirty="0"/>
                        <a:t>+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긴 다리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347028"/>
                  </a:ext>
                </a:extLst>
              </a:tr>
              <a:tr h="786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GND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짧은 다리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148876"/>
                  </a:ext>
                </a:extLst>
              </a:tr>
            </a:tbl>
          </a:graphicData>
        </a:graphic>
      </p:graphicFrame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3544D-0152-5951-3245-98E2EA948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6293" y="2265451"/>
            <a:ext cx="3781850" cy="23270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3</a:t>
            </a:r>
            <a:r>
              <a:rPr lang="ko-KR" altLang="en-US" sz="2000" dirty="0"/>
              <a:t>개의 </a:t>
            </a:r>
            <a:r>
              <a:rPr lang="en-US" altLang="ko-KR" sz="2000" dirty="0"/>
              <a:t>LED</a:t>
            </a:r>
            <a:r>
              <a:rPr lang="ko-KR" altLang="en-US" sz="2000" dirty="0"/>
              <a:t>가 </a:t>
            </a:r>
            <a:r>
              <a:rPr lang="en-US" altLang="ko-KR" sz="2000" dirty="0"/>
              <a:t>0.5</a:t>
            </a:r>
            <a:r>
              <a:rPr lang="ko-KR" altLang="en-US" sz="2000" dirty="0"/>
              <a:t>초 간격으로 켜지고 꺼지기를 반복하세요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1154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A02A0-533E-C1EF-852D-95840FC06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BC684-1D02-1EFD-B9C6-D081053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LED </a:t>
            </a:r>
            <a:r>
              <a:rPr lang="ko-KR" altLang="en-US" dirty="0"/>
              <a:t>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A8178B-863B-D753-C325-8AC9B8A1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8448B8-B69D-C15F-9800-B43EB692E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487" y="1292622"/>
            <a:ext cx="7082345" cy="5013796"/>
          </a:xfrm>
          <a:prstGeom prst="rect">
            <a:avLst/>
          </a:prstGeom>
        </p:spPr>
      </p:pic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CB0DDCED-B6D9-0DA0-0EE9-9BF5A6971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74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F18A2-C1CB-29A2-4A13-ED2D4AC22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86BE5-E48F-1CFC-41AD-849572010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LED </a:t>
            </a:r>
            <a:r>
              <a:rPr lang="ko-KR" altLang="en-US" dirty="0"/>
              <a:t>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BA520F-FC49-9ACB-B484-17777B35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9FDEE1A-5D89-45CF-A280-7B58F344C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499" y="1648406"/>
            <a:ext cx="7667625" cy="3895725"/>
          </a:xfrm>
          <a:prstGeom prst="rect">
            <a:avLst/>
          </a:prstGeom>
        </p:spPr>
      </p:pic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CD71064A-7143-E331-58A5-C2AB32D9D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712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2645A-F2F4-A677-8D09-B09DFF216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E8D7F3-EA1F-2C4A-6A84-85EE4316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LED </a:t>
            </a:r>
            <a:r>
              <a:rPr lang="ko-KR" altLang="en-US" dirty="0"/>
              <a:t>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0F5476-84E7-4A4F-468B-58BF9F8E7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410C37-79B9-247A-495C-EE05AAAC3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927" y="1372061"/>
            <a:ext cx="7021154" cy="4946364"/>
          </a:xfrm>
          <a:prstGeom prst="rect">
            <a:avLst/>
          </a:prstGeom>
        </p:spPr>
      </p:pic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1E49DBE6-D22F-2B8B-3B1E-0EFB3C6C4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258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4B1D7-EB8D-081F-54F8-9C1095646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FCF4D-80BF-7A0D-81F4-7A0FEB21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디지털과 아날로그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DAFA99-3B79-FA41-3653-8DAEDDB1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8" name="내용 개체 틀 11">
            <a:extLst>
              <a:ext uri="{FF2B5EF4-FFF2-40B4-BE49-F238E27FC236}">
                <a16:creationId xmlns:a16="http://schemas.microsoft.com/office/drawing/2014/main" id="{868FF01F-4AC0-F541-A88B-2B82102D8E1C}"/>
              </a:ext>
            </a:extLst>
          </p:cNvPr>
          <p:cNvSpPr txBox="1">
            <a:spLocks/>
          </p:cNvSpPr>
          <p:nvPr/>
        </p:nvSpPr>
        <p:spPr>
          <a:xfrm>
            <a:off x="814766" y="4308764"/>
            <a:ext cx="5183188" cy="217522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0 </a:t>
            </a:r>
            <a:r>
              <a:rPr lang="ko-KR" altLang="en-US" sz="2400" dirty="0"/>
              <a:t>또는 </a:t>
            </a:r>
            <a:r>
              <a:rPr lang="en-US" altLang="ko-KR" sz="2400" dirty="0"/>
              <a:t>1</a:t>
            </a:r>
            <a:r>
              <a:rPr lang="ko-KR" altLang="en-US" sz="2400" dirty="0"/>
              <a:t>의 값만 가진다</a:t>
            </a:r>
            <a:endParaRPr lang="en-US" altLang="ko-KR" sz="2400" dirty="0"/>
          </a:p>
          <a:p>
            <a:r>
              <a:rPr lang="en-US" altLang="ko-KR" sz="2400" dirty="0" err="1"/>
              <a:t>digitalRead</a:t>
            </a:r>
            <a:r>
              <a:rPr lang="en-US" altLang="ko-KR" sz="2400" dirty="0"/>
              <a:t>(), </a:t>
            </a:r>
            <a:r>
              <a:rPr lang="en-US" altLang="ko-KR" sz="2400" dirty="0" err="1"/>
              <a:t>digitalWrite</a:t>
            </a:r>
            <a:r>
              <a:rPr lang="en-US" altLang="ko-KR" sz="2400" dirty="0"/>
              <a:t>()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E2FF82D-E88D-2EB0-3B06-81B7895C8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113" y="1747202"/>
            <a:ext cx="3916318" cy="196706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8D446F1-6676-FBAF-550D-3EAE9E802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284" y="1747202"/>
            <a:ext cx="3412093" cy="1967060"/>
          </a:xfrm>
          <a:prstGeom prst="rect">
            <a:avLst/>
          </a:prstGeom>
        </p:spPr>
      </p:pic>
      <p:sp>
        <p:nvSpPr>
          <p:cNvPr id="11" name="내용 개체 틀 11">
            <a:extLst>
              <a:ext uri="{FF2B5EF4-FFF2-40B4-BE49-F238E27FC236}">
                <a16:creationId xmlns:a16="http://schemas.microsoft.com/office/drawing/2014/main" id="{E1EA68B5-2B5E-0E1D-C719-746D7E15D594}"/>
              </a:ext>
            </a:extLst>
          </p:cNvPr>
          <p:cNvSpPr txBox="1">
            <a:spLocks/>
          </p:cNvSpPr>
          <p:nvPr/>
        </p:nvSpPr>
        <p:spPr>
          <a:xfrm>
            <a:off x="6501554" y="4308764"/>
            <a:ext cx="5183188" cy="2175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0 ~ 1023 </a:t>
            </a:r>
            <a:r>
              <a:rPr lang="ko-KR" altLang="en-US" sz="2400" dirty="0"/>
              <a:t>값</a:t>
            </a:r>
            <a:endParaRPr lang="en-US" altLang="ko-KR" sz="2400" dirty="0"/>
          </a:p>
          <a:p>
            <a:r>
              <a:rPr lang="en-US" altLang="ko-KR" sz="2400" dirty="0" err="1"/>
              <a:t>analogRead</a:t>
            </a:r>
            <a:r>
              <a:rPr lang="en-US" altLang="ko-KR" sz="2400" dirty="0"/>
              <a:t>(), </a:t>
            </a:r>
            <a:r>
              <a:rPr lang="en-US" altLang="ko-KR" sz="2400" dirty="0" err="1"/>
              <a:t>analogWrite</a:t>
            </a:r>
            <a:r>
              <a:rPr lang="en-US" altLang="ko-KR" sz="2400" dirty="0"/>
              <a:t>()</a:t>
            </a:r>
            <a:endParaRPr lang="ko-KR" altLang="en-US" sz="24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CF08251-F66F-2A24-79D1-CC5640F16DDF}"/>
              </a:ext>
            </a:extLst>
          </p:cNvPr>
          <p:cNvCxnSpPr>
            <a:cxnSpLocks/>
          </p:cNvCxnSpPr>
          <p:nvPr/>
        </p:nvCxnSpPr>
        <p:spPr>
          <a:xfrm>
            <a:off x="6103460" y="1667458"/>
            <a:ext cx="33795" cy="4108874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961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6E1276CD-B0DF-BE8D-3D1D-3DDB0FED2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652" y="1337646"/>
            <a:ext cx="6822992" cy="49847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DC0495-97DB-1BEE-96A3-3124FC38C8EA}"/>
              </a:ext>
            </a:extLst>
          </p:cNvPr>
          <p:cNvSpPr txBox="1"/>
          <p:nvPr/>
        </p:nvSpPr>
        <p:spPr>
          <a:xfrm>
            <a:off x="1139940" y="4603372"/>
            <a:ext cx="135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GND </a:t>
            </a:r>
            <a:r>
              <a:rPr lang="ko-KR" altLang="en-US" dirty="0">
                <a:solidFill>
                  <a:srgbClr val="FF0000"/>
                </a:solidFill>
              </a:rPr>
              <a:t>연결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D8E35-7EB8-3D82-ACDB-83649539B749}"/>
              </a:ext>
            </a:extLst>
          </p:cNvPr>
          <p:cNvSpPr txBox="1"/>
          <p:nvPr/>
        </p:nvSpPr>
        <p:spPr>
          <a:xfrm>
            <a:off x="4682310" y="5547508"/>
            <a:ext cx="135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3 Pin </a:t>
            </a:r>
            <a:r>
              <a:rPr lang="ko-KR" altLang="en-US" dirty="0">
                <a:solidFill>
                  <a:srgbClr val="FF0000"/>
                </a:solidFill>
              </a:rPr>
              <a:t>연결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12B911C3-08B2-14E1-0A90-54E9C92F9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>
                <a:latin typeface="+mj-ea"/>
                <a:ea typeface="+mj-ea"/>
              </a:rPr>
              <a:t>디지털과 아날로그 확인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3635D4A-04BB-B1E8-FE24-C4F1C4006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9741" y="3715207"/>
            <a:ext cx="1514686" cy="895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CCE9EF-5700-F51F-781A-1DBC228B587C}"/>
              </a:ext>
            </a:extLst>
          </p:cNvPr>
          <p:cNvSpPr txBox="1"/>
          <p:nvPr/>
        </p:nvSpPr>
        <p:spPr>
          <a:xfrm>
            <a:off x="9390528" y="3376561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330</a:t>
            </a:r>
            <a:r>
              <a:rPr lang="ko-KR" altLang="en-US" dirty="0"/>
              <a:t>옴 저항</a:t>
            </a:r>
          </a:p>
        </p:txBody>
      </p:sp>
    </p:spTree>
    <p:extLst>
      <p:ext uri="{BB962C8B-B14F-4D97-AF65-F5344CB8AC3E}">
        <p14:creationId xmlns:p14="http://schemas.microsoft.com/office/powerpoint/2010/main" val="2301696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67F8-C02F-FE1F-DE0E-F90B5B5A5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AEDFE1C-50AA-1AF7-C1DF-5D140686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>
                <a:latin typeface="+mj-ea"/>
                <a:ea typeface="+mj-ea"/>
              </a:rPr>
              <a:t>디지털과 아날로그 확인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8B4DE-722A-C0E6-4B18-EF730215B109}"/>
              </a:ext>
            </a:extLst>
          </p:cNvPr>
          <p:cNvSpPr txBox="1"/>
          <p:nvPr/>
        </p:nvSpPr>
        <p:spPr>
          <a:xfrm>
            <a:off x="2798956" y="1884558"/>
            <a:ext cx="7203688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b="0" dirty="0">
                <a:solidFill>
                  <a:srgbClr val="00979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setup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pinMode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5C5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OUTPUT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95A5A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3</a:t>
            </a:r>
            <a:r>
              <a:rPr lang="ko-KR" altLang="en-US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번 핀을 출력 모드로 설정</a:t>
            </a:r>
          </a:p>
          <a:p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ko-KR" altLang="en-US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979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loop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digitalWrite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5C5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HIGH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95A5A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3</a:t>
            </a:r>
            <a:r>
              <a:rPr lang="ko-KR" altLang="en-US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번 핀 불 켜기</a:t>
            </a:r>
          </a:p>
          <a:p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delay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5C5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1000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95A5A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1</a:t>
            </a:r>
            <a:r>
              <a:rPr lang="ko-KR" altLang="en-US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초 딜레이</a:t>
            </a:r>
          </a:p>
          <a:p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digitalWrite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5C5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LOW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95A5A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3</a:t>
            </a:r>
            <a:r>
              <a:rPr lang="ko-KR" altLang="en-US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번 핀 불 끄기</a:t>
            </a:r>
          </a:p>
          <a:p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delay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5C5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1000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95A5A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1</a:t>
            </a:r>
            <a:r>
              <a:rPr lang="ko-KR" altLang="en-US" b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초 딜레이</a:t>
            </a:r>
          </a:p>
          <a:p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ko-KR" altLang="en-US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4231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EF3BB-9F30-2E68-CA75-9D6C3BF3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8363E-576A-819C-6096-928A4D1B5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펄스 폭 변조 </a:t>
            </a:r>
            <a:r>
              <a:rPr lang="en-US" altLang="ko-KR" sz="3600" dirty="0"/>
              <a:t>(PWM)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7ACB65-8F48-63AB-7701-66F2CDA27D4F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A25166C-B646-F1A4-E603-01E433A4E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PWM : Pulse Width Modulation</a:t>
            </a:r>
          </a:p>
          <a:p>
            <a:r>
              <a:rPr lang="ko-KR" altLang="en-US" sz="2000" dirty="0"/>
              <a:t>디지털 신호를 사용하여 아날로그 신호로 출력하는 방법</a:t>
            </a:r>
            <a:endParaRPr lang="en-US" altLang="ko-KR" sz="2000" dirty="0"/>
          </a:p>
          <a:p>
            <a:r>
              <a:rPr lang="ko-KR" altLang="en-US" sz="2000" dirty="0" err="1"/>
              <a:t>아두이노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우노</a:t>
            </a:r>
            <a:r>
              <a:rPr lang="ko-KR" altLang="en-US" sz="2000" dirty="0"/>
              <a:t> 보드의 경우</a:t>
            </a:r>
            <a:r>
              <a:rPr lang="en-US" altLang="ko-KR" sz="2000" dirty="0"/>
              <a:t>,</a:t>
            </a:r>
            <a:r>
              <a:rPr lang="ko-KR" altLang="en-US" sz="2000" dirty="0"/>
              <a:t> 핀 앞에 물결 표시가 있는 </a:t>
            </a:r>
            <a:r>
              <a:rPr lang="en-US" altLang="ko-KR" sz="2000" dirty="0"/>
              <a:t>3, 4, 5, 6, 9, 10, 11</a:t>
            </a:r>
            <a:r>
              <a:rPr lang="ko-KR" altLang="en-US" sz="2000" dirty="0"/>
              <a:t>번 핀에서 사용 가능하다</a:t>
            </a:r>
            <a:r>
              <a:rPr lang="en-US" altLang="ko-KR" sz="200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8DFDC6-6C9A-CE88-C6CB-75E67D096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940" y="1337646"/>
            <a:ext cx="3991532" cy="43154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E6D5DE-3FDC-B8E7-1E0C-89DC33541210}"/>
              </a:ext>
            </a:extLst>
          </p:cNvPr>
          <p:cNvSpPr txBox="1"/>
          <p:nvPr/>
        </p:nvSpPr>
        <p:spPr>
          <a:xfrm>
            <a:off x="1139940" y="5837739"/>
            <a:ext cx="52968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400" b="0" i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출처</a:t>
            </a:r>
            <a:r>
              <a:rPr lang="en-US" altLang="ko-KR" sz="1400" b="0" i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: </a:t>
            </a:r>
            <a:r>
              <a:rPr lang="en-US" altLang="ko-KR" sz="1400" b="0" i="0" u="sng" dirty="0">
                <a:solidFill>
                  <a:srgbClr val="0563C1"/>
                </a:solidFill>
                <a:effectLst/>
                <a:highlight>
                  <a:srgbClr val="FFFFFF"/>
                </a:highlight>
                <a:latin typeface="나눔고딕" pitchFamily="2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https://www.arduino.cc/en/Tutorial/</a:t>
            </a:r>
            <a:r>
              <a:rPr lang="en-US" altLang="ko-KR" sz="1400" b="0" i="0" u="sng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나눔고딕" pitchFamily="2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PWM</a:t>
            </a:r>
            <a:br>
              <a:rPr lang="ko-KR" altLang="en-US" sz="1400" dirty="0">
                <a:solidFill>
                  <a:schemeClr val="accent3"/>
                </a:solidFill>
              </a:rPr>
            </a:br>
            <a:endParaRPr lang="ko-KR" altLang="en-US"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718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2EDC4-C14F-7545-650B-55AD5E7D0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1B15B3-F49B-4F3F-45E3-75A94CFB4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PWM </a:t>
            </a:r>
            <a:r>
              <a:rPr lang="ko-KR" altLang="en-US" dirty="0" err="1"/>
              <a:t>활용처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8425A89-96AC-7324-7A22-3E0F16188096}"/>
              </a:ext>
            </a:extLst>
          </p:cNvPr>
          <p:cNvSpPr txBox="1">
            <a:spLocks/>
          </p:cNvSpPr>
          <p:nvPr/>
        </p:nvSpPr>
        <p:spPr>
          <a:xfrm>
            <a:off x="838200" y="1562978"/>
            <a:ext cx="10515600" cy="4627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소형 전자 제품</a:t>
            </a:r>
            <a:endParaRPr lang="en-US" altLang="ko-KR" dirty="0"/>
          </a:p>
          <a:p>
            <a:pPr lvl="1"/>
            <a:r>
              <a:rPr lang="ko-KR" altLang="en-US" dirty="0"/>
              <a:t>디지털 카메라의 셔터 제어</a:t>
            </a:r>
            <a:r>
              <a:rPr lang="en-US" altLang="ko-KR" dirty="0"/>
              <a:t>, </a:t>
            </a:r>
            <a:r>
              <a:rPr lang="ko-KR" altLang="en-US" dirty="0"/>
              <a:t>스피커의 음량 조절</a:t>
            </a:r>
            <a:r>
              <a:rPr lang="en-US" altLang="ko-KR" dirty="0"/>
              <a:t>, </a:t>
            </a:r>
            <a:r>
              <a:rPr lang="ko-KR" altLang="en-US" dirty="0"/>
              <a:t>진동 모터의 진동 강도 조절 등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2. </a:t>
            </a:r>
            <a:r>
              <a:rPr lang="ko-KR" altLang="en-US" dirty="0"/>
              <a:t>태양광 발전</a:t>
            </a:r>
            <a:endParaRPr lang="en-US" altLang="ko-KR" dirty="0"/>
          </a:p>
          <a:p>
            <a:pPr lvl="1"/>
            <a:r>
              <a:rPr lang="ko-KR" altLang="en-US" dirty="0"/>
              <a:t>최대 </a:t>
            </a:r>
            <a:r>
              <a:rPr lang="ko-KR" altLang="en-US" dirty="0" err="1"/>
              <a:t>전력점</a:t>
            </a:r>
            <a:r>
              <a:rPr lang="ko-KR" altLang="en-US" dirty="0"/>
              <a:t> 추적기에서 사용되며</a:t>
            </a:r>
            <a:r>
              <a:rPr lang="en-US" altLang="ko-KR" dirty="0"/>
              <a:t>, </a:t>
            </a:r>
            <a:r>
              <a:rPr lang="ko-KR" altLang="en-US" dirty="0"/>
              <a:t>이를 통해 태양광 패널의 전력 효율을 높일 수 있다</a:t>
            </a:r>
            <a:r>
              <a:rPr lang="en-US" altLang="ko-KR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3. </a:t>
            </a:r>
            <a:r>
              <a:rPr lang="ko-KR" altLang="en-US" dirty="0"/>
              <a:t>히터 제어</a:t>
            </a:r>
            <a:endParaRPr lang="en-US" altLang="ko-KR" dirty="0"/>
          </a:p>
          <a:p>
            <a:pPr lvl="1"/>
            <a:r>
              <a:rPr lang="ko-KR" altLang="en-US" dirty="0"/>
              <a:t>히터의 발열을 조절할 수 있어</a:t>
            </a:r>
            <a:r>
              <a:rPr lang="en-US" altLang="ko-KR" dirty="0"/>
              <a:t>, </a:t>
            </a:r>
            <a:r>
              <a:rPr lang="ko-KR" altLang="en-US" dirty="0"/>
              <a:t>효율적인 에너지 사용과 정확한 온도 제어가 가능하다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음향 장비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자동차 제어</a:t>
            </a:r>
            <a:endParaRPr lang="en-US" altLang="ko-KR" dirty="0"/>
          </a:p>
          <a:p>
            <a:pPr lvl="1"/>
            <a:r>
              <a:rPr lang="ko-KR" altLang="en-US" dirty="0"/>
              <a:t>스피드 제어</a:t>
            </a:r>
            <a:r>
              <a:rPr lang="en-US" altLang="ko-KR" dirty="0"/>
              <a:t>, </a:t>
            </a:r>
            <a:r>
              <a:rPr lang="ko-KR" altLang="en-US" dirty="0"/>
              <a:t>브레이크 제어</a:t>
            </a:r>
            <a:r>
              <a:rPr lang="en-US" altLang="ko-KR" dirty="0"/>
              <a:t>, </a:t>
            </a:r>
            <a:r>
              <a:rPr lang="ko-KR" altLang="en-US" dirty="0"/>
              <a:t>스티어링 제어 등에 사용되며</a:t>
            </a:r>
            <a:r>
              <a:rPr lang="en-US" altLang="ko-KR" dirty="0"/>
              <a:t>, </a:t>
            </a:r>
            <a:r>
              <a:rPr lang="ko-KR" altLang="en-US" dirty="0"/>
              <a:t>모터 제어에 많이 사용된다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7250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E26F8-B943-BAEA-D26E-4D5A16320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CC66A55-E88E-5E9C-1852-2D6C40C45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>
                <a:latin typeface="+mj-ea"/>
                <a:ea typeface="+mj-ea"/>
              </a:rPr>
              <a:t>PWM </a:t>
            </a:r>
            <a:r>
              <a:rPr lang="ko-KR" altLang="en-US" sz="4800" dirty="0">
                <a:latin typeface="+mj-ea"/>
                <a:ea typeface="+mj-ea"/>
              </a:rPr>
              <a:t>활용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D31DE0-E9FC-35EC-4483-2D16AA0DAE3A}"/>
              </a:ext>
            </a:extLst>
          </p:cNvPr>
          <p:cNvSpPr txBox="1"/>
          <p:nvPr/>
        </p:nvSpPr>
        <p:spPr>
          <a:xfrm>
            <a:off x="2798956" y="1884558"/>
            <a:ext cx="7203688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979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D35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setup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ko-KR" dirty="0">
                <a:solidFill>
                  <a:srgbClr val="00979D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D35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loop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dirty="0" err="1">
                <a:solidFill>
                  <a:srgbClr val="D35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analogWrite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255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// 3</a:t>
            </a:r>
            <a:r>
              <a:rPr lang="ko-KR" altLang="en-US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번 핀 최대 출력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D35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delay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500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dirty="0" err="1">
                <a:solidFill>
                  <a:srgbClr val="D35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analogWrite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128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// 3</a:t>
            </a:r>
            <a:r>
              <a:rPr lang="ko-KR" altLang="en-US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번 핀 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50% </a:t>
            </a:r>
            <a:r>
              <a:rPr lang="ko-KR" altLang="en-US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출력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D35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delay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500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dirty="0" err="1">
                <a:solidFill>
                  <a:srgbClr val="D35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analogWrite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// 3</a:t>
            </a:r>
            <a:r>
              <a:rPr lang="ko-KR" altLang="en-US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번 핀 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0% </a:t>
            </a:r>
            <a:r>
              <a:rPr lang="ko-KR" altLang="en-US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출력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D35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delay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5C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500</a:t>
            </a:r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altLang="ko-KR" dirty="0">
              <a:solidFill>
                <a:srgbClr val="4E5B6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926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99A3C-A940-2939-B568-0CF5BEB08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0FFBB3C-29F3-A75E-46E2-2C1C99A6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>
                <a:latin typeface="+mj-ea"/>
                <a:ea typeface="+mj-ea"/>
              </a:rPr>
              <a:t>PWM </a:t>
            </a:r>
            <a:r>
              <a:rPr lang="ko-KR" altLang="en-US" sz="4800" dirty="0">
                <a:latin typeface="+mj-ea"/>
                <a:ea typeface="+mj-ea"/>
              </a:rPr>
              <a:t>활용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C348DDF-A0B5-66B6-9CA9-CFC8CF6F6542}"/>
              </a:ext>
            </a:extLst>
          </p:cNvPr>
          <p:cNvGrpSpPr/>
          <p:nvPr/>
        </p:nvGrpSpPr>
        <p:grpSpPr>
          <a:xfrm>
            <a:off x="2192416" y="1549839"/>
            <a:ext cx="7203688" cy="4524315"/>
            <a:chOff x="2122681" y="1446408"/>
            <a:chExt cx="7203688" cy="452431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96BF69-3070-DD6C-C7C7-CC2A7744413D}"/>
                </a:ext>
              </a:extLst>
            </p:cNvPr>
            <p:cNvSpPr txBox="1"/>
            <p:nvPr/>
          </p:nvSpPr>
          <p:spPr>
            <a:xfrm>
              <a:off x="2122681" y="1446408"/>
              <a:ext cx="7203688" cy="452431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00979D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int</a:t>
              </a:r>
              <a:r>
                <a:rPr lang="ko-KR" altLang="en-US" dirty="0">
                  <a:solidFill>
                    <a:srgbClr val="00979D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ko-KR" dirty="0" err="1">
                  <a:solidFill>
                    <a:srgbClr val="005C5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ledPin</a:t>
              </a:r>
              <a:r>
                <a:rPr lang="en-US" altLang="ko-KR" dirty="0">
                  <a:solidFill>
                    <a:srgbClr val="005C5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= 3;</a:t>
              </a:r>
              <a:endParaRPr lang="en-US" altLang="ko-KR" dirty="0">
                <a:solidFill>
                  <a:srgbClr val="00979D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00979D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int</a:t>
              </a:r>
              <a:r>
                <a:rPr lang="ko-KR" altLang="en-US" dirty="0">
                  <a:solidFill>
                    <a:srgbClr val="00979D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ko-KR" dirty="0">
                  <a:solidFill>
                    <a:srgbClr val="005C5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brightness = 0;</a:t>
              </a:r>
            </a:p>
            <a:p>
              <a:r>
                <a:rPr lang="en-US" altLang="ko-KR" dirty="0">
                  <a:solidFill>
                    <a:srgbClr val="00979D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void</a:t>
              </a:r>
              <a:r>
                <a:rPr lang="en-US" altLang="ko-KR" dirty="0">
                  <a:solidFill>
                    <a:srgbClr val="4E5B61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ko-KR" dirty="0">
                  <a:solidFill>
                    <a:srgbClr val="D354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setup</a:t>
              </a:r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()</a:t>
              </a:r>
              <a:endPara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{</a:t>
              </a:r>
              <a:endPara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4E5B61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  </a:t>
              </a:r>
              <a:r>
                <a:rPr lang="en-US" altLang="ko-KR" dirty="0" err="1">
                  <a:solidFill>
                    <a:srgbClr val="D354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pinMode</a:t>
              </a:r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(</a:t>
              </a:r>
              <a:r>
                <a:rPr lang="en-US" altLang="ko-KR" dirty="0" err="1">
                  <a:solidFill>
                    <a:srgbClr val="005C5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ledPin</a:t>
              </a:r>
              <a:r>
                <a:rPr lang="en-US" altLang="ko-KR" dirty="0">
                  <a:solidFill>
                    <a:srgbClr val="4E5B61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, </a:t>
              </a:r>
              <a:r>
                <a:rPr lang="en-US" altLang="ko-KR" dirty="0">
                  <a:solidFill>
                    <a:srgbClr val="005C5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OUTPUT</a:t>
              </a:r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</a:t>
              </a:r>
              <a:r>
                <a:rPr lang="en-US" altLang="ko-KR" dirty="0">
                  <a:solidFill>
                    <a:srgbClr val="4E5B61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;</a:t>
              </a:r>
            </a:p>
            <a:p>
              <a:r>
                <a:rPr lang="en-US" altLang="ko-KR" dirty="0">
                  <a:solidFill>
                    <a:srgbClr val="4E5B61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  </a:t>
              </a:r>
              <a:r>
                <a:rPr lang="en-US" altLang="ko-KR" dirty="0" err="1">
                  <a:solidFill>
                    <a:srgbClr val="D354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Serial.begin</a:t>
              </a:r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(</a:t>
              </a:r>
              <a:r>
                <a:rPr lang="en-US" altLang="ko-KR" dirty="0">
                  <a:solidFill>
                    <a:srgbClr val="005C5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9600</a:t>
              </a:r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</a:t>
              </a:r>
              <a:r>
                <a:rPr lang="en-US" altLang="ko-KR" dirty="0">
                  <a:solidFill>
                    <a:srgbClr val="4E5B61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;</a:t>
              </a:r>
            </a:p>
            <a:p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}</a:t>
              </a:r>
              <a:endPara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br>
                <a:rPr lang="en-US" altLang="ko-KR" dirty="0">
                  <a:solidFill>
                    <a:srgbClr val="4E5B61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</a:br>
              <a:r>
                <a:rPr lang="en-US" altLang="ko-KR" dirty="0">
                  <a:solidFill>
                    <a:srgbClr val="00979D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void</a:t>
              </a:r>
              <a:r>
                <a:rPr lang="en-US" altLang="ko-KR" dirty="0">
                  <a:solidFill>
                    <a:srgbClr val="4E5B61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ko-KR" dirty="0">
                  <a:solidFill>
                    <a:srgbClr val="D354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loop</a:t>
              </a:r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()</a:t>
              </a:r>
              <a:endPara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{</a:t>
              </a:r>
              <a:endPara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endPara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endPara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endPara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endPara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endParaRPr lang="en-US" altLang="ko-KR" dirty="0">
                <a:solidFill>
                  <a:srgbClr val="434F54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434F54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}</a:t>
              </a:r>
              <a:endPara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948F4E5-E712-FAE0-7FD9-1AC236334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63595" y="4202112"/>
              <a:ext cx="6258206" cy="1438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9206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4E8A2-FE87-4892-1EBE-3C608B1F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3E128-A2BA-79D7-2407-03C3F7A76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AF1F29-170F-41EE-E8F0-69D0E9B6249E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DB1F4D7-995C-3A1E-C158-A9A76C447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스위치 </a:t>
            </a:r>
            <a:r>
              <a:rPr lang="en-US" altLang="ko-KR" sz="2000" dirty="0"/>
              <a:t>: </a:t>
            </a:r>
            <a:r>
              <a:rPr lang="ko-KR" altLang="en-US" sz="2000" dirty="0"/>
              <a:t>평소에는 전기를 흐르지 않게 하다가 눌렀을 때 회로에 전기가 통하게 하는 것</a:t>
            </a:r>
            <a:endParaRPr lang="en-US" altLang="ko-KR" sz="2000" dirty="0"/>
          </a:p>
          <a:p>
            <a:r>
              <a:rPr lang="ko-KR" altLang="en-US" sz="2000" dirty="0"/>
              <a:t>서로 다른 두 회로 사이에서 두 회로를 전기적으로 연결해 주거나 끊어내는 역할을 하는 소자</a:t>
            </a:r>
            <a:endParaRPr lang="en-US" altLang="ko-KR" sz="2000" dirty="0"/>
          </a:p>
        </p:txBody>
      </p:sp>
      <p:pic>
        <p:nvPicPr>
          <p:cNvPr id="6" name="Picture 2" descr="택트 스위치 [NW3-TS-G008] H:7.3mm / 디바이스마트">
            <a:extLst>
              <a:ext uri="{FF2B5EF4-FFF2-40B4-BE49-F238E27FC236}">
                <a16:creationId xmlns:a16="http://schemas.microsoft.com/office/drawing/2014/main" id="{3BF77257-4C5C-DB87-9CDB-FD46AFB41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60" y="2099737"/>
            <a:ext cx="4326584" cy="324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6702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3CD8-5859-805D-3EBD-5D3623E4B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E7228-16A6-F06E-2E86-4B556BBA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75CC4A-BB37-2EB7-AEBA-4B2963A719F3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29E3395-14DB-27D5-6CEE-F6988AEBA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084" y="1295839"/>
            <a:ext cx="5163831" cy="3060767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C5C59566-50EC-7691-99C1-17E0B59A4415}"/>
              </a:ext>
            </a:extLst>
          </p:cNvPr>
          <p:cNvSpPr txBox="1">
            <a:spLocks/>
          </p:cNvSpPr>
          <p:nvPr/>
        </p:nvSpPr>
        <p:spPr>
          <a:xfrm>
            <a:off x="838200" y="4521200"/>
            <a:ext cx="105156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다리가 약간 꺾여 있는 형태로 </a:t>
            </a:r>
            <a:r>
              <a:rPr lang="en-US" altLang="ko-KR" dirty="0"/>
              <a:t>4</a:t>
            </a:r>
            <a:r>
              <a:rPr lang="ko-KR" altLang="en-US" dirty="0"/>
              <a:t>개의 다리가 존재한다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 </a:t>
            </a:r>
            <a:r>
              <a:rPr lang="ko-KR" altLang="en-US" dirty="0"/>
              <a:t>단자와 </a:t>
            </a:r>
            <a:r>
              <a:rPr lang="en-US" altLang="ko-KR" dirty="0"/>
              <a:t>B </a:t>
            </a:r>
            <a:r>
              <a:rPr lang="ko-KR" altLang="en-US" dirty="0"/>
              <a:t>단자가 기본적으로 끊어져 있어</a:t>
            </a:r>
            <a:r>
              <a:rPr lang="en-US" altLang="ko-KR" dirty="0"/>
              <a:t>, </a:t>
            </a:r>
            <a:r>
              <a:rPr lang="ko-KR" altLang="en-US" dirty="0"/>
              <a:t>버튼을 누르고 있는 동안 두 단자가 연결되어 두 단자 사이에 전류가 흐를 수 있게 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069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6B2B2-C3BA-544F-0F90-84D2BD690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40257F-E9A6-24B2-6172-330A4951F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1FCD4C-B943-AA3D-AC6A-17C7CA07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6775F69-F237-1393-0A81-FCC61A18F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195425" y="1079506"/>
            <a:ext cx="5398392" cy="536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14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0AE6A-958C-46D6-BBCC-CE5C513F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11516-02F1-1007-33FE-C7D556B0A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961C9D-EC3E-0A9A-54AB-3F74D336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01C46D-9C26-4627-A9B9-15DD9B409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446" y="1549839"/>
            <a:ext cx="4512994" cy="44858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EF113A-F95E-0414-F99C-8F81ADD7812C}"/>
              </a:ext>
            </a:extLst>
          </p:cNvPr>
          <p:cNvSpPr txBox="1"/>
          <p:nvPr/>
        </p:nvSpPr>
        <p:spPr>
          <a:xfrm>
            <a:off x="834070" y="1383812"/>
            <a:ext cx="6259191" cy="507831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0" dirty="0">
                <a:solidFill>
                  <a:srgbClr val="00979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pushButton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05C5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// </a:t>
            </a:r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연결 핀 변수 선언</a:t>
            </a:r>
            <a:b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979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setup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Serial</a:t>
            </a:r>
            <a:r>
              <a:rPr lang="en-US" altLang="ko-KR" b="0" dirty="0" err="1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begin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5C5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9600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// PC</a:t>
            </a:r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와 시리얼 통신 시작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ko-KR" altLang="en-US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통신 속도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=9600 baud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pinMode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pushButton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INPUT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// 2</a:t>
            </a:r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핀에 연결된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스위치가 눌렸는지 </a:t>
            </a:r>
            <a:r>
              <a:rPr lang="ko-KR" altLang="en-US" b="0" dirty="0" err="1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읽어들이기</a:t>
            </a:r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위해 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INPUT </a:t>
            </a:r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모드 설정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979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loop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00979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buttonState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digitalRead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pushButton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// </a:t>
            </a:r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스위치 </a:t>
            </a:r>
            <a:r>
              <a:rPr lang="en-US" altLang="ko-KR" dirty="0" err="1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on,off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ko-KR" altLang="en-US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확인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Serial</a:t>
            </a:r>
            <a:r>
              <a:rPr lang="en-US" altLang="ko-KR" b="0" dirty="0" err="1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println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buttonState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// </a:t>
            </a:r>
            <a:r>
              <a:rPr lang="ko-KR" altLang="en-US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시리얼 통신으로</a:t>
            </a:r>
            <a:r>
              <a:rPr lang="en-US" altLang="ko-KR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ko-KR" altLang="en-US" dirty="0">
                <a:solidFill>
                  <a:srgbClr val="4E5B6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읽은 값 전송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D354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delay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5C5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4E5B6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   </a:t>
            </a:r>
          </a:p>
          <a:p>
            <a:r>
              <a:rPr lang="en-US" altLang="ko-KR" b="0" dirty="0">
                <a:solidFill>
                  <a:srgbClr val="434F5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4E5B61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257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E0E84-0E49-6976-B30E-CFF65395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E965EF-659A-CB2E-83BB-FF704AA72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플로팅</a:t>
            </a:r>
            <a:r>
              <a:rPr lang="ko-KR" altLang="en-US" dirty="0"/>
              <a:t> 현상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91BB6A-9D91-933E-52B9-3FEDA87D1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CA02893-0D62-F87A-ED49-073DCB039C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621"/>
          <a:stretch>
            <a:fillRect/>
          </a:stretch>
        </p:blipFill>
        <p:spPr>
          <a:xfrm>
            <a:off x="1139940" y="1549839"/>
            <a:ext cx="3787660" cy="4338638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F431D1C-176C-509A-7349-8979BDB77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전기가 흐를 때 주변의 자기장과 같은 전기 에너지 때문에 신호가 불안정하게 변해 부정전압으로 인한 오작동이 발생하는 현상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누르지 않았을 때 </a:t>
            </a:r>
            <a:r>
              <a:rPr lang="en-US" altLang="ko-KR" sz="2000" dirty="0"/>
              <a:t>0, 1</a:t>
            </a:r>
            <a:r>
              <a:rPr lang="ko-KR" altLang="en-US" sz="2000" dirty="0"/>
              <a:t>이 무작위로 나오는 것처럼 </a:t>
            </a:r>
            <a:r>
              <a:rPr lang="en-US" altLang="ko-KR" sz="2000" dirty="0"/>
              <a:t>0</a:t>
            </a:r>
            <a:r>
              <a:rPr lang="ko-KR" altLang="en-US" sz="2000" dirty="0"/>
              <a:t>과 </a:t>
            </a:r>
            <a:r>
              <a:rPr lang="en-US" altLang="ko-KR" sz="2000" dirty="0"/>
              <a:t>1 </a:t>
            </a:r>
            <a:r>
              <a:rPr lang="ko-KR" altLang="en-US" sz="2000" dirty="0"/>
              <a:t>사이를 방황하는 부유 상태가 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4168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0F285-4601-3E85-BC31-760BA1E75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F9500C-1977-9F7C-30A6-62416C12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풀업</a:t>
            </a:r>
            <a:r>
              <a:rPr lang="ko-KR" altLang="en-US" dirty="0"/>
              <a:t> 저항과 </a:t>
            </a:r>
            <a:r>
              <a:rPr lang="ko-KR" altLang="en-US" dirty="0" err="1"/>
              <a:t>풀다운</a:t>
            </a:r>
            <a:r>
              <a:rPr lang="ko-KR" altLang="en-US" dirty="0"/>
              <a:t> 저항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7E53D0-E51A-3772-FF58-B3434954CD3C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7DA760-2525-5900-387C-485CED850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599091"/>
              </p:ext>
            </p:extLst>
          </p:nvPr>
        </p:nvGraphicFramePr>
        <p:xfrm>
          <a:off x="1656886" y="2280303"/>
          <a:ext cx="8878228" cy="247638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674279">
                  <a:extLst>
                    <a:ext uri="{9D8B030D-6E8A-4147-A177-3AD203B41FA5}">
                      <a16:colId xmlns:a16="http://schemas.microsoft.com/office/drawing/2014/main" val="3597156275"/>
                    </a:ext>
                  </a:extLst>
                </a:gridCol>
                <a:gridCol w="2764835">
                  <a:extLst>
                    <a:ext uri="{9D8B030D-6E8A-4147-A177-3AD203B41FA5}">
                      <a16:colId xmlns:a16="http://schemas.microsoft.com/office/drawing/2014/main" val="2101966357"/>
                    </a:ext>
                  </a:extLst>
                </a:gridCol>
                <a:gridCol w="2219557">
                  <a:extLst>
                    <a:ext uri="{9D8B030D-6E8A-4147-A177-3AD203B41FA5}">
                      <a16:colId xmlns:a16="http://schemas.microsoft.com/office/drawing/2014/main" val="594830267"/>
                    </a:ext>
                  </a:extLst>
                </a:gridCol>
                <a:gridCol w="2219557">
                  <a:extLst>
                    <a:ext uri="{9D8B030D-6E8A-4147-A177-3AD203B41FA5}">
                      <a16:colId xmlns:a16="http://schemas.microsoft.com/office/drawing/2014/main" val="4215194941"/>
                    </a:ext>
                  </a:extLst>
                </a:gridCol>
              </a:tblGrid>
              <a:tr h="644018">
                <a:tc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저항 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초기 전압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스위치 </a:t>
                      </a:r>
                      <a:r>
                        <a:rPr lang="en-US"/>
                        <a:t>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7459351"/>
                  </a:ext>
                </a:extLst>
              </a:tr>
              <a:tr h="916183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/>
                        <a:t>풀업</a:t>
                      </a:r>
                      <a:r>
                        <a:rPr lang="ko-KR" altLang="en-US" dirty="0"/>
                        <a:t> 저항</a:t>
                      </a:r>
                      <a:endParaRPr lang="en-US" altLang="ko-KR" dirty="0"/>
                    </a:p>
                    <a:p>
                      <a:pPr algn="ctr"/>
                      <a:r>
                        <a:rPr lang="en-US" altLang="ko-KR" dirty="0"/>
                        <a:t>(Pull-Up)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전원 쪽에 연결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325360"/>
                  </a:ext>
                </a:extLst>
              </a:tr>
              <a:tr h="916183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/>
                        <a:t>풀다운</a:t>
                      </a:r>
                      <a:r>
                        <a:rPr lang="ko-KR" altLang="en-US" dirty="0"/>
                        <a:t> 저항</a:t>
                      </a:r>
                      <a:endParaRPr lang="en-US" altLang="ko-KR" dirty="0"/>
                    </a:p>
                    <a:p>
                      <a:pPr algn="ctr"/>
                      <a:r>
                        <a:rPr lang="en-US" altLang="ko-KR" dirty="0"/>
                        <a:t>(Pull-Down)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GND(-)</a:t>
                      </a:r>
                      <a:r>
                        <a:rPr lang="ko-KR" altLang="en-US" dirty="0"/>
                        <a:t>에 연결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1234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571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122AA-650D-BEF1-6A91-A2424F4C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70764-CAFA-E94E-6221-8F2A98B4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풀업</a:t>
            </a:r>
            <a:r>
              <a:rPr lang="ko-KR" altLang="en-US" dirty="0"/>
              <a:t> 저항과 </a:t>
            </a:r>
            <a:r>
              <a:rPr lang="ko-KR" altLang="en-US" dirty="0" err="1"/>
              <a:t>풀다운</a:t>
            </a:r>
            <a:r>
              <a:rPr lang="ko-KR" altLang="en-US" dirty="0"/>
              <a:t> 저항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99210-EBA7-5A3B-3EDE-366E7E868D7B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C1EED6C-C7E2-37ED-7684-3D15A806EE7A}"/>
              </a:ext>
            </a:extLst>
          </p:cNvPr>
          <p:cNvSpPr txBox="1">
            <a:spLocks/>
          </p:cNvSpPr>
          <p:nvPr/>
        </p:nvSpPr>
        <p:spPr>
          <a:xfrm>
            <a:off x="838199" y="1562978"/>
            <a:ext cx="5752171" cy="4627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풀업</a:t>
            </a:r>
            <a:r>
              <a:rPr lang="en-US" altLang="ko-KR" dirty="0"/>
              <a:t>(Pull-Up) </a:t>
            </a:r>
            <a:r>
              <a:rPr lang="ko-KR" altLang="en-US" dirty="0"/>
              <a:t>저항</a:t>
            </a:r>
            <a:endParaRPr lang="en-US" altLang="ko-KR" dirty="0"/>
          </a:p>
          <a:p>
            <a:pPr lvl="1"/>
            <a:r>
              <a:rPr lang="ko-KR" altLang="en-US" dirty="0"/>
              <a:t>스위치 제어 핀에 연결된 라인과 전원 라인 사이에 저항을 연결해주는 방법</a:t>
            </a:r>
            <a:endParaRPr lang="en-US" altLang="ko-KR" dirty="0"/>
          </a:p>
          <a:p>
            <a:pPr lvl="1"/>
            <a:r>
              <a:rPr lang="ko-KR" altLang="en-US" dirty="0"/>
              <a:t>버튼을 누르지 않았을 때 스위치 제어 핀이 전원 라인과 연결되어 </a:t>
            </a:r>
            <a:r>
              <a:rPr lang="en-US" altLang="ko-KR" dirty="0"/>
              <a:t>HIGH(1)</a:t>
            </a:r>
            <a:r>
              <a:rPr lang="ko-KR" altLang="en-US" dirty="0"/>
              <a:t>의 신호를 출력하고</a:t>
            </a:r>
            <a:r>
              <a:rPr lang="en-US" altLang="ko-KR" dirty="0"/>
              <a:t>, </a:t>
            </a:r>
            <a:r>
              <a:rPr lang="ko-KR" altLang="en-US" dirty="0" err="1"/>
              <a:t>눌를</a:t>
            </a:r>
            <a:r>
              <a:rPr lang="ko-KR" altLang="en-US" dirty="0"/>
              <a:t> 때 스위치 제어 핀이 </a:t>
            </a:r>
            <a:r>
              <a:rPr lang="en-US" altLang="ko-KR" dirty="0"/>
              <a:t>GND </a:t>
            </a:r>
            <a:r>
              <a:rPr lang="ko-KR" altLang="en-US" dirty="0"/>
              <a:t>라인과 연결되어 </a:t>
            </a:r>
            <a:r>
              <a:rPr lang="en-US" altLang="ko-KR" dirty="0"/>
              <a:t>LOW(0)</a:t>
            </a:r>
            <a:r>
              <a:rPr lang="ko-KR" altLang="en-US" dirty="0"/>
              <a:t>의 신호를 출력한다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45A76FF-25FF-041B-2993-9F1F1A60401B}"/>
              </a:ext>
            </a:extLst>
          </p:cNvPr>
          <p:cNvGrpSpPr/>
          <p:nvPr/>
        </p:nvGrpSpPr>
        <p:grpSpPr>
          <a:xfrm rot="16200000">
            <a:off x="6698173" y="2302102"/>
            <a:ext cx="5472760" cy="2920380"/>
            <a:chOff x="821778" y="1742663"/>
            <a:chExt cx="6781764" cy="361889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F04DCD7-A3F8-4CC0-CFBE-FBC77A60DC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t="587" r="59765" b="4306"/>
            <a:stretch>
              <a:fillRect/>
            </a:stretch>
          </p:blipFill>
          <p:spPr>
            <a:xfrm>
              <a:off x="5594733" y="1742663"/>
              <a:ext cx="2008809" cy="360615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1E5C3A8-F3B0-1A71-F1CA-8EC5856359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1"/>
            <a:stretch/>
          </p:blipFill>
          <p:spPr>
            <a:xfrm>
              <a:off x="821778" y="1750741"/>
              <a:ext cx="5602618" cy="36108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2910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BF069-EFF6-FC46-507F-E4D0F75E5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1C2DE-E6CF-3652-414E-B7F2B91D2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풀업</a:t>
            </a:r>
            <a:r>
              <a:rPr lang="ko-KR" altLang="en-US" dirty="0"/>
              <a:t> 저항과 </a:t>
            </a:r>
            <a:r>
              <a:rPr lang="ko-KR" altLang="en-US" dirty="0" err="1"/>
              <a:t>풀다운</a:t>
            </a:r>
            <a:r>
              <a:rPr lang="ko-KR" altLang="en-US" dirty="0"/>
              <a:t> 저항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ACAA8-6459-41CD-8361-BC7ED829C5BA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E89AC99-3D94-929C-A9C1-15C7C8020D9F}"/>
              </a:ext>
            </a:extLst>
          </p:cNvPr>
          <p:cNvSpPr txBox="1">
            <a:spLocks/>
          </p:cNvSpPr>
          <p:nvPr/>
        </p:nvSpPr>
        <p:spPr>
          <a:xfrm>
            <a:off x="838199" y="1562978"/>
            <a:ext cx="5752171" cy="4627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풀다운</a:t>
            </a:r>
            <a:r>
              <a:rPr lang="en-US" altLang="ko-KR" dirty="0"/>
              <a:t>(Pull-Down) </a:t>
            </a:r>
            <a:r>
              <a:rPr lang="ko-KR" altLang="en-US" dirty="0"/>
              <a:t>저항</a:t>
            </a:r>
            <a:endParaRPr lang="en-US" altLang="ko-KR" dirty="0"/>
          </a:p>
          <a:p>
            <a:pPr lvl="1"/>
            <a:r>
              <a:rPr lang="ko-KR" altLang="en-US" dirty="0"/>
              <a:t>스위치 제어 핀에 연결된 라인과 </a:t>
            </a:r>
            <a:r>
              <a:rPr lang="en-US" altLang="ko-KR" dirty="0"/>
              <a:t>GND </a:t>
            </a:r>
            <a:r>
              <a:rPr lang="ko-KR" altLang="en-US" dirty="0"/>
              <a:t>라인 사이에 저항을 연결해주는 방법</a:t>
            </a:r>
            <a:endParaRPr lang="en-US" altLang="ko-KR" dirty="0"/>
          </a:p>
          <a:p>
            <a:pPr lvl="1"/>
            <a:r>
              <a:rPr lang="ko-KR" altLang="en-US" dirty="0"/>
              <a:t>버튼을 누르지 않았을 때 스위치 제어 핀이 </a:t>
            </a:r>
            <a:r>
              <a:rPr lang="en-US" altLang="ko-KR" dirty="0"/>
              <a:t>GND </a:t>
            </a:r>
            <a:r>
              <a:rPr lang="ko-KR" altLang="en-US" dirty="0"/>
              <a:t>라인과 연결되어 </a:t>
            </a:r>
            <a:r>
              <a:rPr lang="en-US" altLang="ko-KR" dirty="0"/>
              <a:t>LOW(0)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신호를 출력하고</a:t>
            </a:r>
            <a:r>
              <a:rPr lang="en-US" altLang="ko-KR" dirty="0"/>
              <a:t>, </a:t>
            </a:r>
            <a:r>
              <a:rPr lang="ko-KR" altLang="en-US" dirty="0"/>
              <a:t>버튼을 </a:t>
            </a:r>
            <a:r>
              <a:rPr lang="ko-KR" altLang="en-US" dirty="0" err="1"/>
              <a:t>눌를</a:t>
            </a:r>
            <a:r>
              <a:rPr lang="ko-KR" altLang="en-US" dirty="0"/>
              <a:t> 때 스위치 제어 핀이 전원 라인과 연결되어 </a:t>
            </a:r>
            <a:r>
              <a:rPr lang="en-US" altLang="ko-KR" dirty="0"/>
              <a:t>HIGH(1)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신호를 출력한다</a:t>
            </a:r>
            <a:r>
              <a:rPr lang="en-US" altLang="ko-KR" dirty="0"/>
              <a:t>.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A26AD0B-31B3-1E19-18D8-61FB3872A1CD}"/>
              </a:ext>
            </a:extLst>
          </p:cNvPr>
          <p:cNvGrpSpPr/>
          <p:nvPr/>
        </p:nvGrpSpPr>
        <p:grpSpPr>
          <a:xfrm rot="16200000">
            <a:off x="6696995" y="2308152"/>
            <a:ext cx="5451840" cy="2921884"/>
            <a:chOff x="821778" y="1750740"/>
            <a:chExt cx="6737292" cy="361081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1E6398D-BD68-F2BD-C902-6BB4C18A23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169" r="68177" b="4122"/>
            <a:stretch>
              <a:fillRect/>
            </a:stretch>
          </p:blipFill>
          <p:spPr>
            <a:xfrm>
              <a:off x="6179075" y="1750740"/>
              <a:ext cx="1379995" cy="361081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4F328E8-7C6A-E811-14B9-8E6D0E0E36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1"/>
            <a:stretch/>
          </p:blipFill>
          <p:spPr>
            <a:xfrm>
              <a:off x="821778" y="1750741"/>
              <a:ext cx="5602618" cy="36108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2245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9CE73-0A78-8F3E-EB3A-76AA6EA4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874A1-424A-345B-5895-B172C3EB1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Quiz 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1B43E0-EDDD-CB4E-F90C-8F36641E0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138C5BD-12D6-3DEE-BD1B-BB9A35934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r>
              <a:rPr lang="ko-KR" altLang="en-US" dirty="0" err="1"/>
              <a:t>아두이노</a:t>
            </a:r>
            <a:r>
              <a:rPr lang="ko-KR" altLang="en-US" dirty="0"/>
              <a:t> </a:t>
            </a:r>
            <a:r>
              <a:rPr lang="en-US" altLang="ko-KR" dirty="0"/>
              <a:t>IDE </a:t>
            </a:r>
            <a:r>
              <a:rPr lang="ko-KR" altLang="en-US" dirty="0"/>
              <a:t>코딩 없이 </a:t>
            </a:r>
            <a:r>
              <a:rPr lang="ko-KR" altLang="en-US" dirty="0" err="1"/>
              <a:t>택트</a:t>
            </a:r>
            <a:r>
              <a:rPr lang="ko-KR" altLang="en-US" dirty="0"/>
              <a:t> 스위치를 눌렀을 때 불 켜기</a:t>
            </a:r>
            <a:endParaRPr lang="en-US" altLang="ko-KR" dirty="0"/>
          </a:p>
        </p:txBody>
      </p:sp>
      <p:pic>
        <p:nvPicPr>
          <p:cNvPr id="8" name="Picture 2" descr="아두이노]Breadboard Jumper Cables(20P-SET) 점퍼 케이블 (M1000006992)">
            <a:extLst>
              <a:ext uri="{FF2B5EF4-FFF2-40B4-BE49-F238E27FC236}">
                <a16:creationId xmlns:a16="http://schemas.microsoft.com/office/drawing/2014/main" id="{A76D8074-066B-E5A4-A5A9-786EF239F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258" y="3992701"/>
            <a:ext cx="1940813" cy="19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4982281-CBC4-2648-528B-9849C07D5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995" y="2372038"/>
            <a:ext cx="1619476" cy="109552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EBC1E3B-0E7A-1743-AAD5-AAE3E5BE4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1671" y="2340028"/>
            <a:ext cx="2522922" cy="959005"/>
          </a:xfrm>
          <a:prstGeom prst="rect">
            <a:avLst/>
          </a:prstGeom>
        </p:spPr>
      </p:pic>
      <p:pic>
        <p:nvPicPr>
          <p:cNvPr id="13" name="Picture 4" descr="XBMDK53D">
            <a:extLst>
              <a:ext uri="{FF2B5EF4-FFF2-40B4-BE49-F238E27FC236}">
                <a16:creationId xmlns:a16="http://schemas.microsoft.com/office/drawing/2014/main" id="{3945F424-3FCD-A71D-D4DD-67EA4EEBA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271" y="4305447"/>
            <a:ext cx="1326995" cy="1326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DEC9BFB-193B-EB57-12FC-1ADA63F377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7322" y="2372038"/>
            <a:ext cx="1514686" cy="8954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D4F1E8E-4F8E-1594-7CFA-637085C09529}"/>
              </a:ext>
            </a:extLst>
          </p:cNvPr>
          <p:cNvSpPr txBox="1"/>
          <p:nvPr/>
        </p:nvSpPr>
        <p:spPr>
          <a:xfrm>
            <a:off x="8372366" y="3623369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브레드</a:t>
            </a:r>
            <a:r>
              <a:rPr lang="ko-KR" altLang="en-US" dirty="0"/>
              <a:t> 보드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9A6E4A-4F13-0A1E-CDE5-8625A00C5204}"/>
              </a:ext>
            </a:extLst>
          </p:cNvPr>
          <p:cNvSpPr txBox="1"/>
          <p:nvPr/>
        </p:nvSpPr>
        <p:spPr>
          <a:xfrm>
            <a:off x="5463898" y="5760167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점퍼 케이블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18EB9D-2C23-1CF2-54E6-EAFD8E4603B9}"/>
              </a:ext>
            </a:extLst>
          </p:cNvPr>
          <p:cNvSpPr txBox="1"/>
          <p:nvPr/>
        </p:nvSpPr>
        <p:spPr>
          <a:xfrm>
            <a:off x="5463899" y="3627498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330</a:t>
            </a:r>
            <a:r>
              <a:rPr lang="ko-KR" altLang="en-US" dirty="0"/>
              <a:t>옴 저항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F06036-82E3-2089-E74D-7D5AB74CB956}"/>
              </a:ext>
            </a:extLst>
          </p:cNvPr>
          <p:cNvSpPr txBox="1"/>
          <p:nvPr/>
        </p:nvSpPr>
        <p:spPr>
          <a:xfrm>
            <a:off x="2568137" y="3627498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아두이노</a:t>
            </a:r>
            <a:r>
              <a:rPr lang="ko-KR" altLang="en-US" dirty="0"/>
              <a:t> 호환보드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C377AE-55B3-0A76-0EC5-A695F70ABBE5}"/>
              </a:ext>
            </a:extLst>
          </p:cNvPr>
          <p:cNvSpPr txBox="1"/>
          <p:nvPr/>
        </p:nvSpPr>
        <p:spPr>
          <a:xfrm>
            <a:off x="3330405" y="5756393"/>
            <a:ext cx="79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LED </a:t>
            </a:r>
            <a:endParaRPr lang="ko-KR" altLang="en-US" dirty="0"/>
          </a:p>
        </p:txBody>
      </p:sp>
      <p:pic>
        <p:nvPicPr>
          <p:cNvPr id="20" name="Picture 2" descr="택트 스위치 [NW3-TS-G008] H:7.3mm / 디바이스마트">
            <a:extLst>
              <a:ext uri="{FF2B5EF4-FFF2-40B4-BE49-F238E27FC236}">
                <a16:creationId xmlns:a16="http://schemas.microsoft.com/office/drawing/2014/main" id="{A08354D5-62F6-B8D6-E686-DA48E88CC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1018" y="4424589"/>
            <a:ext cx="1424228" cy="106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F5376FA-001C-8DD6-E1D1-CE2AA076B1B5}"/>
              </a:ext>
            </a:extLst>
          </p:cNvPr>
          <p:cNvSpPr txBox="1"/>
          <p:nvPr/>
        </p:nvSpPr>
        <p:spPr>
          <a:xfrm>
            <a:off x="8287710" y="5756393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택트</a:t>
            </a:r>
            <a:r>
              <a:rPr lang="ko-KR" altLang="en-US" dirty="0"/>
              <a:t> 스위치</a:t>
            </a:r>
          </a:p>
        </p:txBody>
      </p:sp>
    </p:spTree>
    <p:extLst>
      <p:ext uri="{BB962C8B-B14F-4D97-AF65-F5344CB8AC3E}">
        <p14:creationId xmlns:p14="http://schemas.microsoft.com/office/powerpoint/2010/main" val="37701977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A5A33-D386-2442-6185-51904F0D3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4E1EB-EF7E-B49E-F9C6-116B0298C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Quiz 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E26DBD-C65C-7B02-CAF3-75C71DA7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0FC6B38-FA54-C6AA-CCD6-7C13E9482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237" y="1358282"/>
            <a:ext cx="7023526" cy="501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86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11D56-9005-7A5A-D7FB-BF56C07A2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639DE-853D-5F4A-63E2-BE816CB1B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Quiz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7FCCC8-E649-5E80-74ED-D9187A80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7CD3716E-6ED5-4782-E8C8-352AA1C43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개의 </a:t>
            </a:r>
            <a:r>
              <a:rPr lang="ko-KR" altLang="en-US" dirty="0" err="1"/>
              <a:t>택트</a:t>
            </a:r>
            <a:r>
              <a:rPr lang="ko-KR" altLang="en-US" dirty="0"/>
              <a:t> 스위치와 </a:t>
            </a:r>
            <a:r>
              <a:rPr lang="en-US" altLang="ko-KR" dirty="0"/>
              <a:t>2</a:t>
            </a:r>
            <a:r>
              <a:rPr lang="ko-KR" altLang="en-US" dirty="0"/>
              <a:t>개의 </a:t>
            </a:r>
            <a:r>
              <a:rPr lang="en-US" altLang="ko-KR" dirty="0"/>
              <a:t>LED</a:t>
            </a:r>
            <a:r>
              <a:rPr lang="ko-KR" altLang="en-US" dirty="0"/>
              <a:t>가 있을 때</a:t>
            </a:r>
            <a:r>
              <a:rPr lang="en-US" altLang="ko-KR" dirty="0"/>
              <a:t>, </a:t>
            </a:r>
            <a:r>
              <a:rPr lang="ko-KR" altLang="en-US" dirty="0"/>
              <a:t>각각의 스위치를 눌렀을 때 </a:t>
            </a:r>
            <a:r>
              <a:rPr lang="en-US" altLang="ko-KR" dirty="0"/>
              <a:t>LED</a:t>
            </a:r>
            <a:r>
              <a:rPr lang="ko-KR" altLang="en-US" dirty="0"/>
              <a:t>가 켜지게 </a:t>
            </a:r>
            <a:r>
              <a:rPr lang="ko-KR" altLang="en-US" dirty="0" err="1"/>
              <a:t>하시오</a:t>
            </a:r>
            <a:r>
              <a:rPr lang="en-US" altLang="ko-KR" dirty="0"/>
              <a:t>.</a:t>
            </a:r>
          </a:p>
        </p:txBody>
      </p:sp>
      <p:pic>
        <p:nvPicPr>
          <p:cNvPr id="8" name="Picture 2" descr="아두이노]Breadboard Jumper Cables(20P-SET) 점퍼 케이블 (M1000006992)">
            <a:extLst>
              <a:ext uri="{FF2B5EF4-FFF2-40B4-BE49-F238E27FC236}">
                <a16:creationId xmlns:a16="http://schemas.microsoft.com/office/drawing/2014/main" id="{6F884DCB-E575-A2BD-1A83-3E28C8FE0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165" y="4324888"/>
            <a:ext cx="1940813" cy="19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F4343FA-03C8-2F5D-6494-23AFABE2F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902" y="2704225"/>
            <a:ext cx="1619476" cy="10955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D603D64-A79F-E783-398A-74492927E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578" y="2672215"/>
            <a:ext cx="2522922" cy="95900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C540E92-6CC3-419C-BA51-736020B8F1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1229" y="2704225"/>
            <a:ext cx="1514686" cy="8954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5C8ADED-4305-8559-3456-BA608BAD54C8}"/>
              </a:ext>
            </a:extLst>
          </p:cNvPr>
          <p:cNvSpPr txBox="1"/>
          <p:nvPr/>
        </p:nvSpPr>
        <p:spPr>
          <a:xfrm>
            <a:off x="7846273" y="3955556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브레드</a:t>
            </a:r>
            <a:r>
              <a:rPr lang="ko-KR" altLang="en-US" dirty="0"/>
              <a:t> 보드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92219F-0E47-25FC-6FC8-CE276F71B084}"/>
              </a:ext>
            </a:extLst>
          </p:cNvPr>
          <p:cNvSpPr txBox="1"/>
          <p:nvPr/>
        </p:nvSpPr>
        <p:spPr>
          <a:xfrm>
            <a:off x="4937805" y="6092354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점퍼 케이블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321DDB-302A-F062-701D-93C3CB73F7D8}"/>
              </a:ext>
            </a:extLst>
          </p:cNvPr>
          <p:cNvSpPr txBox="1"/>
          <p:nvPr/>
        </p:nvSpPr>
        <p:spPr>
          <a:xfrm>
            <a:off x="4717115" y="3959685"/>
            <a:ext cx="2102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330</a:t>
            </a:r>
            <a:r>
              <a:rPr lang="ko-KR" altLang="en-US" dirty="0"/>
              <a:t>옴 저항 </a:t>
            </a:r>
            <a:r>
              <a:rPr lang="en-US" altLang="ko-KR" dirty="0"/>
              <a:t>x 2</a:t>
            </a:r>
            <a:r>
              <a:rPr lang="ko-KR" altLang="en-US" dirty="0"/>
              <a:t>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16719-7CDE-4CD4-CB95-6E9EEBD8DDE6}"/>
              </a:ext>
            </a:extLst>
          </p:cNvPr>
          <p:cNvSpPr txBox="1"/>
          <p:nvPr/>
        </p:nvSpPr>
        <p:spPr>
          <a:xfrm>
            <a:off x="2042044" y="3959685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아두이노</a:t>
            </a:r>
            <a:r>
              <a:rPr lang="ko-KR" altLang="en-US" dirty="0"/>
              <a:t> 호환보드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28518E-98DB-1937-541A-40F1923E80E0}"/>
              </a:ext>
            </a:extLst>
          </p:cNvPr>
          <p:cNvSpPr txBox="1"/>
          <p:nvPr/>
        </p:nvSpPr>
        <p:spPr>
          <a:xfrm>
            <a:off x="2361902" y="6088580"/>
            <a:ext cx="161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LED x 2</a:t>
            </a:r>
            <a:r>
              <a:rPr lang="ko-KR" altLang="en-US" dirty="0"/>
              <a:t>개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9" name="Picture 2" descr="택트 스위치 [NW3-TS-G008] H:7.3mm / 디바이스마트">
            <a:extLst>
              <a:ext uri="{FF2B5EF4-FFF2-40B4-BE49-F238E27FC236}">
                <a16:creationId xmlns:a16="http://schemas.microsoft.com/office/drawing/2014/main" id="{C15DC65D-12BB-8C0A-FC10-E61C68709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925" y="4756776"/>
            <a:ext cx="1424228" cy="106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5EE532C-6A1B-26C5-C443-5559935DE87D}"/>
              </a:ext>
            </a:extLst>
          </p:cNvPr>
          <p:cNvSpPr txBox="1"/>
          <p:nvPr/>
        </p:nvSpPr>
        <p:spPr>
          <a:xfrm>
            <a:off x="7518634" y="6088580"/>
            <a:ext cx="217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택트</a:t>
            </a:r>
            <a:r>
              <a:rPr lang="ko-KR" altLang="en-US" dirty="0"/>
              <a:t> 스위치 </a:t>
            </a:r>
            <a:r>
              <a:rPr lang="en-US" altLang="ko-KR" dirty="0"/>
              <a:t>x 2</a:t>
            </a:r>
            <a:r>
              <a:rPr lang="ko-KR" altLang="en-US" dirty="0"/>
              <a:t>개</a:t>
            </a:r>
          </a:p>
        </p:txBody>
      </p:sp>
      <p:pic>
        <p:nvPicPr>
          <p:cNvPr id="10242" name="Picture 2" descr="4 LED 5개 색상랜덤 아두이노 베스트 부품">
            <a:extLst>
              <a:ext uri="{FF2B5EF4-FFF2-40B4-BE49-F238E27FC236}">
                <a16:creationId xmlns:a16="http://schemas.microsoft.com/office/drawing/2014/main" id="{8B49523E-F2C4-4D95-E794-A75CA3251E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3" t="25571" r="56062" b="12666"/>
          <a:stretch>
            <a:fillRect/>
          </a:stretch>
        </p:blipFill>
        <p:spPr bwMode="auto">
          <a:xfrm>
            <a:off x="2775492" y="4644051"/>
            <a:ext cx="796726" cy="1436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909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1E50-322B-7E28-42B6-DC48CD88B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C3AB5-A6BF-7C07-F704-BEEEA95E0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Quiz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E63AAD-4CE4-4E6B-D1D9-33F7C6923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B48A4385-ACAB-B7BE-85F7-C7E32612A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005C5F"/>
                </a:solidFill>
              </a:rPr>
              <a:t>힌트 </a:t>
            </a:r>
            <a:r>
              <a:rPr lang="en-US" altLang="ko-KR" sz="4000" b="1" dirty="0">
                <a:solidFill>
                  <a:srgbClr val="005C5F"/>
                </a:solidFill>
              </a:rPr>
              <a:t>1.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FD2106-5175-1B7D-1595-43BE2B216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202" y="1642299"/>
            <a:ext cx="5257930" cy="467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363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D51A7-5C8F-6AA7-1583-41F6995A9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90EDDC-C04B-5D7C-DA9F-9349E106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Quiz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0E194B-9C24-736C-4FCF-592CC18F6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C9F96A0E-F15E-CD58-83E5-533597E32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005C5F"/>
                </a:solidFill>
              </a:rPr>
              <a:t>힌트 </a:t>
            </a:r>
            <a:r>
              <a:rPr lang="en-US" altLang="ko-KR" sz="4000" b="1" dirty="0">
                <a:solidFill>
                  <a:srgbClr val="005C5F"/>
                </a:solidFill>
              </a:rPr>
              <a:t>2.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3692B3C-08FE-3F52-885D-8368D88D5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703" y="1266937"/>
            <a:ext cx="4500102" cy="519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8310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F3CC9-0638-C6C2-DF6F-CCBD8C510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FC6724-BE56-13E5-07D1-0E947239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Quiz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7766B8-4778-BAEA-7ADD-1B1D6872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E9005A46-EE01-FC9E-CEAD-85A55FC6C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76DE7D7-A892-A473-E06D-A1D68D709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925" y="1636503"/>
            <a:ext cx="7140575" cy="468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4111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A406-27C3-A872-E7EC-947B2E334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EA1A3-4A76-AB8B-0FAD-5D34D770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Quiz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531538-2374-6CB9-5DD8-3370393E0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DCF8161B-E502-69B6-8AF6-D2AF8FCE9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C9965A-4BDF-07FB-9FC6-B081231EE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53" y="2557463"/>
            <a:ext cx="4972050" cy="36195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F2BF71C-CD3D-C8F6-5767-00C4F3B48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77199"/>
            <a:ext cx="4583803" cy="477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7383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F63568-FBBA-C8AF-3F69-37770702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CF869-37F0-6F17-1DC2-5A370695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Quiz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C7DE05-8500-4F63-686E-6AE46A738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0F293CC-706B-096F-9AE6-3E95BE696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99" y="1452300"/>
            <a:ext cx="6353175" cy="49053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7B86DB4-91C8-CD5A-EAC3-208B5B17A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405" y="1534181"/>
            <a:ext cx="561022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49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C6A94-EDE2-3444-884D-BC070A5D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2D0BC-CAFB-CBE2-D048-C6F7088DD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피에조</a:t>
            </a:r>
            <a:r>
              <a:rPr lang="ko-KR" altLang="en-US" dirty="0"/>
              <a:t> </a:t>
            </a:r>
            <a:r>
              <a:rPr lang="ko-KR" altLang="en-US" dirty="0" err="1"/>
              <a:t>부저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4C141D-D3BB-2F3B-DCB4-1251D79FD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F13FBB9E-D73F-8968-D9AF-BA8CA5C3E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r>
              <a:rPr lang="ko-KR" altLang="en-US" dirty="0" err="1"/>
              <a:t>부저</a:t>
            </a:r>
            <a:r>
              <a:rPr lang="ko-KR" altLang="en-US" dirty="0"/>
              <a:t> </a:t>
            </a:r>
            <a:r>
              <a:rPr lang="en-US" altLang="ko-KR" dirty="0"/>
              <a:t>(buzzer) : </a:t>
            </a:r>
            <a:r>
              <a:rPr lang="ko-KR" altLang="en-US" dirty="0"/>
              <a:t>소리를 발생시키는 장치</a:t>
            </a:r>
            <a:endParaRPr lang="en-US" altLang="ko-KR" dirty="0"/>
          </a:p>
          <a:p>
            <a:r>
              <a:rPr lang="en-US" altLang="ko-KR" dirty="0"/>
              <a:t>Piezo (</a:t>
            </a:r>
            <a:r>
              <a:rPr lang="ko-KR" altLang="en-US" dirty="0" err="1"/>
              <a:t>압전</a:t>
            </a:r>
            <a:r>
              <a:rPr lang="ko-KR" altLang="en-US" dirty="0"/>
              <a:t> 효과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그리스어로 </a:t>
            </a:r>
            <a:r>
              <a:rPr lang="en-US" altLang="ko-KR" dirty="0"/>
              <a:t>‘</a:t>
            </a:r>
            <a:r>
              <a:rPr lang="ko-KR" altLang="en-US" dirty="0"/>
              <a:t>누른다</a:t>
            </a:r>
            <a:r>
              <a:rPr lang="en-US" altLang="ko-KR" dirty="0"/>
              <a:t>’</a:t>
            </a:r>
            <a:r>
              <a:rPr lang="ko-KR" altLang="en-US" dirty="0"/>
              <a:t>라는 뜻을 가진 </a:t>
            </a:r>
            <a:r>
              <a:rPr lang="en-US" altLang="ko-KR" dirty="0"/>
              <a:t>‘</a:t>
            </a:r>
            <a:r>
              <a:rPr lang="en-US" altLang="ko-KR" dirty="0" err="1"/>
              <a:t>Piezein</a:t>
            </a:r>
            <a:r>
              <a:rPr lang="en-US" altLang="ko-KR" dirty="0"/>
              <a:t>’</a:t>
            </a:r>
            <a:r>
              <a:rPr lang="ko-KR" altLang="en-US" dirty="0"/>
              <a:t>에서 유래된 말로 압력이 가해지면 전기가 발생한다는 뜻을 갖는다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물체에 기계적인 압력을 가하면 전압이 발생하고</a:t>
            </a:r>
            <a:r>
              <a:rPr lang="en-US" altLang="ko-KR" dirty="0"/>
              <a:t>, </a:t>
            </a:r>
            <a:r>
              <a:rPr lang="ko-KR" altLang="en-US" dirty="0"/>
              <a:t>역으로 전압을 가하면 기계적인 변형이 발생하는 현상</a:t>
            </a:r>
            <a:endParaRPr lang="en-US" altLang="ko-KR" dirty="0"/>
          </a:p>
          <a:p>
            <a:r>
              <a:rPr lang="ko-KR" altLang="en-US" dirty="0" err="1"/>
              <a:t>피에조</a:t>
            </a:r>
            <a:r>
              <a:rPr lang="ko-KR" altLang="en-US" dirty="0"/>
              <a:t> </a:t>
            </a:r>
            <a:r>
              <a:rPr lang="ko-KR" altLang="en-US" dirty="0" err="1"/>
              <a:t>부저는</a:t>
            </a:r>
            <a:r>
              <a:rPr lang="ko-KR" altLang="en-US" dirty="0"/>
              <a:t> 디지털 핀의 전압을 매우 짧은 시간 안에 </a:t>
            </a:r>
            <a:r>
              <a:rPr lang="ko-KR" altLang="en-US" dirty="0" err="1"/>
              <a:t>바꾸어가며</a:t>
            </a:r>
            <a:r>
              <a:rPr lang="ko-KR" altLang="en-US" dirty="0"/>
              <a:t> 주파수에 맞는 소리를 낼 수 있도록 해준다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77217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9BAE-36A9-C3ED-0EAD-2AF30ECCE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5D045-1AB2-1D44-76B0-5338E78F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피에조</a:t>
            </a:r>
            <a:r>
              <a:rPr lang="ko-KR" altLang="en-US" dirty="0"/>
              <a:t> </a:t>
            </a:r>
            <a:r>
              <a:rPr lang="ko-KR" altLang="en-US" dirty="0" err="1"/>
              <a:t>부저</a:t>
            </a:r>
            <a:r>
              <a:rPr lang="ko-KR" altLang="en-US" dirty="0"/>
              <a:t>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31142-8431-9EE7-C4A0-C6E2E0858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E87173C-2028-119E-D3DA-E57C6C10F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451431"/>
              </p:ext>
            </p:extLst>
          </p:nvPr>
        </p:nvGraphicFramePr>
        <p:xfrm>
          <a:off x="1206500" y="1549838"/>
          <a:ext cx="9779000" cy="443186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292600">
                  <a:extLst>
                    <a:ext uri="{9D8B030D-6E8A-4147-A177-3AD203B41FA5}">
                      <a16:colId xmlns:a16="http://schemas.microsoft.com/office/drawing/2014/main" val="1493972173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934267899"/>
                    </a:ext>
                  </a:extLst>
                </a:gridCol>
              </a:tblGrid>
              <a:tr h="487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능동 </a:t>
                      </a:r>
                      <a:r>
                        <a:rPr lang="ko-KR" altLang="en-US" dirty="0" err="1"/>
                        <a:t>부저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수동 </a:t>
                      </a:r>
                      <a:r>
                        <a:rPr lang="ko-KR" altLang="en-US" dirty="0" err="1"/>
                        <a:t>부저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2500560"/>
                  </a:ext>
                </a:extLst>
              </a:tr>
              <a:tr h="487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음이 하나밖에 없다</a:t>
                      </a:r>
                      <a:r>
                        <a:rPr lang="en-US" altLang="ko-KR" dirty="0"/>
                        <a:t>. (On/Off)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주파수 범위 내에서 다양한 음을 출력할 수 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76487"/>
                  </a:ext>
                </a:extLst>
              </a:tr>
              <a:tr h="487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다리의 길이가 다르다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다리의 길이가 같다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1917106"/>
                  </a:ext>
                </a:extLst>
              </a:tr>
              <a:tr h="487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전원만 공급해도 바로 소리가 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전원뿐만</a:t>
                      </a:r>
                      <a:r>
                        <a:rPr lang="ko-KR" altLang="en-US" dirty="0"/>
                        <a:t> 아니라 주파수까지 알려줘야 소리가 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02204"/>
                  </a:ext>
                </a:extLst>
              </a:tr>
              <a:tr h="248149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578664"/>
                  </a:ext>
                </a:extLst>
              </a:tr>
            </a:tbl>
          </a:graphicData>
        </a:graphic>
      </p:graphicFrame>
      <p:pic>
        <p:nvPicPr>
          <p:cNvPr id="8" name="Picture 4" descr="5V 능동 부저 [FQ-011] / 디바이스마트">
            <a:extLst>
              <a:ext uri="{FF2B5EF4-FFF2-40B4-BE49-F238E27FC236}">
                <a16:creationId xmlns:a16="http://schemas.microsoft.com/office/drawing/2014/main" id="{0B230777-3F7D-4017-A7C8-2D25AC95FA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064" t="17235" r="24650" b="20598"/>
          <a:stretch/>
        </p:blipFill>
        <p:spPr bwMode="auto">
          <a:xfrm>
            <a:off x="2187681" y="3429000"/>
            <a:ext cx="2347255" cy="236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5V 능동적이고 수동적 인 버저 제조 업체 및 공급 업체 중국 - 가격 책정 - Kuongshun Electronic">
            <a:extLst>
              <a:ext uri="{FF2B5EF4-FFF2-40B4-BE49-F238E27FC236}">
                <a16:creationId xmlns:a16="http://schemas.microsoft.com/office/drawing/2014/main" id="{B1CEBFFC-F235-E365-591D-8A5D0999D8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60" b="17148"/>
          <a:stretch>
            <a:fillRect/>
          </a:stretch>
        </p:blipFill>
        <p:spPr bwMode="auto">
          <a:xfrm>
            <a:off x="6349283" y="3647142"/>
            <a:ext cx="3810717" cy="20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09908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B2537-6AD9-51AE-CE9B-1B242769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F72A7-6094-F499-3565-860AAB67A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수동 </a:t>
            </a:r>
            <a:r>
              <a:rPr lang="ko-KR" altLang="en-US" dirty="0" err="1"/>
              <a:t>부저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6F7CCD-5E02-6545-267D-CA3CDCF5AF28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85F20A-3CA4-6C90-31D6-C250B6DCE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91857E1-7121-A6E0-477F-3B9056804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258" y="1024202"/>
            <a:ext cx="4699115" cy="480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6012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6825B-7EE3-9D9B-6159-AE7EFD440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771CB5-115E-ED81-7E28-62A6BC593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수동 </a:t>
            </a:r>
            <a:r>
              <a:rPr lang="ko-KR" altLang="en-US" dirty="0" err="1"/>
              <a:t>부저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B09E04-405C-34FD-3098-105367B64C41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903DD6-BF26-0E07-BAC6-263B9D5CF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2770" name="Picture 2">
            <a:extLst>
              <a:ext uri="{FF2B5EF4-FFF2-40B4-BE49-F238E27FC236}">
                <a16:creationId xmlns:a16="http://schemas.microsoft.com/office/drawing/2014/main" id="{4CE9644B-82CB-BB26-534E-FB8AA3EFC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284" y="1363308"/>
            <a:ext cx="8793431" cy="5000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59545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BEAF0-D4BE-B928-3615-A9C8D7536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F5782-E77B-3773-58C9-77EE356A7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수동 </a:t>
            </a:r>
            <a:r>
              <a:rPr lang="ko-KR" altLang="en-US" dirty="0" err="1"/>
              <a:t>부저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C28E0C-B5E6-E81D-A3F9-4592783B505D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249F0E-FC92-D599-7233-03B099233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5719E1-FA56-B0EF-8801-6949720D5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768" y="1325563"/>
            <a:ext cx="5986463" cy="491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9468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154F2-5E17-B3B9-1447-2D1619D4D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1B4D8B-6255-C0E7-5E7F-8096EAF6D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능동 </a:t>
            </a:r>
            <a:r>
              <a:rPr lang="ko-KR" altLang="en-US" dirty="0" err="1"/>
              <a:t>부저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74B904-CF70-ED76-780E-5F3E47B13E9C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C446F3-E75F-A8C7-3097-E72B7764D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599D35-5A17-D1E3-D29D-7E00357A9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1173162"/>
            <a:ext cx="5429250" cy="483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60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20FF6-0A60-F97C-7E25-ABABA2C41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353585-F43A-AA8C-6F11-7AD33D967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능동 </a:t>
            </a:r>
            <a:r>
              <a:rPr lang="ko-KR" altLang="en-US" dirty="0" err="1"/>
              <a:t>부저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35C221-5D0C-33A4-FD6B-AC60C939A681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52811D-C092-26F4-4635-DF2CE89A5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E54808E-F95E-2E26-38E8-3337AF105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715" y="1325563"/>
            <a:ext cx="8750570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288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A8387-B643-6756-7F05-51C16D9A9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FA5A3-990E-640A-7471-8C4EA310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피에조</a:t>
            </a:r>
            <a:r>
              <a:rPr lang="ko-KR" altLang="en-US" dirty="0"/>
              <a:t> </a:t>
            </a:r>
            <a:r>
              <a:rPr lang="ko-KR" altLang="en-US" dirty="0" err="1"/>
              <a:t>부저</a:t>
            </a:r>
            <a:r>
              <a:rPr lang="ko-KR" altLang="en-US" dirty="0"/>
              <a:t>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CA1072-C5AD-A9CB-6E08-1E30AD683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15E3F13E-E86E-C0B2-0711-848D0EA32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스위치를 눌렀을 때만 </a:t>
            </a:r>
            <a:r>
              <a:rPr lang="ko-KR" altLang="en-US" dirty="0" err="1"/>
              <a:t>피에저</a:t>
            </a:r>
            <a:r>
              <a:rPr lang="ko-KR" altLang="en-US" dirty="0"/>
              <a:t> </a:t>
            </a:r>
            <a:r>
              <a:rPr lang="ko-KR" altLang="en-US" dirty="0" err="1"/>
              <a:t>부저에서</a:t>
            </a:r>
            <a:r>
              <a:rPr lang="ko-KR" altLang="en-US" dirty="0"/>
              <a:t> 소리가 나오도록 </a:t>
            </a:r>
            <a:r>
              <a:rPr lang="ko-KR" altLang="en-US" dirty="0" err="1"/>
              <a:t>하시오</a:t>
            </a:r>
            <a:r>
              <a:rPr lang="en-US" altLang="ko-KR" dirty="0"/>
              <a:t>.</a:t>
            </a:r>
          </a:p>
        </p:txBody>
      </p:sp>
      <p:pic>
        <p:nvPicPr>
          <p:cNvPr id="8" name="Picture 2" descr="아두이노]Breadboard Jumper Cables(20P-SET) 점퍼 케이블 (M1000006992)">
            <a:extLst>
              <a:ext uri="{FF2B5EF4-FFF2-40B4-BE49-F238E27FC236}">
                <a16:creationId xmlns:a16="http://schemas.microsoft.com/office/drawing/2014/main" id="{0F7B2012-4CFE-E6D3-079C-80A7A6280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165" y="4040165"/>
            <a:ext cx="1940813" cy="19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57546A7-AD58-078C-8E02-246AEEC31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839" y="2419502"/>
            <a:ext cx="1619476" cy="10955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157B3B9-E5A5-B8AD-B525-C8823C0D38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191" y="2387492"/>
            <a:ext cx="2522922" cy="9590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58C2E42-2182-1F3C-A47A-F7A60EC7A87D}"/>
              </a:ext>
            </a:extLst>
          </p:cNvPr>
          <p:cNvSpPr txBox="1"/>
          <p:nvPr/>
        </p:nvSpPr>
        <p:spPr>
          <a:xfrm>
            <a:off x="6519886" y="3670833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브레드</a:t>
            </a:r>
            <a:r>
              <a:rPr lang="ko-KR" altLang="en-US" dirty="0"/>
              <a:t> 보드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79F889-33EB-5D89-DEBE-52ADD34DE0DF}"/>
              </a:ext>
            </a:extLst>
          </p:cNvPr>
          <p:cNvSpPr txBox="1"/>
          <p:nvPr/>
        </p:nvSpPr>
        <p:spPr>
          <a:xfrm>
            <a:off x="4937805" y="5807631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점퍼 케이블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BC910A-A4BB-2738-81C7-B17912B8EF9D}"/>
              </a:ext>
            </a:extLst>
          </p:cNvPr>
          <p:cNvSpPr txBox="1"/>
          <p:nvPr/>
        </p:nvSpPr>
        <p:spPr>
          <a:xfrm>
            <a:off x="3223981" y="3674962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아두이노</a:t>
            </a:r>
            <a:r>
              <a:rPr lang="ko-KR" altLang="en-US" dirty="0"/>
              <a:t> 호환보드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814DD6-B632-777A-3232-06A8DDFAD403}"/>
              </a:ext>
            </a:extLst>
          </p:cNvPr>
          <p:cNvSpPr txBox="1"/>
          <p:nvPr/>
        </p:nvSpPr>
        <p:spPr>
          <a:xfrm>
            <a:off x="2361902" y="5803857"/>
            <a:ext cx="161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능동 </a:t>
            </a:r>
            <a:r>
              <a:rPr lang="ko-KR" altLang="en-US" dirty="0" err="1"/>
              <a:t>부저</a:t>
            </a:r>
            <a:endParaRPr lang="ko-KR" altLang="en-US" dirty="0"/>
          </a:p>
        </p:txBody>
      </p:sp>
      <p:pic>
        <p:nvPicPr>
          <p:cNvPr id="19" name="Picture 2" descr="택트 스위치 [NW3-TS-G008] H:7.3mm / 디바이스마트">
            <a:extLst>
              <a:ext uri="{FF2B5EF4-FFF2-40B4-BE49-F238E27FC236}">
                <a16:creationId xmlns:a16="http://schemas.microsoft.com/office/drawing/2014/main" id="{70515428-FE5A-0115-532C-D74B78ED4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925" y="4472053"/>
            <a:ext cx="1424228" cy="106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2F73AA5-347F-B5F2-A60D-C317ECBD921C}"/>
              </a:ext>
            </a:extLst>
          </p:cNvPr>
          <p:cNvSpPr txBox="1"/>
          <p:nvPr/>
        </p:nvSpPr>
        <p:spPr>
          <a:xfrm>
            <a:off x="7518634" y="5803857"/>
            <a:ext cx="217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택트</a:t>
            </a:r>
            <a:r>
              <a:rPr lang="ko-KR" altLang="en-US" dirty="0"/>
              <a:t> 스위치 </a:t>
            </a:r>
            <a:r>
              <a:rPr lang="en-US" altLang="ko-KR" dirty="0"/>
              <a:t>x 2</a:t>
            </a:r>
            <a:r>
              <a:rPr lang="ko-KR" altLang="en-US" dirty="0"/>
              <a:t>개</a:t>
            </a:r>
          </a:p>
        </p:txBody>
      </p:sp>
      <p:pic>
        <p:nvPicPr>
          <p:cNvPr id="3" name="Picture 4" descr="5V 능동 부저 [FQ-011] / 디바이스마트">
            <a:extLst>
              <a:ext uri="{FF2B5EF4-FFF2-40B4-BE49-F238E27FC236}">
                <a16:creationId xmlns:a16="http://schemas.microsoft.com/office/drawing/2014/main" id="{B80B33D3-7CE3-9724-19F7-F78DC14030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064" t="17235" r="24650" b="20598"/>
          <a:stretch/>
        </p:blipFill>
        <p:spPr bwMode="auto">
          <a:xfrm>
            <a:off x="2554165" y="4236346"/>
            <a:ext cx="1318124" cy="132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19126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751D3-9F90-EC32-4511-9E18BE6C8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E2324-7080-703D-BA44-9FE20F286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피에조</a:t>
            </a:r>
            <a:r>
              <a:rPr lang="ko-KR" altLang="en-US" dirty="0"/>
              <a:t> </a:t>
            </a:r>
            <a:r>
              <a:rPr lang="ko-KR" altLang="en-US" dirty="0" err="1"/>
              <a:t>부저</a:t>
            </a:r>
            <a:r>
              <a:rPr lang="ko-KR" altLang="en-US" dirty="0"/>
              <a:t>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B40CA8-9311-FE7B-4020-1B134373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AF27D6F0-07F5-2846-EF4F-B6B088846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8AAABEC-F115-3CFF-3658-84B5C3EBF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737" y="1382139"/>
            <a:ext cx="6105525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603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20BC3-9ECB-983B-0A5B-A4582BA17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864CDA-76E1-BBA3-CE62-A3A361276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피에조</a:t>
            </a:r>
            <a:r>
              <a:rPr lang="ko-KR" altLang="en-US" dirty="0"/>
              <a:t> </a:t>
            </a:r>
            <a:r>
              <a:rPr lang="ko-KR" altLang="en-US" dirty="0" err="1"/>
              <a:t>부저</a:t>
            </a:r>
            <a:r>
              <a:rPr lang="ko-KR" altLang="en-US" dirty="0"/>
              <a:t>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3C5766-EF1E-E08D-725C-99223A040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264C02C7-466B-281D-211A-F86867E12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EFE4A0-75B3-4770-6B4E-1CE7CD1D32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44"/>
          <a:stretch>
            <a:fillRect/>
          </a:stretch>
        </p:blipFill>
        <p:spPr>
          <a:xfrm>
            <a:off x="3925682" y="1390476"/>
            <a:ext cx="4975710" cy="524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8136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1B6D6-BDCA-6B50-3EE5-7776D32C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434-DADC-E14F-0D76-D9260A9A1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가변 저항 모듈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DDF324-5C76-5861-F479-EAF6E9D629E4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33F5462-4A13-169E-CF68-B5B8C069A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저항 값을 조절할 수 있는 저항</a:t>
            </a:r>
            <a:endParaRPr lang="en-US" altLang="ko-KR" sz="2000" dirty="0"/>
          </a:p>
          <a:p>
            <a:r>
              <a:rPr lang="ko-KR" altLang="en-US" sz="2000" dirty="0"/>
              <a:t>일반 저항 소자와 달리 </a:t>
            </a:r>
            <a:r>
              <a:rPr lang="en-US" altLang="ko-KR" sz="2000" dirty="0"/>
              <a:t>3</a:t>
            </a:r>
            <a:r>
              <a:rPr lang="ko-KR" altLang="en-US" sz="2000" dirty="0"/>
              <a:t>개의 핀으로 구성되어 있으며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노브</a:t>
            </a:r>
            <a:r>
              <a:rPr lang="en-US" altLang="ko-KR" sz="2000" dirty="0"/>
              <a:t>(</a:t>
            </a:r>
            <a:r>
              <a:rPr lang="ko-KR" altLang="en-US" sz="2000" dirty="0"/>
              <a:t>손잡이</a:t>
            </a:r>
            <a:r>
              <a:rPr lang="en-US" altLang="ko-KR" sz="2000" dirty="0"/>
              <a:t>)</a:t>
            </a:r>
            <a:r>
              <a:rPr lang="ko-KR" altLang="en-US" sz="2000" dirty="0"/>
              <a:t>를 돌려 저항 값을 조절해 전류의 크기를 바꾼다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오디오의 볼륨을 제어하거나 </a:t>
            </a:r>
            <a:r>
              <a:rPr lang="en-US" altLang="ko-KR" sz="2000" dirty="0"/>
              <a:t>LED </a:t>
            </a:r>
            <a:r>
              <a:rPr lang="ko-KR" altLang="en-US" sz="2000" dirty="0"/>
              <a:t>조명이 밝기를 제어하는 등 아날로그 값을 조절할 때 반드시 필요하다</a:t>
            </a:r>
            <a:r>
              <a:rPr lang="en-US" altLang="ko-KR" sz="2000" dirty="0"/>
              <a:t>.</a:t>
            </a:r>
          </a:p>
        </p:txBody>
      </p:sp>
      <p:pic>
        <p:nvPicPr>
          <p:cNvPr id="35842" name="Picture 2" descr="아두이노 가변저항 모듈 (20KΩ) [ELB030640] / 디바이스마트">
            <a:extLst>
              <a:ext uri="{FF2B5EF4-FFF2-40B4-BE49-F238E27FC236}">
                <a16:creationId xmlns:a16="http://schemas.microsoft.com/office/drawing/2014/main" id="{B13A2231-9303-8EB4-22F8-57254A1A6C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t="11567" r="8222" b="12644"/>
          <a:stretch>
            <a:fillRect/>
          </a:stretch>
        </p:blipFill>
        <p:spPr bwMode="auto">
          <a:xfrm>
            <a:off x="990600" y="1730405"/>
            <a:ext cx="4107824" cy="375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9300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C9FCD-C194-683F-9A19-65177335A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ED8168-B43F-05F7-6124-3EDBDAEA8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가변 저항 모듈 구조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1103C-5C88-DA3A-942A-AF3B861CA7C2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0AA3F71-32CB-D007-9F92-D59368B64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en-US" altLang="ko-KR" dirty="0"/>
              <a:t>GND (</a:t>
            </a:r>
            <a:r>
              <a:rPr lang="ko-KR" altLang="en-US" dirty="0"/>
              <a:t>접지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VCC (</a:t>
            </a:r>
            <a:r>
              <a:rPr lang="ko-KR" altLang="en-US" dirty="0"/>
              <a:t>전원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OUT (</a:t>
            </a:r>
            <a:r>
              <a:rPr lang="ko-KR" altLang="en-US" dirty="0"/>
              <a:t>와이퍼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sz="1800" dirty="0"/>
              <a:t>가변저항이 변경된 </a:t>
            </a:r>
            <a:r>
              <a:rPr lang="ko-KR" altLang="en-US" sz="1800" dirty="0" err="1"/>
              <a:t>저항값을</a:t>
            </a:r>
            <a:r>
              <a:rPr lang="ko-KR" altLang="en-US" sz="1800" dirty="0"/>
              <a:t> 읽을 수 있다</a:t>
            </a:r>
            <a:r>
              <a:rPr lang="en-US" altLang="ko-KR" sz="1800" dirty="0"/>
              <a:t>.</a:t>
            </a:r>
          </a:p>
        </p:txBody>
      </p:sp>
      <p:pic>
        <p:nvPicPr>
          <p:cNvPr id="47106" name="Picture 2" descr="WK 가변저항 모듈 [WK-ADB-K07-27] / 디바이스마트">
            <a:extLst>
              <a:ext uri="{FF2B5EF4-FFF2-40B4-BE49-F238E27FC236}">
                <a16:creationId xmlns:a16="http://schemas.microsoft.com/office/drawing/2014/main" id="{27B0555E-D6D1-5AB3-05F9-99C38BA2EA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30" t="20279" r="445" b="19063"/>
          <a:stretch>
            <a:fillRect/>
          </a:stretch>
        </p:blipFill>
        <p:spPr bwMode="auto">
          <a:xfrm>
            <a:off x="1879526" y="1730405"/>
            <a:ext cx="3239911" cy="4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6864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AC127-E478-F28C-1039-D3CD24758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AE016-5451-76E2-AE79-94BDCFDC5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가변 저항 모듈 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FB4402-45D1-2728-5713-9F6E2594B6EA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58531C-4B19-2191-5072-9F494A096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7176CDE-54AA-E778-5112-2670D3A6E0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33" t="2166" r="6169" b="9561"/>
          <a:stretch>
            <a:fillRect/>
          </a:stretch>
        </p:blipFill>
        <p:spPr>
          <a:xfrm>
            <a:off x="2736850" y="1325563"/>
            <a:ext cx="671830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1747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CB894-1C7D-7D4F-C17E-E54C3344A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F31F70-8E59-C1D6-1947-33934B7E4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가변 저항 모듈 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28E991-215F-0D38-FE6E-BB682D75D789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68387-CED3-FC01-6129-4CBF5472A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4290F1D-4F65-E25C-3CB6-3A6F2EB0E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698" y="1529556"/>
            <a:ext cx="9036604" cy="444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951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3EBAE-67CB-8FD7-D134-CFD00C902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08E768-024A-EE6C-B598-1AFD19176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가변 저항 모듈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8DAAF-FE91-F212-1EEF-DD0C30732116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내용 개체 틀 5">
            <a:extLst>
              <a:ext uri="{FF2B5EF4-FFF2-40B4-BE49-F238E27FC236}">
                <a16:creationId xmlns:a16="http://schemas.microsoft.com/office/drawing/2014/main" id="{9F0E7E71-06D7-4E4E-ED71-D32BAAD7E922}"/>
              </a:ext>
            </a:extLst>
          </p:cNvPr>
          <p:cNvSpPr txBox="1">
            <a:spLocks/>
          </p:cNvSpPr>
          <p:nvPr/>
        </p:nvSpPr>
        <p:spPr>
          <a:xfrm>
            <a:off x="838200" y="1549839"/>
            <a:ext cx="10515600" cy="4627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가변 저항 모듈을 이용해 </a:t>
            </a:r>
            <a:r>
              <a:rPr lang="en-US" altLang="ko-KR" dirty="0"/>
              <a:t>LED</a:t>
            </a:r>
            <a:r>
              <a:rPr lang="ko-KR" altLang="en-US" dirty="0"/>
              <a:t>이 밝기를 제어하는 회로를 </a:t>
            </a:r>
            <a:r>
              <a:rPr lang="ko-KR" altLang="en-US" dirty="0" err="1"/>
              <a:t>구성하시오</a:t>
            </a:r>
            <a:r>
              <a:rPr lang="en-US" altLang="ko-KR" dirty="0"/>
              <a:t>.</a:t>
            </a:r>
          </a:p>
        </p:txBody>
      </p:sp>
      <p:pic>
        <p:nvPicPr>
          <p:cNvPr id="5" name="Picture 2" descr="아두이노]Breadboard Jumper Cables(20P-SET) 점퍼 케이블 (M1000006992)">
            <a:extLst>
              <a:ext uri="{FF2B5EF4-FFF2-40B4-BE49-F238E27FC236}">
                <a16:creationId xmlns:a16="http://schemas.microsoft.com/office/drawing/2014/main" id="{228DC362-891A-93B6-B6F2-FE4DE7B96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165" y="4122668"/>
            <a:ext cx="1940813" cy="19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3750DD8-19DA-124B-B88C-3BB12045C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839" y="2502005"/>
            <a:ext cx="1619476" cy="109552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941109C-2987-3C70-0001-E752DB1A1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191" y="2469995"/>
            <a:ext cx="2522922" cy="9590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75BCDA-A617-FE6B-8622-37E2EFB58D20}"/>
              </a:ext>
            </a:extLst>
          </p:cNvPr>
          <p:cNvSpPr txBox="1"/>
          <p:nvPr/>
        </p:nvSpPr>
        <p:spPr>
          <a:xfrm>
            <a:off x="6519886" y="3753336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브레드</a:t>
            </a:r>
            <a:r>
              <a:rPr lang="ko-KR" altLang="en-US" dirty="0"/>
              <a:t> 보드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8C6D0A-27E7-6575-D890-04643EDCAC85}"/>
              </a:ext>
            </a:extLst>
          </p:cNvPr>
          <p:cNvSpPr txBox="1"/>
          <p:nvPr/>
        </p:nvSpPr>
        <p:spPr>
          <a:xfrm>
            <a:off x="4937805" y="5890134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점퍼 케이블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095F3C-32E4-3606-53B5-16802A64205F}"/>
              </a:ext>
            </a:extLst>
          </p:cNvPr>
          <p:cNvSpPr txBox="1"/>
          <p:nvPr/>
        </p:nvSpPr>
        <p:spPr>
          <a:xfrm>
            <a:off x="3223981" y="3757465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아두이노</a:t>
            </a:r>
            <a:r>
              <a:rPr lang="ko-KR" altLang="en-US" dirty="0"/>
              <a:t> 호환보드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F35C25-3A51-C248-D671-E93C7E1F38B1}"/>
              </a:ext>
            </a:extLst>
          </p:cNvPr>
          <p:cNvSpPr txBox="1"/>
          <p:nvPr/>
        </p:nvSpPr>
        <p:spPr>
          <a:xfrm>
            <a:off x="7518634" y="5886360"/>
            <a:ext cx="217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가변 저항 모듈</a:t>
            </a:r>
          </a:p>
        </p:txBody>
      </p:sp>
      <p:pic>
        <p:nvPicPr>
          <p:cNvPr id="17" name="Picture 2" descr="아두이노 가변저항 모듈 (20KΩ) [ELB030640] / 디바이스마트">
            <a:extLst>
              <a:ext uri="{FF2B5EF4-FFF2-40B4-BE49-F238E27FC236}">
                <a16:creationId xmlns:a16="http://schemas.microsoft.com/office/drawing/2014/main" id="{8D2528AC-05F5-D773-40C6-F000711A68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t="11567" r="8222" b="12644"/>
          <a:stretch>
            <a:fillRect/>
          </a:stretch>
        </p:blipFill>
        <p:spPr bwMode="auto">
          <a:xfrm>
            <a:off x="7883264" y="4349156"/>
            <a:ext cx="1297209" cy="1186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XBMDK53D">
            <a:extLst>
              <a:ext uri="{FF2B5EF4-FFF2-40B4-BE49-F238E27FC236}">
                <a16:creationId xmlns:a16="http://schemas.microsoft.com/office/drawing/2014/main" id="{4F53F973-B07D-8075-0CEE-1022E0C4F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733" y="4478164"/>
            <a:ext cx="1326995" cy="1326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B5D58CD-FF21-B3BC-11D4-F69E1211A3E8}"/>
              </a:ext>
            </a:extLst>
          </p:cNvPr>
          <p:cNvSpPr txBox="1"/>
          <p:nvPr/>
        </p:nvSpPr>
        <p:spPr>
          <a:xfrm>
            <a:off x="2807867" y="5929110"/>
            <a:ext cx="79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LED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91425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74A81-3866-5E7C-4974-609652D12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4C862-3039-56E9-D4B3-30161077B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가변 저항 모듈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395F4B-0E11-AA76-8E6A-31F8036C5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F4EA5423-F852-7E34-3E53-E5E87E6BF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7C960C-03B4-9BE7-0C2A-BB4C9EDD4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137" y="1359588"/>
            <a:ext cx="6634163" cy="500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267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1E2F3-5353-7F66-9FAE-633229CE7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8FF39F-1707-3B56-FE62-C484ECDF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가변 저항 모듈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C0D60D-A807-4F93-BE77-19B9B1A18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54E57EB7-0353-D91F-0E40-5DB4A03C6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CAA0862-640C-4373-347D-B8E8F8AC3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1810763"/>
            <a:ext cx="923925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933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8A718B0-F74A-ADB6-CFA5-472C01E4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17C2C-F852-1954-00D4-6EF976895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가변 저항 모듈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84530C-C64A-97D2-4B5E-0ED48C7DD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ABF47A6-E7CC-62AF-CCDE-7DC57431F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1150" y="2311399"/>
            <a:ext cx="9029700" cy="3878263"/>
          </a:xfrm>
        </p:spPr>
        <p:txBody>
          <a:bodyPr/>
          <a:lstStyle/>
          <a:p>
            <a:pPr marL="0" indent="0" algn="ctr">
              <a:buNone/>
            </a:pPr>
            <a:r>
              <a:rPr lang="ko-KR" altLang="en-US" dirty="0" err="1"/>
              <a:t>map</a:t>
            </a:r>
            <a:r>
              <a:rPr lang="ko-KR" altLang="en-US" dirty="0"/>
              <a:t>(</a:t>
            </a:r>
            <a:r>
              <a:rPr lang="ko-KR" altLang="en-US" dirty="0" err="1"/>
              <a:t>입력값</a:t>
            </a:r>
            <a:r>
              <a:rPr lang="ko-KR" altLang="en-US" dirty="0"/>
              <a:t>, </a:t>
            </a:r>
            <a:r>
              <a:rPr lang="ko-KR" altLang="en-US" dirty="0" err="1"/>
              <a:t>입력최소</a:t>
            </a:r>
            <a:r>
              <a:rPr lang="ko-KR" altLang="en-US" dirty="0"/>
              <a:t>, 입력최대, </a:t>
            </a:r>
            <a:r>
              <a:rPr lang="ko-KR" altLang="en-US" dirty="0" err="1"/>
              <a:t>출력최소</a:t>
            </a:r>
            <a:r>
              <a:rPr lang="ko-KR" altLang="en-US" dirty="0"/>
              <a:t>, 출력최대)</a:t>
            </a:r>
          </a:p>
          <a:p>
            <a:pPr algn="ctr"/>
            <a:r>
              <a:rPr lang="en-US" altLang="ko-KR" dirty="0"/>
              <a:t>"</a:t>
            </a:r>
            <a:r>
              <a:rPr lang="ko-KR" altLang="en-US" dirty="0" err="1"/>
              <a:t>입력값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가 </a:t>
            </a:r>
            <a:r>
              <a:rPr lang="en-US" altLang="ko-KR" dirty="0"/>
              <a:t>0~1023 </a:t>
            </a:r>
            <a:r>
              <a:rPr lang="ko-KR" altLang="en-US" dirty="0"/>
              <a:t>범위 안에 있다면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그걸 </a:t>
            </a:r>
            <a:r>
              <a:rPr lang="en-US" altLang="ko-KR" dirty="0"/>
              <a:t>0~255 </a:t>
            </a:r>
            <a:r>
              <a:rPr lang="ko-KR" altLang="en-US" dirty="0"/>
              <a:t>범위에 </a:t>
            </a:r>
            <a:r>
              <a:rPr lang="ko-KR" altLang="en-US" b="1" dirty="0"/>
              <a:t>비례해서</a:t>
            </a:r>
            <a:r>
              <a:rPr lang="ko-KR" altLang="en-US" dirty="0"/>
              <a:t> 바꿔라</a:t>
            </a:r>
            <a:r>
              <a:rPr lang="en-US" altLang="ko-KR" dirty="0"/>
              <a:t>."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37988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9D6B-22D3-170D-BC86-E8C101737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93180-A605-77E0-2C8B-16DA66CDC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조도 센서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7BE079-378D-C4EE-D43F-9E152CD92A35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8B81D1A-E019-5082-DE63-F0B8CCC1F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주변 밝기를 측정하여 측정된 빛의 세기에 따라 저항 값이 변하는 센서</a:t>
            </a:r>
            <a:endParaRPr lang="en-US" altLang="ko-KR" sz="2000" dirty="0"/>
          </a:p>
          <a:p>
            <a:r>
              <a:rPr lang="ko-KR" altLang="en-US" sz="2000" dirty="0"/>
              <a:t>빛이 강하면 저항 값이 작아지고</a:t>
            </a:r>
            <a:r>
              <a:rPr lang="en-US" altLang="ko-KR" sz="2000" dirty="0"/>
              <a:t>, </a:t>
            </a:r>
            <a:r>
              <a:rPr lang="ko-KR" altLang="en-US" sz="2000" dirty="0"/>
              <a:t>빛이 약하면 저항 값이 커진다</a:t>
            </a:r>
            <a:r>
              <a:rPr lang="en-US" altLang="ko-KR" sz="2000" dirty="0"/>
              <a:t>.</a:t>
            </a:r>
          </a:p>
        </p:txBody>
      </p:sp>
      <p:pic>
        <p:nvPicPr>
          <p:cNvPr id="48132" name="Picture 4" descr="조도센서 CDS 황화카드뮴셀 7파이 GM7537-1 / 인투피온">
            <a:extLst>
              <a:ext uri="{FF2B5EF4-FFF2-40B4-BE49-F238E27FC236}">
                <a16:creationId xmlns:a16="http://schemas.microsoft.com/office/drawing/2014/main" id="{9876772E-0DDA-152E-BC2E-4F26380CBA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2" t="30617" r="12037" b="24444"/>
          <a:stretch>
            <a:fillRect/>
          </a:stretch>
        </p:blipFill>
        <p:spPr bwMode="auto">
          <a:xfrm>
            <a:off x="1069860" y="2129728"/>
            <a:ext cx="4090569" cy="2598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4860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A0B26-6080-747C-DEF3-E7AAD8E60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E6E6B-D7CC-74BE-D105-063436CFB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조도 센서 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68224-644E-0F7E-4956-D83C6579F5BE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E11C9A-FDC3-BE42-EAFF-890493416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CE66F4-C5A8-33FB-6AD5-D0480509D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687" y="1325563"/>
            <a:ext cx="7540625" cy="510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441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70837-FD37-6C42-2590-35A40270D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3CC41-B2B5-8A3C-7E0F-621512AD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조도 센서 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8DEB8E-F4D4-211A-4B1A-04AC8E13E074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B7A8F5-8E8C-C9EA-E4A9-40F0E4F27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EC0318-4DDA-7ECC-A18E-C0C688A66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196" y="1549839"/>
            <a:ext cx="9582128" cy="439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155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0A3D1-910D-634C-0447-83A72C90A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9BF694-1148-EF87-CFD3-0227260AE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조도 센서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E2264C-5A9A-D6EA-B8E5-8A304E85EB0A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내용 개체 틀 5">
            <a:extLst>
              <a:ext uri="{FF2B5EF4-FFF2-40B4-BE49-F238E27FC236}">
                <a16:creationId xmlns:a16="http://schemas.microsoft.com/office/drawing/2014/main" id="{77BD58A1-33E2-38B0-D057-DC1A7B7A0403}"/>
              </a:ext>
            </a:extLst>
          </p:cNvPr>
          <p:cNvSpPr txBox="1">
            <a:spLocks/>
          </p:cNvSpPr>
          <p:nvPr/>
        </p:nvSpPr>
        <p:spPr>
          <a:xfrm>
            <a:off x="838200" y="1549839"/>
            <a:ext cx="10515600" cy="4627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빛의 밝기에 따라 </a:t>
            </a:r>
            <a:r>
              <a:rPr lang="en-US" altLang="ko-KR" dirty="0"/>
              <a:t>LED ON/OFF </a:t>
            </a:r>
            <a:r>
              <a:rPr lang="ko-KR" altLang="en-US" dirty="0"/>
              <a:t>기능을 동작하여라</a:t>
            </a:r>
            <a:r>
              <a:rPr lang="en-US" altLang="ko-KR" dirty="0"/>
              <a:t>. ( </a:t>
            </a:r>
            <a:r>
              <a:rPr lang="ko-KR" altLang="en-US" dirty="0"/>
              <a:t>스마트 가로등 </a:t>
            </a:r>
            <a:r>
              <a:rPr lang="en-US" altLang="ko-KR" dirty="0"/>
              <a:t>)</a:t>
            </a:r>
          </a:p>
        </p:txBody>
      </p:sp>
      <p:pic>
        <p:nvPicPr>
          <p:cNvPr id="5" name="Picture 2" descr="아두이노]Breadboard Jumper Cables(20P-SET) 점퍼 케이블 (M1000006992)">
            <a:extLst>
              <a:ext uri="{FF2B5EF4-FFF2-40B4-BE49-F238E27FC236}">
                <a16:creationId xmlns:a16="http://schemas.microsoft.com/office/drawing/2014/main" id="{BF040619-6529-42A7-7725-47247DC13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065" y="4122668"/>
            <a:ext cx="1940813" cy="19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BCB7E2-E072-C1A5-FC17-2A2535B08099}"/>
              </a:ext>
            </a:extLst>
          </p:cNvPr>
          <p:cNvSpPr txBox="1"/>
          <p:nvPr/>
        </p:nvSpPr>
        <p:spPr>
          <a:xfrm>
            <a:off x="5026705" y="5890134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점퍼 케이블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7E92A4-0BE7-6DF2-A626-FEE7572DC9E0}"/>
              </a:ext>
            </a:extLst>
          </p:cNvPr>
          <p:cNvSpPr txBox="1"/>
          <p:nvPr/>
        </p:nvSpPr>
        <p:spPr>
          <a:xfrm>
            <a:off x="7607534" y="5886360"/>
            <a:ext cx="217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조도 센서</a:t>
            </a:r>
          </a:p>
        </p:txBody>
      </p:sp>
      <p:pic>
        <p:nvPicPr>
          <p:cNvPr id="18" name="Picture 4" descr="XBMDK53D">
            <a:extLst>
              <a:ext uri="{FF2B5EF4-FFF2-40B4-BE49-F238E27FC236}">
                <a16:creationId xmlns:a16="http://schemas.microsoft.com/office/drawing/2014/main" id="{70715B2E-98FE-6089-B55F-8C83A78EB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633" y="4478164"/>
            <a:ext cx="1326995" cy="1326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08B1C62-03BC-93B7-A602-570CF6C48F64}"/>
              </a:ext>
            </a:extLst>
          </p:cNvPr>
          <p:cNvSpPr txBox="1"/>
          <p:nvPr/>
        </p:nvSpPr>
        <p:spPr>
          <a:xfrm>
            <a:off x="2896767" y="5929110"/>
            <a:ext cx="79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LED </a:t>
            </a:r>
            <a:endParaRPr lang="ko-KR" altLang="en-US" dirty="0"/>
          </a:p>
        </p:txBody>
      </p:sp>
      <p:pic>
        <p:nvPicPr>
          <p:cNvPr id="3" name="Picture 4" descr="조도센서 CDS 황화카드뮴셀 7파이 GM7537-1 / 인투피온">
            <a:extLst>
              <a:ext uri="{FF2B5EF4-FFF2-40B4-BE49-F238E27FC236}">
                <a16:creationId xmlns:a16="http://schemas.microsoft.com/office/drawing/2014/main" id="{BCE6AF37-53B7-8A7F-8EE6-5BC61D53BC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2" t="30617" r="12037" b="24444"/>
          <a:stretch>
            <a:fillRect/>
          </a:stretch>
        </p:blipFill>
        <p:spPr bwMode="auto">
          <a:xfrm>
            <a:off x="8129656" y="4670313"/>
            <a:ext cx="1509644" cy="95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E368B4B-E079-27E5-3616-A5AC848F7A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95" y="2372038"/>
            <a:ext cx="1619476" cy="109552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05BD079-076C-E68A-48DB-75EC974F7D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2571" y="2340028"/>
            <a:ext cx="2522922" cy="95900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EF0C9B8-4C2B-5A19-30C2-C965B6F8A6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8222" y="2372038"/>
            <a:ext cx="1514686" cy="8954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D0608C4-5485-E4E7-6817-92F3E0927AA8}"/>
              </a:ext>
            </a:extLst>
          </p:cNvPr>
          <p:cNvSpPr txBox="1"/>
          <p:nvPr/>
        </p:nvSpPr>
        <p:spPr>
          <a:xfrm>
            <a:off x="7953266" y="3623369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브레드</a:t>
            </a:r>
            <a:r>
              <a:rPr lang="ko-KR" altLang="en-US" dirty="0"/>
              <a:t> 보드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FD2A93-4566-E94F-2420-51350C2DE6C4}"/>
              </a:ext>
            </a:extLst>
          </p:cNvPr>
          <p:cNvSpPr txBox="1"/>
          <p:nvPr/>
        </p:nvSpPr>
        <p:spPr>
          <a:xfrm>
            <a:off x="5044799" y="3627498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330</a:t>
            </a:r>
            <a:r>
              <a:rPr lang="ko-KR" altLang="en-US" dirty="0"/>
              <a:t>옴 저항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189C10-C48C-D0EB-46C8-E878B3F132FA}"/>
              </a:ext>
            </a:extLst>
          </p:cNvPr>
          <p:cNvSpPr txBox="1"/>
          <p:nvPr/>
        </p:nvSpPr>
        <p:spPr>
          <a:xfrm>
            <a:off x="2149037" y="3627498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아두이노</a:t>
            </a:r>
            <a:r>
              <a:rPr lang="ko-KR" altLang="en-US" dirty="0"/>
              <a:t> 호환보드</a:t>
            </a:r>
          </a:p>
        </p:txBody>
      </p:sp>
    </p:spTree>
    <p:extLst>
      <p:ext uri="{BB962C8B-B14F-4D97-AF65-F5344CB8AC3E}">
        <p14:creationId xmlns:p14="http://schemas.microsoft.com/office/powerpoint/2010/main" val="24031526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8ED1-06AC-08D7-4507-47A87259F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E0982-18B9-3E6E-E01C-68D0CA720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조도 센서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134033D-FAC6-5F35-5A66-512CF2C08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337" y="1432090"/>
            <a:ext cx="9077325" cy="492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502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CDBA2-43C6-284B-735E-4D5EFCB9E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F4716-D1B3-185E-2DAE-AE3B35E6B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조도 센서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251B5E-49E8-1B2B-3FDB-14302D41F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9E41CA49-5621-C664-DEB2-FCFFBEA1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1E802A8-0E70-F97F-5376-FC81CD9C9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87" y="1549839"/>
            <a:ext cx="6767513" cy="481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056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DB04E-3946-312F-F601-4473BDFF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E0DE9B-6599-C69F-FCA1-88259A43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조도 센서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B1B995-07AC-B1BA-45F4-2BAD9296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F491D050-00C3-66AE-204F-92B58E112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38D008-0504-FF3A-C4AA-26838115C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924" y="1608698"/>
            <a:ext cx="6048049" cy="485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0134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G마켓 산스 TTF Bold"/>
        <a:ea typeface="G마켓 산스 TTF Bold"/>
        <a:cs typeface=""/>
      </a:majorFont>
      <a:minorFont>
        <a:latin typeface="G마켓 산스 TTF Medium"/>
        <a:ea typeface="G마켓 산스 TTF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14445</TotalTime>
  <Words>1715</Words>
  <Application>Microsoft Office PowerPoint</Application>
  <PresentationFormat>와이드스크린</PresentationFormat>
  <Paragraphs>381</Paragraphs>
  <Slides>56</Slides>
  <Notes>56</Notes>
  <HiddenSlides>2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5" baseType="lpstr">
      <vt:lpstr>G마켓 산스 TTF Bold</vt:lpstr>
      <vt:lpstr>G마켓 산스 TTF Medium</vt:lpstr>
      <vt:lpstr>Noto Sans KR</vt:lpstr>
      <vt:lpstr>Arial</vt:lpstr>
      <vt:lpstr>Consolas</vt:lpstr>
      <vt:lpstr>나눔고딕</vt:lpstr>
      <vt:lpstr>맑은 고딕</vt:lpstr>
      <vt:lpstr>메이플스토리</vt:lpstr>
      <vt:lpstr>1_Office 테마</vt:lpstr>
      <vt:lpstr>PowerPoint 프레젠테이션</vt:lpstr>
      <vt:lpstr>LED 실습</vt:lpstr>
      <vt:lpstr>LED 실습</vt:lpstr>
      <vt:lpstr>LED 실습</vt:lpstr>
      <vt:lpstr>LED 실습 Quiz</vt:lpstr>
      <vt:lpstr>LED 실습 Quiz</vt:lpstr>
      <vt:lpstr>LED 실습 Quiz</vt:lpstr>
      <vt:lpstr>LED 실습 Quiz</vt:lpstr>
      <vt:lpstr>디지털과 아날로그</vt:lpstr>
      <vt:lpstr>디지털과 아날로그 확인</vt:lpstr>
      <vt:lpstr>디지털과 아날로그 확인</vt:lpstr>
      <vt:lpstr>펄스 폭 변조 (PWM)</vt:lpstr>
      <vt:lpstr>PWM 활용처</vt:lpstr>
      <vt:lpstr>PWM 활용</vt:lpstr>
      <vt:lpstr>PWM 활용</vt:lpstr>
      <vt:lpstr>택트 스위치</vt:lpstr>
      <vt:lpstr>택트 스위치</vt:lpstr>
      <vt:lpstr>택트 스위치 실습 1</vt:lpstr>
      <vt:lpstr>택트 스위치 실습 1</vt:lpstr>
      <vt:lpstr>플로팅 현상</vt:lpstr>
      <vt:lpstr>풀업 저항과 풀다운 저항</vt:lpstr>
      <vt:lpstr>풀업 저항과 풀다운 저항</vt:lpstr>
      <vt:lpstr>풀업 저항과 풀다운 저항</vt:lpstr>
      <vt:lpstr>택트 스위치 실습 Quiz (1)</vt:lpstr>
      <vt:lpstr>택트 스위치 실습 Quiz (1)</vt:lpstr>
      <vt:lpstr>택트 스위치 실습 Quiz (2)</vt:lpstr>
      <vt:lpstr>택트 스위치 실습 Quiz (2)</vt:lpstr>
      <vt:lpstr>택트 스위치 실습 Quiz (2)</vt:lpstr>
      <vt:lpstr>택트 스위치 실습 Quiz (2)</vt:lpstr>
      <vt:lpstr>택트 스위치 실습 Quiz (2)</vt:lpstr>
      <vt:lpstr>택트 스위치 실습 Quiz (2)</vt:lpstr>
      <vt:lpstr>피에조 부저</vt:lpstr>
      <vt:lpstr>피에조 부저 종류</vt:lpstr>
      <vt:lpstr>수동 부저</vt:lpstr>
      <vt:lpstr>수동 부저</vt:lpstr>
      <vt:lpstr>수동 부저</vt:lpstr>
      <vt:lpstr>능동 부저</vt:lpstr>
      <vt:lpstr>능동 부저</vt:lpstr>
      <vt:lpstr>피에조 부저 Quiz</vt:lpstr>
      <vt:lpstr>피에조 부저 Quiz</vt:lpstr>
      <vt:lpstr>피에조 부저 Quiz</vt:lpstr>
      <vt:lpstr>가변 저항 모듈</vt:lpstr>
      <vt:lpstr>가변 저항 모듈 구조</vt:lpstr>
      <vt:lpstr>가변 저항 모듈 실습</vt:lpstr>
      <vt:lpstr>가변 저항 모듈 실습</vt:lpstr>
      <vt:lpstr>가변 저항 모듈 실습 Quiz</vt:lpstr>
      <vt:lpstr>가변 저항 모듈 실습 Quiz</vt:lpstr>
      <vt:lpstr>가변 저항 모듈 실습 Quiz</vt:lpstr>
      <vt:lpstr>가변 저항 모듈 실습 Quiz</vt:lpstr>
      <vt:lpstr>조도 센서</vt:lpstr>
      <vt:lpstr>조도 센서 실습</vt:lpstr>
      <vt:lpstr>조도 센서 실습</vt:lpstr>
      <vt:lpstr>조도 센서 실습 Quiz</vt:lpstr>
      <vt:lpstr>조도 센서 실습 Quiz</vt:lpstr>
      <vt:lpstr>조도 센서 실습 Quiz</vt:lpstr>
      <vt:lpstr>조도 센서 실습 Quiz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605</cp:revision>
  <dcterms:created xsi:type="dcterms:W3CDTF">2024-10-23T01:56:35Z</dcterms:created>
  <dcterms:modified xsi:type="dcterms:W3CDTF">2025-10-24T01:08:20Z</dcterms:modified>
</cp:coreProperties>
</file>