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6"/>
  </p:notesMasterIdLst>
  <p:sldIdLst>
    <p:sldId id="358" r:id="rId2"/>
    <p:sldId id="966" r:id="rId3"/>
    <p:sldId id="971" r:id="rId4"/>
    <p:sldId id="972" r:id="rId5"/>
    <p:sldId id="296" r:id="rId6"/>
    <p:sldId id="298" r:id="rId7"/>
    <p:sldId id="299" r:id="rId8"/>
    <p:sldId id="300" r:id="rId9"/>
    <p:sldId id="301" r:id="rId10"/>
    <p:sldId id="297" r:id="rId11"/>
    <p:sldId id="967" r:id="rId12"/>
    <p:sldId id="969" r:id="rId13"/>
    <p:sldId id="964" r:id="rId14"/>
    <p:sldId id="355" r:id="rId15"/>
    <p:sldId id="308" r:id="rId16"/>
    <p:sldId id="312" r:id="rId17"/>
    <p:sldId id="310" r:id="rId18"/>
    <p:sldId id="970" r:id="rId19"/>
    <p:sldId id="311" r:id="rId20"/>
    <p:sldId id="965" r:id="rId21"/>
    <p:sldId id="314" r:id="rId22"/>
    <p:sldId id="315" r:id="rId23"/>
    <p:sldId id="316" r:id="rId24"/>
    <p:sldId id="317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73" autoAdjust="0"/>
    <p:restoredTop sz="88047" autoAdjust="0"/>
  </p:normalViewPr>
  <p:slideViewPr>
    <p:cSldViewPr snapToGrid="0">
      <p:cViewPr varScale="1">
        <p:scale>
          <a:sx n="93" d="100"/>
          <a:sy n="93" d="100"/>
        </p:scale>
        <p:origin x="4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2025-02-13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코드와 버튼 입력을 통해 </a:t>
            </a:r>
            <a:r>
              <a:rPr lang="en-US" altLang="ko-KR" dirty="0"/>
              <a:t>led</a:t>
            </a:r>
            <a:r>
              <a:rPr lang="ko-KR" altLang="en-US" dirty="0"/>
              <a:t>를 껐다 켰다 해봤습니다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그럼</a:t>
            </a:r>
            <a:r>
              <a:rPr lang="en-US" altLang="ko-KR" dirty="0"/>
              <a:t>, led</a:t>
            </a:r>
            <a:r>
              <a:rPr lang="ko-KR" altLang="en-US" dirty="0"/>
              <a:t>의 밝기를 조절 하려면 어떻게 </a:t>
            </a:r>
            <a:r>
              <a:rPr lang="ko-KR" altLang="en-US" dirty="0" err="1"/>
              <a:t>해야할까요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727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5D9D9-1515-2D5A-6BB3-CEDF04878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500484-DE5D-1ED6-1F1D-B4E59BB6C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1B5FB9-1D16-B374-7F97-F26052FCA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다시한번</a:t>
            </a:r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!! 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더 쉽게 이야기 하면 </a:t>
            </a:r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ON/OFF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를 계</a:t>
            </a:r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~~~~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속 반복하는데</a:t>
            </a:r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, </a:t>
            </a:r>
          </a:p>
          <a:p>
            <a:pPr algn="l" fontAlgn="base"/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ON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시간을 길게 하느냐</a:t>
            </a:r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, OFF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시간을 </a:t>
            </a:r>
            <a:r>
              <a:rPr lang="ko-KR" altLang="en-US" b="0" i="0" dirty="0" err="1">
                <a:solidFill>
                  <a:srgbClr val="464646"/>
                </a:solidFill>
                <a:effectLst/>
                <a:latin typeface="se-nanumgothic"/>
              </a:rPr>
              <a:t>길게하느냐에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 따라</a:t>
            </a:r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, 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모터의 속도나 </a:t>
            </a:r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LED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의 밝기의 변화를 확인 할 수 있는 것</a:t>
            </a:r>
            <a:endParaRPr lang="en-US" altLang="ko-KR" b="0" i="0" dirty="0">
              <a:solidFill>
                <a:srgbClr val="464646"/>
              </a:solidFill>
              <a:effectLst/>
              <a:latin typeface="se-nanumgothic"/>
            </a:endParaRPr>
          </a:p>
          <a:p>
            <a:pPr algn="l" fontAlgn="base"/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DC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모터의 경우는 전압 변화에 기계적 반응이 느리기 때문에</a:t>
            </a:r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,</a:t>
            </a:r>
          </a:p>
          <a:p>
            <a:pPr algn="l" fontAlgn="base"/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LED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의 경우는 인간의 눈으로 인지할 수 있는 속도보다 빠르게 </a:t>
            </a:r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On/Off 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되기 때문에</a:t>
            </a:r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, </a:t>
            </a:r>
          </a:p>
          <a:p>
            <a:pPr algn="l" fontAlgn="base">
              <a:spcBef>
                <a:spcPts val="825"/>
              </a:spcBef>
              <a:spcAft>
                <a:spcPts val="525"/>
              </a:spcAft>
            </a:pP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속도 </a:t>
            </a:r>
            <a:r>
              <a:rPr lang="en-US" altLang="ko-KR" b="0" i="0" dirty="0">
                <a:solidFill>
                  <a:srgbClr val="464646"/>
                </a:solidFill>
                <a:effectLst/>
                <a:latin typeface="se-nanumgothic"/>
              </a:rPr>
              <a:t>/ </a:t>
            </a:r>
            <a:r>
              <a:rPr lang="ko-KR" altLang="en-US" b="0" i="0" dirty="0">
                <a:solidFill>
                  <a:srgbClr val="464646"/>
                </a:solidFill>
                <a:effectLst/>
                <a:latin typeface="se-nanumgothic"/>
              </a:rPr>
              <a:t>밝기가 조절 되는 것이지요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FE199D-FE3B-FF6B-153D-4768E1FC3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173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60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972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913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AVR328</a:t>
            </a:r>
            <a:r>
              <a:rPr lang="ko-KR" altLang="en-US" dirty="0"/>
              <a:t>에는 </a:t>
            </a:r>
            <a:r>
              <a:rPr lang="en-US" altLang="ko-KR" dirty="0"/>
              <a:t>8</a:t>
            </a:r>
            <a:r>
              <a:rPr lang="ko-KR" altLang="en-US" dirty="0"/>
              <a:t>비트</a:t>
            </a:r>
            <a:r>
              <a:rPr lang="en-US" altLang="ko-KR" dirty="0"/>
              <a:t>/16</a:t>
            </a:r>
            <a:r>
              <a:rPr lang="ko-KR" altLang="en-US" dirty="0"/>
              <a:t>비트 타이머</a:t>
            </a:r>
            <a:r>
              <a:rPr lang="en-US" altLang="ko-KR" dirty="0"/>
              <a:t>, </a:t>
            </a:r>
            <a:r>
              <a:rPr lang="ko-KR" altLang="en-US" dirty="0"/>
              <a:t>카운터가 있음</a:t>
            </a:r>
            <a:br>
              <a:rPr lang="en-US" altLang="ko-KR" dirty="0"/>
            </a:br>
            <a:r>
              <a:rPr lang="en-US" altLang="ko-KR" dirty="0"/>
              <a:t>MCU </a:t>
            </a:r>
            <a:r>
              <a:rPr lang="ko-KR" altLang="en-US" dirty="0"/>
              <a:t>버전마다 비트 크기는 동일하나 조금씩 사양이 다름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407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내부 </a:t>
            </a:r>
            <a:r>
              <a:rPr lang="en-US" altLang="ko-KR" dirty="0"/>
              <a:t>or </a:t>
            </a:r>
            <a:r>
              <a:rPr lang="ko-KR" altLang="en-US" dirty="0"/>
              <a:t>외부 클럭을 선택하여 분주 </a:t>
            </a:r>
            <a:r>
              <a:rPr lang="ko-KR" altLang="en-US" dirty="0" err="1"/>
              <a:t>한후</a:t>
            </a:r>
            <a:r>
              <a:rPr lang="en-US" altLang="ko-KR" dirty="0"/>
              <a:t>…control logic</a:t>
            </a:r>
            <a:r>
              <a:rPr lang="ko-KR" altLang="en-US" dirty="0"/>
              <a:t>에서 제어 처리</a:t>
            </a:r>
            <a:r>
              <a:rPr lang="en-US" altLang="ko-KR" dirty="0"/>
              <a:t>…!</a:t>
            </a:r>
          </a:p>
          <a:p>
            <a:r>
              <a:rPr lang="en-US" altLang="ko-KR" dirty="0"/>
              <a:t>waveform </a:t>
            </a:r>
            <a:r>
              <a:rPr lang="en-US" altLang="ko-KR" dirty="0" err="1"/>
              <a:t>Generatrion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724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카운터는 계속 증가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898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사용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타이머는 어차피 </a:t>
            </a:r>
            <a:r>
              <a:rPr lang="en-US" altLang="ko-KR" dirty="0"/>
              <a:t>2^8</a:t>
            </a:r>
            <a:r>
              <a:rPr lang="ko-KR" altLang="en-US" dirty="0"/>
              <a:t>의 </a:t>
            </a:r>
            <a:r>
              <a:rPr lang="ko-KR" altLang="en-US" dirty="0" err="1"/>
              <a:t>갯수</a:t>
            </a:r>
            <a:r>
              <a:rPr lang="ko-KR" altLang="en-US" dirty="0"/>
              <a:t> 만큼 계속 클럭을 카운트</a:t>
            </a:r>
            <a:r>
              <a:rPr lang="en-US" altLang="ko-KR" dirty="0"/>
              <a:t>…</a:t>
            </a:r>
          </a:p>
          <a:p>
            <a:r>
              <a:rPr lang="ko-KR" altLang="en-US" dirty="0"/>
              <a:t>여기서 우리는 레지스터들의 값을 조절하여</a:t>
            </a:r>
            <a:r>
              <a:rPr lang="en-US" altLang="ko-KR" dirty="0"/>
              <a:t>, </a:t>
            </a:r>
            <a:r>
              <a:rPr lang="ko-KR" altLang="en-US" dirty="0"/>
              <a:t>파형</a:t>
            </a:r>
            <a:r>
              <a:rPr lang="en-US" altLang="ko-KR" dirty="0"/>
              <a:t>, PWM </a:t>
            </a:r>
            <a:r>
              <a:rPr lang="ko-KR" altLang="en-US" dirty="0" err="1"/>
              <a:t>듀티</a:t>
            </a:r>
            <a:r>
              <a:rPr lang="ko-KR" altLang="en-US" dirty="0"/>
              <a:t> 사이클 조절 등을 구현 함</a:t>
            </a:r>
            <a:r>
              <a:rPr lang="en-US" altLang="ko-KR" dirty="0"/>
              <a:t>!!!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168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DB892B3E-B2C9-4ABA-3F1D-CD658C4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DAE6-4CE3-4469-9D6A-F539882A399C}" type="datetime1">
              <a:rPr lang="ko-KR" altLang="en-US" smtClean="0"/>
              <a:t>2025-02-13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AB071787-BEA6-876C-E4BF-4F7DA248C8F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C0041CF3-1C40-1D36-FCE7-B0C1B7E6D2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45668" y="6462865"/>
            <a:ext cx="2743200" cy="365125"/>
          </a:xfrm>
        </p:spPr>
        <p:txBody>
          <a:bodyPr/>
          <a:lstStyle/>
          <a:p>
            <a:fld id="{0460C473-5043-4A0C-BA50-E7CF4923C0AF}" type="datetime1">
              <a:rPr lang="ko-KR" altLang="en-US" smtClean="0"/>
              <a:t>2025-02-13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AB5AB4-9652-19D9-0752-DD330A0A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474C-7253-486D-AE50-733ADFB5D683}" type="datetimeFigureOut">
              <a:rPr lang="ko-KR" altLang="en-US" smtClean="0"/>
              <a:t>2025-02-13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25" y="346271"/>
            <a:ext cx="1557011" cy="334766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A0B132A-0C32-2FCA-B554-244CF063F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66FE-BDE3-468C-B421-746EC827A4EE}" type="datetime1">
              <a:rPr lang="ko-KR" altLang="en-US" smtClean="0"/>
              <a:t>2025-02-13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B2E01-A2B7-5C5D-BF5D-AF835340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4B40B-F232-F9E7-9301-D65096B38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시리얼모니터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67E9A95-725C-E30C-0974-E695AB43B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096" y="1549839"/>
            <a:ext cx="4603198" cy="417851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44F110-0F2F-8AAF-1DCF-5EB0FD09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399707-826F-F114-CB76-E97128C2E7F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97E2BB3-B7D0-708F-3426-626CD7468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967" y="1572065"/>
            <a:ext cx="4515082" cy="4134062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A3F6B111-1420-33F4-B9AE-1CDEE9659439}"/>
              </a:ext>
            </a:extLst>
          </p:cNvPr>
          <p:cNvSpPr/>
          <p:nvPr/>
        </p:nvSpPr>
        <p:spPr>
          <a:xfrm>
            <a:off x="5092178" y="2005695"/>
            <a:ext cx="282462" cy="30062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1EE935-70B2-C391-13BC-E2A945942653}"/>
              </a:ext>
            </a:extLst>
          </p:cNvPr>
          <p:cNvSpPr txBox="1"/>
          <p:nvPr/>
        </p:nvSpPr>
        <p:spPr>
          <a:xfrm>
            <a:off x="4800445" y="1305300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클릭</a:t>
            </a:r>
            <a:r>
              <a:rPr lang="en-US" altLang="ko-KR" dirty="0">
                <a:solidFill>
                  <a:schemeClr val="accent2"/>
                </a:solidFill>
              </a:rPr>
              <a:t>!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A9087C-449D-7727-9A77-F8C36A94FAAE}"/>
              </a:ext>
            </a:extLst>
          </p:cNvPr>
          <p:cNvSpPr txBox="1"/>
          <p:nvPr/>
        </p:nvSpPr>
        <p:spPr>
          <a:xfrm>
            <a:off x="7030720" y="4662929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시리얼모니터 확인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!</a:t>
            </a:r>
            <a:endParaRPr lang="ko-KR" altLang="en-US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848D813-4D3D-369E-D9DE-3648BED6E784}"/>
              </a:ext>
            </a:extLst>
          </p:cNvPr>
          <p:cNvCxnSpPr>
            <a:stCxn id="11" idx="2"/>
          </p:cNvCxnSpPr>
          <p:nvPr/>
        </p:nvCxnSpPr>
        <p:spPr>
          <a:xfrm>
            <a:off x="5161281" y="1674632"/>
            <a:ext cx="72128" cy="26084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CB31A4-6121-19BF-DEDA-42D5061A4BF6}"/>
              </a:ext>
            </a:extLst>
          </p:cNvPr>
          <p:cNvSpPr/>
          <p:nvPr/>
        </p:nvSpPr>
        <p:spPr>
          <a:xfrm>
            <a:off x="6710680" y="3992880"/>
            <a:ext cx="4109720" cy="155448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023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742E5-8875-FA43-DFFD-1DE28591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시리얼모니터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54D2BB-52C7-35B2-3923-E620277DC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482" y="4855335"/>
            <a:ext cx="10515600" cy="1250793"/>
          </a:xfrm>
        </p:spPr>
        <p:txBody>
          <a:bodyPr/>
          <a:lstStyle/>
          <a:p>
            <a:r>
              <a:rPr lang="en-US" altLang="ko-KR" dirty="0" err="1"/>
              <a:t>Serial.begin</a:t>
            </a:r>
            <a:r>
              <a:rPr lang="en-US" altLang="ko-KR" dirty="0"/>
              <a:t>(</a:t>
            </a:r>
            <a:r>
              <a:rPr lang="ko-KR" altLang="en-US" dirty="0" err="1"/>
              <a:t>보트레이트</a:t>
            </a:r>
            <a:r>
              <a:rPr lang="en-US" altLang="ko-KR" dirty="0"/>
              <a:t>);</a:t>
            </a:r>
          </a:p>
          <a:p>
            <a:r>
              <a:rPr lang="en-US" altLang="ko-KR" dirty="0" err="1"/>
              <a:t>Serial.println</a:t>
            </a:r>
            <a:r>
              <a:rPr lang="en-US" altLang="ko-KR" dirty="0"/>
              <a:t>(</a:t>
            </a:r>
            <a:r>
              <a:rPr lang="ko-KR" altLang="en-US" dirty="0"/>
              <a:t>내용</a:t>
            </a:r>
            <a:r>
              <a:rPr lang="en-US" altLang="ko-KR" dirty="0"/>
              <a:t>);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B7E455-E411-EE22-AF43-7D033421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752475-A35B-2EA8-E7F0-42ECB98A260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94B48D-D68F-3BDA-D4DF-2C2000941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82" y="1549839"/>
            <a:ext cx="4434771" cy="24039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9F1C199-4F67-E945-F5F6-8269AA758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759" y="1812245"/>
            <a:ext cx="4556323" cy="187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5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A9864-D97B-5BAD-6CDF-B35DC189B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3B948-00E7-5D06-177F-AB850BF60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시리얼모니터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1FACE2-7539-795F-84C2-2CBD0378A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482" y="4855335"/>
            <a:ext cx="10515600" cy="1250793"/>
          </a:xfrm>
        </p:spPr>
        <p:txBody>
          <a:bodyPr/>
          <a:lstStyle/>
          <a:p>
            <a:r>
              <a:rPr lang="en-US" altLang="ko-KR" dirty="0" err="1"/>
              <a:t>Serial.available</a:t>
            </a:r>
            <a:r>
              <a:rPr lang="en-US" altLang="ko-KR" dirty="0"/>
              <a:t>(); </a:t>
            </a:r>
            <a:r>
              <a:rPr lang="ko-KR" altLang="en-US" dirty="0"/>
              <a:t>시리얼 모니터에 </a:t>
            </a:r>
            <a:r>
              <a:rPr lang="ko-KR" altLang="en-US" dirty="0" err="1"/>
              <a:t>입력값이</a:t>
            </a:r>
            <a:r>
              <a:rPr lang="ko-KR" altLang="en-US" dirty="0"/>
              <a:t> </a:t>
            </a:r>
            <a:r>
              <a:rPr lang="ko-KR" altLang="en-US" dirty="0" err="1"/>
              <a:t>있을시</a:t>
            </a:r>
            <a:r>
              <a:rPr lang="ko-KR" altLang="en-US" dirty="0"/>
              <a:t> 동작</a:t>
            </a:r>
            <a:r>
              <a:rPr lang="en-US" altLang="ko-KR" dirty="0"/>
              <a:t>!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1BEE00-2678-A3EA-1616-F2C5F950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9954C4-42F5-9D9D-FDC6-673BECB8F95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1E0AF2D-1875-9E29-BFE0-372F4B25E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81" y="1625351"/>
            <a:ext cx="2425825" cy="31053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2BF8661-3713-4079-A073-CE62F093D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68" y="2208746"/>
            <a:ext cx="2425825" cy="162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85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26966-66BC-8148-2AF5-CD637BFE7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모니터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991831-4177-CB25-1711-D0DA894D8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1. </a:t>
            </a:r>
            <a:r>
              <a:rPr lang="ko-KR" altLang="en-US" dirty="0"/>
              <a:t>시리얼모니터로 문자열을 입력 받고 출력해 </a:t>
            </a:r>
            <a:r>
              <a:rPr lang="ko-KR" altLang="en-US" dirty="0" err="1"/>
              <a:t>보시오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1A4F47-EC29-CED0-2429-D5980181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B9BE68-D001-0A86-FFE0-29BCB6C5F52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9417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D523267-ABB4-AAF0-1B24-3DF409420B00}"/>
              </a:ext>
            </a:extLst>
          </p:cNvPr>
          <p:cNvSpPr/>
          <p:nvPr/>
        </p:nvSpPr>
        <p:spPr>
          <a:xfrm>
            <a:off x="3489223" y="1641437"/>
            <a:ext cx="4824132" cy="3308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C4D3E9-F77C-C137-1B18-E8D67774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 </a:t>
            </a:r>
            <a:r>
              <a:rPr lang="ko-KR" altLang="en-US" dirty="0"/>
              <a:t>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27C93-1B3A-B4EB-3A71-C2D8B0CF5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0" y="5540375"/>
            <a:ext cx="6502400" cy="1015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2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전구의 밝기는 어떻게 조절할까요</a:t>
            </a:r>
            <a:r>
              <a:rPr lang="en-US" altLang="ko-KR" sz="32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?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76479E3-95FC-0B68-C28A-DF38B946E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348" y="1641438"/>
            <a:ext cx="4586007" cy="330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82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9D4AD-5377-94FD-A832-2ECD5EBB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E5837-2BCA-9E68-1923-0E9F51E66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 </a:t>
            </a:r>
            <a:r>
              <a:rPr lang="ko-KR" altLang="en-US" dirty="0"/>
              <a:t>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015E41-F459-C90B-61E5-0292D3F97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11" y="5696389"/>
            <a:ext cx="5556250" cy="606425"/>
          </a:xfrm>
        </p:spPr>
        <p:txBody>
          <a:bodyPr/>
          <a:lstStyle/>
          <a:p>
            <a:r>
              <a:rPr lang="en-US" altLang="ko-KR" dirty="0"/>
              <a:t>PWM(Pulse</a:t>
            </a:r>
            <a:r>
              <a:rPr lang="ko-KR" altLang="en-US" dirty="0"/>
              <a:t> </a:t>
            </a:r>
            <a:r>
              <a:rPr lang="en-US" altLang="ko-KR" dirty="0"/>
              <a:t>Width</a:t>
            </a:r>
            <a:r>
              <a:rPr lang="ko-KR" altLang="en-US" dirty="0"/>
              <a:t> </a:t>
            </a:r>
            <a:r>
              <a:rPr lang="en-US" altLang="ko-KR" dirty="0"/>
              <a:t>Modulation)</a:t>
            </a:r>
          </a:p>
        </p:txBody>
      </p:sp>
      <p:pic>
        <p:nvPicPr>
          <p:cNvPr id="2050" name="Picture 2" descr="Pulse Width Modulation - SparkFun Learn">
            <a:extLst>
              <a:ext uri="{FF2B5EF4-FFF2-40B4-BE49-F238E27FC236}">
                <a16:creationId xmlns:a16="http://schemas.microsoft.com/office/drawing/2014/main" id="{3A231221-7E12-98C2-9297-0D9897D21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11" y="1482719"/>
            <a:ext cx="6191250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저소음 DC모터 MB4260-2453 42파이 DC24V 5300rpm 18W">
            <a:extLst>
              <a:ext uri="{FF2B5EF4-FFF2-40B4-BE49-F238E27FC236}">
                <a16:creationId xmlns:a16="http://schemas.microsoft.com/office/drawing/2014/main" id="{4687C62D-ADE8-651D-D3CC-8A4191184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612" y="1126639"/>
            <a:ext cx="2618196" cy="261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anoleaf Essentials Matter A19 Smart Bulb - Thread &amp; Matter-Enabled Smart  LED Light Bulb - White and Color (3 Pack) - Apple (KR)">
            <a:extLst>
              <a:ext uri="{FF2B5EF4-FFF2-40B4-BE49-F238E27FC236}">
                <a16:creationId xmlns:a16="http://schemas.microsoft.com/office/drawing/2014/main" id="{B863FB6B-0DE5-4EFE-B916-2F9C6B576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155" y="3912913"/>
            <a:ext cx="2189830" cy="218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92166D19-4DE7-B137-59E4-C52221CDE7AD}"/>
              </a:ext>
            </a:extLst>
          </p:cNvPr>
          <p:cNvSpPr/>
          <p:nvPr/>
        </p:nvSpPr>
        <p:spPr>
          <a:xfrm rot="19825445">
            <a:off x="7652928" y="2952156"/>
            <a:ext cx="766987" cy="5633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DD5E46C3-3C99-9F68-4FD0-D47A674EAE0A}"/>
              </a:ext>
            </a:extLst>
          </p:cNvPr>
          <p:cNvSpPr/>
          <p:nvPr/>
        </p:nvSpPr>
        <p:spPr>
          <a:xfrm rot="1984472">
            <a:off x="7653395" y="4105131"/>
            <a:ext cx="766987" cy="5633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3B9D739-1BC7-3DDA-F924-E121E9970CD8}"/>
              </a:ext>
            </a:extLst>
          </p:cNvPr>
          <p:cNvCxnSpPr/>
          <p:nvPr/>
        </p:nvCxnSpPr>
        <p:spPr>
          <a:xfrm>
            <a:off x="755650" y="1952625"/>
            <a:ext cx="606651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FA0FA7F-70FC-1593-A507-005B12A56FA5}"/>
              </a:ext>
            </a:extLst>
          </p:cNvPr>
          <p:cNvSpPr txBox="1"/>
          <p:nvPr/>
        </p:nvSpPr>
        <p:spPr>
          <a:xfrm>
            <a:off x="6860261" y="17622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전압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47DEB9-C52C-600C-32ED-FE630627F964}"/>
              </a:ext>
            </a:extLst>
          </p:cNvPr>
          <p:cNvSpPr txBox="1"/>
          <p:nvPr/>
        </p:nvSpPr>
        <p:spPr>
          <a:xfrm>
            <a:off x="1672239" y="25908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단위시간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527D772-A35D-3105-8E31-C5DB5FE920D1}"/>
              </a:ext>
            </a:extLst>
          </p:cNvPr>
          <p:cNvCxnSpPr/>
          <p:nvPr/>
        </p:nvCxnSpPr>
        <p:spPr>
          <a:xfrm>
            <a:off x="1358900" y="2613541"/>
            <a:ext cx="0" cy="46355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797961-25F8-CC00-B99A-DD2B6527850B}"/>
              </a:ext>
            </a:extLst>
          </p:cNvPr>
          <p:cNvCxnSpPr/>
          <p:nvPr/>
        </p:nvCxnSpPr>
        <p:spPr>
          <a:xfrm>
            <a:off x="3130550" y="2613541"/>
            <a:ext cx="0" cy="46355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A701F48-5C3D-22FF-A151-34CA1DEE7706}"/>
              </a:ext>
            </a:extLst>
          </p:cNvPr>
          <p:cNvCxnSpPr>
            <a:cxnSpLocks/>
          </p:cNvCxnSpPr>
          <p:nvPr/>
        </p:nvCxnSpPr>
        <p:spPr>
          <a:xfrm>
            <a:off x="1358900" y="2936875"/>
            <a:ext cx="1778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D1601CD-5FCC-2A25-B3B6-22CB1DCD3B70}"/>
              </a:ext>
            </a:extLst>
          </p:cNvPr>
          <p:cNvCxnSpPr/>
          <p:nvPr/>
        </p:nvCxnSpPr>
        <p:spPr>
          <a:xfrm>
            <a:off x="731380" y="2264287"/>
            <a:ext cx="6066511" cy="0"/>
          </a:xfrm>
          <a:prstGeom prst="line">
            <a:avLst/>
          </a:prstGeom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048987E-3CB5-C834-9017-3DCA530CEDF1}"/>
              </a:ext>
            </a:extLst>
          </p:cNvPr>
          <p:cNvSpPr txBox="1"/>
          <p:nvPr/>
        </p:nvSpPr>
        <p:spPr>
          <a:xfrm>
            <a:off x="6823053" y="21316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전류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4EB73E-BDD5-9F2F-905D-C43808129D98}"/>
              </a:ext>
            </a:extLst>
          </p:cNvPr>
          <p:cNvSpPr txBox="1"/>
          <p:nvPr/>
        </p:nvSpPr>
        <p:spPr>
          <a:xfrm>
            <a:off x="6847227" y="249528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50%</a:t>
            </a:r>
            <a:endParaRPr lang="ko-KR" alt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A148C4-D4CA-5D22-BAD6-496E6565C7FC}"/>
              </a:ext>
            </a:extLst>
          </p:cNvPr>
          <p:cNvSpPr txBox="1"/>
          <p:nvPr/>
        </p:nvSpPr>
        <p:spPr>
          <a:xfrm>
            <a:off x="6860258" y="346491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75%</a:t>
            </a:r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28305-AF2B-8D74-D192-377D8C7E5AF7}"/>
              </a:ext>
            </a:extLst>
          </p:cNvPr>
          <p:cNvSpPr txBox="1"/>
          <p:nvPr/>
        </p:nvSpPr>
        <p:spPr>
          <a:xfrm>
            <a:off x="6894092" y="511904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25%</a:t>
            </a:r>
            <a:endParaRPr lang="ko-KR" altLang="en-US" b="1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6F2163D-A711-45E9-1DA1-8472F565A901}"/>
              </a:ext>
            </a:extLst>
          </p:cNvPr>
          <p:cNvCxnSpPr/>
          <p:nvPr/>
        </p:nvCxnSpPr>
        <p:spPr>
          <a:xfrm>
            <a:off x="731379" y="3631047"/>
            <a:ext cx="6066511" cy="0"/>
          </a:xfrm>
          <a:prstGeom prst="line">
            <a:avLst/>
          </a:prstGeom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3710690-6735-277C-EF44-205A5AE15210}"/>
              </a:ext>
            </a:extLst>
          </p:cNvPr>
          <p:cNvCxnSpPr/>
          <p:nvPr/>
        </p:nvCxnSpPr>
        <p:spPr>
          <a:xfrm>
            <a:off x="731378" y="5303715"/>
            <a:ext cx="6066511" cy="0"/>
          </a:xfrm>
          <a:prstGeom prst="line">
            <a:avLst/>
          </a:prstGeom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74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5F70C-768F-77F5-1FCE-5AC9E3B3C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 </a:t>
            </a:r>
            <a:r>
              <a:rPr lang="ko-KR" altLang="en-US" dirty="0"/>
              <a:t>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4E12F9-FD49-AFD2-DE62-5F1382F67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가능한 이유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-</a:t>
            </a:r>
            <a:r>
              <a:rPr lang="ko-KR" altLang="en-US" dirty="0"/>
              <a:t>단위시간내 전압의 총량을 조절하여 결국</a:t>
            </a:r>
            <a:r>
              <a:rPr lang="en-US" altLang="ko-KR" dirty="0"/>
              <a:t>, </a:t>
            </a:r>
            <a:r>
              <a:rPr lang="ko-KR" altLang="en-US" dirty="0"/>
              <a:t>총 출력을 조절하는 원리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모터는 단위시간내</a:t>
            </a:r>
            <a:r>
              <a:rPr lang="en-US" altLang="ko-KR" dirty="0"/>
              <a:t>(</a:t>
            </a:r>
            <a:r>
              <a:rPr lang="ko-KR" altLang="en-US" dirty="0"/>
              <a:t>수십</a:t>
            </a:r>
            <a:r>
              <a:rPr lang="en-US" altLang="ko-KR" dirty="0" err="1"/>
              <a:t>KHz</a:t>
            </a:r>
            <a:r>
              <a:rPr lang="en-US" altLang="ko-KR" dirty="0"/>
              <a:t> </a:t>
            </a:r>
            <a:r>
              <a:rPr lang="ko-KR" altLang="en-US" dirty="0"/>
              <a:t>내</a:t>
            </a:r>
            <a:r>
              <a:rPr lang="en-US" altLang="ko-KR" dirty="0"/>
              <a:t>) </a:t>
            </a:r>
            <a:r>
              <a:rPr lang="ko-KR" altLang="en-US" dirty="0"/>
              <a:t>변화하는 전압에 모터의 기계적장치가 즉각 반응하지 못하는 것을 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LED</a:t>
            </a:r>
            <a:r>
              <a:rPr lang="ko-KR" altLang="en-US" dirty="0"/>
              <a:t>는 인간의 눈으로 인지할 수 있는 프레임 속도</a:t>
            </a:r>
            <a:r>
              <a:rPr lang="en-US" altLang="ko-KR" dirty="0"/>
              <a:t>(</a:t>
            </a:r>
            <a:r>
              <a:rPr lang="ko-KR" altLang="en-US" dirty="0"/>
              <a:t>최대 </a:t>
            </a:r>
            <a:r>
              <a:rPr lang="en-US" altLang="ko-KR" dirty="0"/>
              <a:t>100Hz)</a:t>
            </a:r>
            <a:r>
              <a:rPr lang="ko-KR" altLang="en-US" dirty="0"/>
              <a:t>보다 더 빠르게 </a:t>
            </a:r>
            <a:r>
              <a:rPr lang="en-US" altLang="ko-KR" dirty="0"/>
              <a:t>ON/OFF </a:t>
            </a:r>
            <a:r>
              <a:rPr lang="ko-KR" altLang="en-US" dirty="0"/>
              <a:t>되기 때문에 인간의 눈에는 밝기가 조절되어 보이는 것을 이용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431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3C8C6-7F7B-7024-B347-0EB12BC1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밝기 제어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16AD21D-B0D5-D7C1-484F-55D8B5C21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9503" y="1679575"/>
            <a:ext cx="4206294" cy="4351338"/>
          </a:xfrm>
        </p:spPr>
      </p:pic>
    </p:spTree>
    <p:extLst>
      <p:ext uri="{BB962C8B-B14F-4D97-AF65-F5344CB8AC3E}">
        <p14:creationId xmlns:p14="http://schemas.microsoft.com/office/powerpoint/2010/main" val="99078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33FDA0-F8A3-BF70-6F78-93B71348E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밝기 제어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C6EE84-FB7C-3A99-09E5-FB9B529F3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2946400" cy="3775758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CC022CD-8993-9AFD-615D-6B07D1DF106F}"/>
              </a:ext>
            </a:extLst>
          </p:cNvPr>
          <p:cNvSpPr txBox="1">
            <a:spLocks/>
          </p:cNvSpPr>
          <p:nvPr/>
        </p:nvSpPr>
        <p:spPr>
          <a:xfrm>
            <a:off x="4857342" y="5159489"/>
            <a:ext cx="5213757" cy="1333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analogWrite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핀번호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);</a:t>
            </a:r>
          </a:p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핀번호는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~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 있는 핀만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!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" name="내용 개체 틀 6">
            <a:extLst>
              <a:ext uri="{FF2B5EF4-FFF2-40B4-BE49-F238E27FC236}">
                <a16:creationId xmlns:a16="http://schemas.microsoft.com/office/drawing/2014/main" id="{DAABC60E-D72A-FEBD-934F-0093D6F079DE}"/>
              </a:ext>
            </a:extLst>
          </p:cNvPr>
          <p:cNvSpPr txBox="1">
            <a:spLocks/>
          </p:cNvSpPr>
          <p:nvPr/>
        </p:nvSpPr>
        <p:spPr>
          <a:xfrm>
            <a:off x="4043487" y="4342187"/>
            <a:ext cx="4905125" cy="34855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- 0~255</a:t>
            </a:r>
            <a:r>
              <a:rPr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까지 밝기를 설정할 수 있음</a:t>
            </a:r>
            <a:endParaRPr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8760149-17D0-D845-82C3-5B081B94147B}"/>
              </a:ext>
            </a:extLst>
          </p:cNvPr>
          <p:cNvCxnSpPr/>
          <p:nvPr/>
        </p:nvCxnSpPr>
        <p:spPr>
          <a:xfrm flipV="1">
            <a:off x="3549650" y="4631057"/>
            <a:ext cx="511608" cy="30924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609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516A-AA52-ECF3-0A6D-9ED8994A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2DB80-9C04-66AC-476D-ED6F15E0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 </a:t>
            </a:r>
            <a:r>
              <a:rPr lang="ko-KR" altLang="en-US" dirty="0"/>
              <a:t>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F7D49-22A7-B97B-D1B5-BFDA11568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300" y="1690688"/>
            <a:ext cx="6388100" cy="4271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 err="1"/>
              <a:t>아두이노에서는</a:t>
            </a:r>
            <a:r>
              <a:rPr lang="ko-KR" altLang="en-US" dirty="0"/>
              <a:t> 단순히 </a:t>
            </a:r>
            <a:r>
              <a:rPr lang="en-US" altLang="ko-KR" dirty="0"/>
              <a:t>PWM</a:t>
            </a:r>
            <a:r>
              <a:rPr lang="ko-KR" altLang="en-US" dirty="0"/>
              <a:t>으로 표현하지만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 err="1"/>
              <a:t>아두이노의</a:t>
            </a:r>
            <a:r>
              <a:rPr lang="ko-KR" altLang="en-US" dirty="0"/>
              <a:t> 메인 </a:t>
            </a:r>
            <a:r>
              <a:rPr lang="en-US" altLang="ko-KR" dirty="0"/>
              <a:t>IC</a:t>
            </a:r>
            <a:r>
              <a:rPr lang="ko-KR" altLang="en-US" dirty="0"/>
              <a:t>인 </a:t>
            </a:r>
            <a:r>
              <a:rPr lang="en-US" altLang="ko-KR" dirty="0" err="1"/>
              <a:t>ATmega</a:t>
            </a:r>
            <a:r>
              <a:rPr lang="en-US" altLang="ko-KR" dirty="0"/>
              <a:t> </a:t>
            </a:r>
            <a:r>
              <a:rPr lang="ko-KR" altLang="en-US" dirty="0"/>
              <a:t>내부에서는 타이머</a:t>
            </a:r>
            <a:r>
              <a:rPr lang="en-US" altLang="ko-KR" dirty="0"/>
              <a:t>/</a:t>
            </a:r>
            <a:r>
              <a:rPr lang="ko-KR" altLang="en-US" dirty="0"/>
              <a:t>카운터 레지스터를 이용해서</a:t>
            </a:r>
            <a:r>
              <a:rPr lang="en-US" altLang="ko-KR" dirty="0"/>
              <a:t> </a:t>
            </a:r>
            <a:r>
              <a:rPr lang="en-US" altLang="ko-KR" dirty="0" err="1"/>
              <a:t>pwm</a:t>
            </a:r>
            <a:r>
              <a:rPr lang="en-US" altLang="ko-KR" dirty="0"/>
              <a:t> </a:t>
            </a:r>
            <a:r>
              <a:rPr lang="ko-KR" altLang="en-US" dirty="0"/>
              <a:t>기능을 구현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FCB7B41-9CB2-23AC-61E9-2DAD3E7D6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88" y="1138573"/>
            <a:ext cx="4549834" cy="517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65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47E4F-4B84-8804-E88E-D26DB644C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63EF5A-1E50-0C12-A281-0721C812F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EDA0F7-02EB-788F-7C39-D3ABE3BEC7A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0484BE-5CAF-26D3-3E9D-B2739DFE10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495" y="1678109"/>
            <a:ext cx="2418496" cy="241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FE7A793-C19E-6752-6CF1-F4D8A3B1A862}"/>
              </a:ext>
            </a:extLst>
          </p:cNvPr>
          <p:cNvSpPr txBox="1">
            <a:spLocks/>
          </p:cNvSpPr>
          <p:nvPr/>
        </p:nvSpPr>
        <p:spPr>
          <a:xfrm>
            <a:off x="2321494" y="4660775"/>
            <a:ext cx="7549011" cy="2418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능동부저와</a:t>
            </a:r>
            <a:r>
              <a:rPr lang="ko-KR" altLang="en-US" dirty="0"/>
              <a:t> </a:t>
            </a:r>
            <a:r>
              <a:rPr lang="ko-KR" altLang="en-US" dirty="0" err="1"/>
              <a:t>수동부저로</a:t>
            </a:r>
            <a:r>
              <a:rPr lang="ko-KR" altLang="en-US" dirty="0"/>
              <a:t> 나뉨</a:t>
            </a:r>
            <a:r>
              <a:rPr lang="en-US" altLang="ko-KR" dirty="0"/>
              <a:t>!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능동부저는</a:t>
            </a:r>
            <a:r>
              <a:rPr lang="ko-KR" altLang="en-US" dirty="0"/>
              <a:t> 헤르츠 제어가능</a:t>
            </a:r>
            <a:r>
              <a:rPr lang="en-US" altLang="ko-KR" dirty="0"/>
              <a:t>! </a:t>
            </a:r>
            <a:r>
              <a:rPr lang="ko-KR" altLang="en-US" dirty="0" err="1"/>
              <a:t>수동부저는</a:t>
            </a:r>
            <a:r>
              <a:rPr lang="ko-KR" altLang="en-US" dirty="0"/>
              <a:t> 단순 </a:t>
            </a:r>
            <a:r>
              <a:rPr lang="ko-KR" altLang="en-US" dirty="0" err="1"/>
              <a:t>비프음</a:t>
            </a:r>
            <a:r>
              <a:rPr lang="en-US" altLang="ko-KR" dirty="0"/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9897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11F6-8333-9BAE-13AB-406835F8B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76463-F03D-DA32-AF41-966805ED2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부저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7039CA-E4D3-F20E-3F8C-D1A93DCF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93D7F9-8E95-3FDE-5F53-8E6B3813D3D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303D4A-AB5B-EFF6-044D-5D7883D61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817" y="1985558"/>
            <a:ext cx="2848168" cy="3336963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5B7C14A-1DAE-05B2-8F2B-DB510E5D0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7321" y="2071636"/>
            <a:ext cx="7549011" cy="333696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>
                <a:solidFill>
                  <a:schemeClr val="accent2"/>
                </a:solidFill>
              </a:rPr>
              <a:t>tone</a:t>
            </a:r>
            <a:r>
              <a:rPr lang="en-US" altLang="ko-KR" dirty="0"/>
              <a:t>(</a:t>
            </a:r>
            <a:r>
              <a:rPr lang="ko-KR" altLang="en-US" dirty="0"/>
              <a:t>출력할 핀</a:t>
            </a:r>
            <a:r>
              <a:rPr lang="en-US" altLang="ko-KR" dirty="0"/>
              <a:t>,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헤르츠</a:t>
            </a:r>
            <a:r>
              <a:rPr lang="en-US" altLang="ko-KR" dirty="0"/>
              <a:t>);</a:t>
            </a:r>
          </a:p>
          <a:p>
            <a:pPr marL="0" indent="0">
              <a:buNone/>
            </a:pPr>
            <a:r>
              <a:rPr lang="en-US" altLang="ko-KR" dirty="0"/>
              <a:t>//</a:t>
            </a:r>
            <a:r>
              <a:rPr lang="ko-KR" altLang="en-US" dirty="0"/>
              <a:t>해당 핀에 연결된 </a:t>
            </a:r>
            <a:r>
              <a:rPr lang="ko-KR" altLang="en-US" dirty="0" err="1"/>
              <a:t>부저를</a:t>
            </a:r>
            <a:r>
              <a:rPr lang="ko-KR" altLang="en-US" dirty="0"/>
              <a:t> 설정한 진동수 만큼 작동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>
                <a:solidFill>
                  <a:schemeClr val="accent2"/>
                </a:solidFill>
              </a:rPr>
              <a:t>noTone</a:t>
            </a:r>
            <a:r>
              <a:rPr lang="en-US" altLang="ko-KR" dirty="0"/>
              <a:t>(</a:t>
            </a:r>
            <a:r>
              <a:rPr lang="ko-KR" altLang="en-US" dirty="0"/>
              <a:t>출력할 핀</a:t>
            </a:r>
            <a:r>
              <a:rPr lang="en-US" altLang="ko-KR" dirty="0"/>
              <a:t>);</a:t>
            </a:r>
          </a:p>
          <a:p>
            <a:pPr marL="0" indent="0">
              <a:buNone/>
            </a:pPr>
            <a:r>
              <a:rPr lang="en-US" altLang="ko-KR" dirty="0"/>
              <a:t>//</a:t>
            </a:r>
            <a:r>
              <a:rPr lang="ko-KR" altLang="en-US" dirty="0"/>
              <a:t>해당 </a:t>
            </a:r>
            <a:r>
              <a:rPr lang="ko-KR" altLang="en-US" dirty="0" err="1"/>
              <a:t>출력핀에</a:t>
            </a:r>
            <a:r>
              <a:rPr lang="ko-KR" altLang="en-US" dirty="0"/>
              <a:t> 연결된 </a:t>
            </a:r>
            <a:r>
              <a:rPr lang="ko-KR" altLang="en-US" dirty="0" err="1"/>
              <a:t>부저</a:t>
            </a:r>
            <a:r>
              <a:rPr lang="ko-KR" altLang="en-US" dirty="0"/>
              <a:t> 정지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4290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0408E-FA78-A0D4-E573-BE3F011E4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D2EB3-0D0C-1FAA-1631-2728C0B0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pwm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963A25-75B4-7A12-E26A-93CA8C8AF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24601-696E-296E-A830-085793CA407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8B68947-689C-2731-61A7-E5BC505E4F51}"/>
              </a:ext>
            </a:extLst>
          </p:cNvPr>
          <p:cNvSpPr txBox="1">
            <a:spLocks/>
          </p:cNvSpPr>
          <p:nvPr/>
        </p:nvSpPr>
        <p:spPr>
          <a:xfrm>
            <a:off x="838200" y="1325563"/>
            <a:ext cx="10515600" cy="485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실습</a:t>
            </a:r>
            <a:r>
              <a:rPr lang="en-US" altLang="ko-KR" dirty="0"/>
              <a:t>1. PWM </a:t>
            </a:r>
            <a:r>
              <a:rPr lang="ko-KR" altLang="en-US" dirty="0"/>
              <a:t>기능을 이용하여 </a:t>
            </a:r>
            <a:r>
              <a:rPr lang="en-US" altLang="ko-KR" dirty="0"/>
              <a:t>LED</a:t>
            </a:r>
            <a:r>
              <a:rPr lang="ko-KR" altLang="en-US" dirty="0"/>
              <a:t>의 밝기를 어두워졌다</a:t>
            </a:r>
            <a:r>
              <a:rPr lang="en-US" altLang="ko-KR" dirty="0"/>
              <a:t>(</a:t>
            </a:r>
            <a:r>
              <a:rPr lang="ko-KR" altLang="en-US" dirty="0"/>
              <a:t>최소값</a:t>
            </a:r>
            <a:r>
              <a:rPr lang="en-US" altLang="ko-KR" dirty="0"/>
              <a:t>)</a:t>
            </a:r>
            <a:r>
              <a:rPr lang="ko-KR" altLang="en-US" dirty="0"/>
              <a:t>가 밝아졌다</a:t>
            </a:r>
            <a:r>
              <a:rPr lang="en-US" altLang="ko-KR" dirty="0"/>
              <a:t>(</a:t>
            </a:r>
            <a:r>
              <a:rPr lang="ko-KR" altLang="en-US" dirty="0"/>
              <a:t>최대값</a:t>
            </a:r>
            <a:r>
              <a:rPr lang="en-US" altLang="ko-KR" dirty="0"/>
              <a:t>)</a:t>
            </a:r>
            <a:r>
              <a:rPr lang="ko-KR" altLang="en-US" dirty="0"/>
              <a:t>가 다시 </a:t>
            </a:r>
            <a:r>
              <a:rPr lang="ko-KR" altLang="en-US" dirty="0" err="1"/>
              <a:t>어두어짐을</a:t>
            </a:r>
            <a:r>
              <a:rPr lang="ko-KR" altLang="en-US" dirty="0"/>
              <a:t> 반복하게 구현해 </a:t>
            </a:r>
            <a:r>
              <a:rPr lang="ko-KR" altLang="en-US" dirty="0" err="1"/>
              <a:t>보시오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A17F7B-A94D-1EED-339D-9BB26B174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565" y="3690446"/>
            <a:ext cx="895396" cy="76838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59E1FD2-A3F6-B252-C505-D984EE501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873" y="3670267"/>
            <a:ext cx="895395" cy="8087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F4C068-2CC1-8397-74B5-C8B966B96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904" y="3682469"/>
            <a:ext cx="895396" cy="7683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BEE467-91BB-58E2-0894-B36AB940F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490" y="3682469"/>
            <a:ext cx="895396" cy="851215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9D3FFAE-B270-3CFA-AE42-F34A43FA6783}"/>
              </a:ext>
            </a:extLst>
          </p:cNvPr>
          <p:cNvSpPr/>
          <p:nvPr/>
        </p:nvSpPr>
        <p:spPr>
          <a:xfrm>
            <a:off x="4118672" y="3941293"/>
            <a:ext cx="325120" cy="3454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3CB5D46-AE5F-F332-F151-88C53BBA2FB5}"/>
              </a:ext>
            </a:extLst>
          </p:cNvPr>
          <p:cNvSpPr/>
          <p:nvPr/>
        </p:nvSpPr>
        <p:spPr>
          <a:xfrm>
            <a:off x="5559074" y="3943374"/>
            <a:ext cx="325120" cy="3454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49914C1-E98D-21F2-A41D-77B8CCBD3CE7}"/>
              </a:ext>
            </a:extLst>
          </p:cNvPr>
          <p:cNvSpPr/>
          <p:nvPr/>
        </p:nvSpPr>
        <p:spPr>
          <a:xfrm>
            <a:off x="7122850" y="3943374"/>
            <a:ext cx="325120" cy="3454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965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D0255-06A9-79D1-6564-B851B741C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pwm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CA050-49E4-735D-E36A-C4BFA132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6C5CE9-3E30-C5DE-A272-3498E5835E8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BA5113-3EE1-5E18-3171-333CD7B68816}"/>
              </a:ext>
            </a:extLst>
          </p:cNvPr>
          <p:cNvSpPr txBox="1">
            <a:spLocks/>
          </p:cNvSpPr>
          <p:nvPr/>
        </p:nvSpPr>
        <p:spPr>
          <a:xfrm>
            <a:off x="838200" y="1325563"/>
            <a:ext cx="10515600" cy="485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실습</a:t>
            </a:r>
            <a:r>
              <a:rPr lang="en-US" altLang="ko-KR" dirty="0"/>
              <a:t>2. </a:t>
            </a:r>
            <a:r>
              <a:rPr lang="ko-KR" altLang="en-US" dirty="0" err="1"/>
              <a:t>부저에서</a:t>
            </a:r>
            <a:r>
              <a:rPr lang="ko-KR" altLang="en-US" dirty="0"/>
              <a:t> </a:t>
            </a:r>
            <a:r>
              <a:rPr lang="ko-KR" altLang="en-US" dirty="0" err="1"/>
              <a:t>도레미파솔라시도의</a:t>
            </a:r>
            <a:r>
              <a:rPr lang="ko-KR" altLang="en-US" dirty="0"/>
              <a:t> 음을 구분하여 </a:t>
            </a:r>
            <a:r>
              <a:rPr lang="en-US" altLang="ko-KR" dirty="0"/>
              <a:t>‘</a:t>
            </a:r>
            <a:r>
              <a:rPr lang="ko-KR" altLang="en-US" dirty="0" err="1"/>
              <a:t>학교종이땡땡땡</a:t>
            </a:r>
            <a:r>
              <a:rPr lang="en-US" altLang="ko-KR" dirty="0"/>
              <a:t>’</a:t>
            </a:r>
            <a:r>
              <a:rPr lang="ko-KR" altLang="en-US" dirty="0"/>
              <a:t>을 구현해보세요</a:t>
            </a:r>
          </a:p>
        </p:txBody>
      </p:sp>
      <p:pic>
        <p:nvPicPr>
          <p:cNvPr id="8" name="Picture 2" descr="음별 Hz">
            <a:extLst>
              <a:ext uri="{FF2B5EF4-FFF2-40B4-BE49-F238E27FC236}">
                <a16:creationId xmlns:a16="http://schemas.microsoft.com/office/drawing/2014/main" id="{2961073F-AA3E-E0DD-0C99-1DDC5317C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2216193"/>
            <a:ext cx="6896100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380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FAE278-896E-560E-ADA6-8070746D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</a:t>
            </a:r>
            <a:r>
              <a:rPr lang="ko-KR" altLang="en-US" dirty="0"/>
              <a:t> 제어</a:t>
            </a:r>
            <a:r>
              <a:rPr lang="en-US" altLang="ko-KR" dirty="0"/>
              <a:t>(</a:t>
            </a:r>
            <a:r>
              <a:rPr lang="ko-KR" altLang="en-US" dirty="0" err="1"/>
              <a:t>서보모터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2899F9-5257-FBCD-C59B-CCB7133D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714FD8-0B52-AEE0-7D38-A8D92366D5E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82D1071-7176-5754-9C4E-AD7D5F66E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AE4524-D08C-D005-4D5A-FA666E384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589" y="2027461"/>
            <a:ext cx="6375106" cy="303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0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0805-D938-C3FC-51AD-E338E67E3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61323-767B-BA79-B839-4908C68BA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</a:t>
            </a:r>
            <a:r>
              <a:rPr lang="ko-KR" altLang="en-US" dirty="0"/>
              <a:t> 제어</a:t>
            </a:r>
            <a:r>
              <a:rPr lang="en-US" altLang="ko-KR" dirty="0"/>
              <a:t>(</a:t>
            </a:r>
            <a:r>
              <a:rPr lang="ko-KR" altLang="en-US" dirty="0" err="1"/>
              <a:t>서보모터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07FD1B-7F62-5313-2B21-3E04889A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DA7029-B70D-94C1-474C-B5AB2C57C12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1ABA4C7-D7DC-492B-41F8-C9372434D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9288" y="1620806"/>
            <a:ext cx="4934512" cy="2913094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3485819-5AAA-924E-B62D-B9637D833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25563"/>
            <a:ext cx="451789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31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11471-73E3-2A03-84D6-019C4FC72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A1C39-25DC-99D1-2872-1CF091A7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</a:t>
            </a:r>
            <a:r>
              <a:rPr lang="ko-KR" altLang="en-US" dirty="0"/>
              <a:t> 제어</a:t>
            </a:r>
            <a:r>
              <a:rPr lang="en-US" altLang="ko-KR" dirty="0"/>
              <a:t>(</a:t>
            </a:r>
            <a:r>
              <a:rPr lang="ko-KR" altLang="en-US" dirty="0" err="1"/>
              <a:t>서보모터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87CC9C-0631-84C4-FF5D-A8A332404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B6EB04-B2D3-349B-0C2C-768F4B44841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4A6091-B921-BDE1-2236-38DF36E84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55" y="1512411"/>
            <a:ext cx="5149045" cy="383317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21452F5-C682-A3B5-CD9D-A934A7F37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806" y="1512411"/>
            <a:ext cx="3276769" cy="18384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AF446A3-DD3E-F11F-6236-D41935671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805" y="3702388"/>
            <a:ext cx="3276769" cy="193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70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370801-1F41-247C-BE30-8FFD2524A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</a:t>
            </a:r>
            <a:r>
              <a:rPr lang="ko-KR" altLang="en-US" dirty="0"/>
              <a:t> 제어</a:t>
            </a:r>
            <a:r>
              <a:rPr lang="en-US" altLang="ko-KR" dirty="0"/>
              <a:t>(</a:t>
            </a:r>
            <a:r>
              <a:rPr lang="ko-KR" altLang="en-US" dirty="0" err="1"/>
              <a:t>서보모터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9679B10-5D83-22FB-10E8-F56CF924E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611" y="1699189"/>
            <a:ext cx="3245017" cy="467384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6F5160-A902-1E54-1B4D-DC08E72F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8C9529-5705-9000-A060-98269C224C6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2368421-F6CB-37C9-A32F-BF7F9068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327" y="1637313"/>
            <a:ext cx="3107358" cy="443908"/>
          </a:xfrm>
          <a:prstGeom prst="rect">
            <a:avLst/>
          </a:prstGeom>
        </p:spPr>
      </p:pic>
      <p:sp>
        <p:nvSpPr>
          <p:cNvPr id="10" name="내용 개체 틀 6">
            <a:extLst>
              <a:ext uri="{FF2B5EF4-FFF2-40B4-BE49-F238E27FC236}">
                <a16:creationId xmlns:a16="http://schemas.microsoft.com/office/drawing/2014/main" id="{7C74D783-4DF8-61B3-E1FA-1A82AF4B3F53}"/>
              </a:ext>
            </a:extLst>
          </p:cNvPr>
          <p:cNvSpPr txBox="1">
            <a:spLocks/>
          </p:cNvSpPr>
          <p:nvPr/>
        </p:nvSpPr>
        <p:spPr>
          <a:xfrm>
            <a:off x="7678719" y="1600576"/>
            <a:ext cx="4905125" cy="46166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라이브러리 추가</a:t>
            </a:r>
            <a:r>
              <a:rPr lang="en-US" altLang="ko-KR" sz="2000" dirty="0"/>
              <a:t>!</a:t>
            </a:r>
          </a:p>
        </p:txBody>
      </p:sp>
      <p:sp>
        <p:nvSpPr>
          <p:cNvPr id="11" name="내용 개체 틀 6">
            <a:extLst>
              <a:ext uri="{FF2B5EF4-FFF2-40B4-BE49-F238E27FC236}">
                <a16:creationId xmlns:a16="http://schemas.microsoft.com/office/drawing/2014/main" id="{A4584C6A-0DF4-F4E1-FEDA-F208F4371C57}"/>
              </a:ext>
            </a:extLst>
          </p:cNvPr>
          <p:cNvSpPr txBox="1">
            <a:spLocks/>
          </p:cNvSpPr>
          <p:nvPr/>
        </p:nvSpPr>
        <p:spPr>
          <a:xfrm>
            <a:off x="4434777" y="2683267"/>
            <a:ext cx="4905125" cy="30392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None/>
            </a:pPr>
            <a:r>
              <a:rPr lang="en-US" altLang="ko-KR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Servo </a:t>
            </a:r>
            <a:r>
              <a:rPr lang="ko-KR" altLang="en-US" sz="2000" b="0" dirty="0" err="1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서보모터</a:t>
            </a:r>
            <a:r>
              <a:rPr lang="ko-KR" altLang="en-US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en-US" altLang="ko-KR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7</a:t>
            </a:r>
            <a:r>
              <a:rPr lang="ko-KR" altLang="en-US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번 핀에 연결</a:t>
            </a:r>
          </a:p>
        </p:txBody>
      </p:sp>
      <p:sp>
        <p:nvSpPr>
          <p:cNvPr id="12" name="내용 개체 틀 6">
            <a:extLst>
              <a:ext uri="{FF2B5EF4-FFF2-40B4-BE49-F238E27FC236}">
                <a16:creationId xmlns:a16="http://schemas.microsoft.com/office/drawing/2014/main" id="{6EC11F8A-F4D9-6CB5-9EA8-0916A4C823FF}"/>
              </a:ext>
            </a:extLst>
          </p:cNvPr>
          <p:cNvSpPr txBox="1">
            <a:spLocks/>
          </p:cNvSpPr>
          <p:nvPr/>
        </p:nvSpPr>
        <p:spPr>
          <a:xfrm>
            <a:off x="4576776" y="4068406"/>
            <a:ext cx="6203886" cy="61170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None/>
            </a:pPr>
            <a:r>
              <a:rPr lang="en-US" altLang="ko-KR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value</a:t>
            </a:r>
            <a:r>
              <a:rPr lang="ko-KR" altLang="en-US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값의 각도로 회전</a:t>
            </a:r>
            <a:r>
              <a:rPr lang="en-US" altLang="ko-KR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 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altLang="ko-KR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value</a:t>
            </a:r>
            <a:r>
              <a:rPr lang="ko-KR" altLang="en-US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가 </a:t>
            </a:r>
            <a:r>
              <a:rPr lang="en-US" altLang="ko-KR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90</a:t>
            </a:r>
            <a:r>
              <a:rPr lang="ko-KR" altLang="en-US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이라면 </a:t>
            </a:r>
            <a:r>
              <a:rPr lang="en-US" altLang="ko-KR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90</a:t>
            </a:r>
            <a:r>
              <a:rPr lang="ko-KR" altLang="en-US" sz="2000" b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도 회전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849DAA9-2329-2E07-E104-90C7CF215F14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3073209" y="2112978"/>
            <a:ext cx="1361568" cy="722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7136141-9870-99FD-83EC-3B6F7A3493BD}"/>
              </a:ext>
            </a:extLst>
          </p:cNvPr>
          <p:cNvCxnSpPr/>
          <p:nvPr/>
        </p:nvCxnSpPr>
        <p:spPr>
          <a:xfrm flipH="1">
            <a:off x="3410093" y="4159489"/>
            <a:ext cx="1166683" cy="214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DE3A057-2923-2B6E-4B7F-ED3DA5594A2A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>
            <a:off x="7173685" y="1831409"/>
            <a:ext cx="505034" cy="27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272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8B348-6EF2-C5AC-E7DA-30FB86D84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6FE17-C207-E960-DDB3-4F946AFF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</a:t>
            </a:r>
            <a:r>
              <a:rPr lang="ko-KR" altLang="en-US" dirty="0"/>
              <a:t> 제어</a:t>
            </a:r>
            <a:r>
              <a:rPr lang="en-US" altLang="ko-KR" dirty="0"/>
              <a:t>(</a:t>
            </a:r>
            <a:r>
              <a:rPr lang="ko-KR" altLang="en-US" dirty="0" err="1"/>
              <a:t>서보모터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B8A644-DBDF-E388-B933-52108BD0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C30AC7-81AD-A0BA-29A2-DA110F096C2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024472C-0463-240C-A866-C4BD73A98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5667" y="1325563"/>
            <a:ext cx="3726257" cy="4846420"/>
          </a:xfr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436E028-8172-F796-22CA-3B323E46AC50}"/>
              </a:ext>
            </a:extLst>
          </p:cNvPr>
          <p:cNvCxnSpPr/>
          <p:nvPr/>
        </p:nvCxnSpPr>
        <p:spPr>
          <a:xfrm flipV="1">
            <a:off x="5019675" y="3590925"/>
            <a:ext cx="0" cy="16573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32585F8-116A-926F-4A97-12419D5BD10A}"/>
              </a:ext>
            </a:extLst>
          </p:cNvPr>
          <p:cNvCxnSpPr/>
          <p:nvPr/>
        </p:nvCxnSpPr>
        <p:spPr>
          <a:xfrm>
            <a:off x="5019675" y="3590925"/>
            <a:ext cx="10763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EDE6001-EA64-0A45-9175-F808E6487198}"/>
              </a:ext>
            </a:extLst>
          </p:cNvPr>
          <p:cNvCxnSpPr/>
          <p:nvPr/>
        </p:nvCxnSpPr>
        <p:spPr>
          <a:xfrm>
            <a:off x="6096000" y="3590925"/>
            <a:ext cx="0" cy="16573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01DDE2B-25BF-B178-C628-18E579693AAD}"/>
              </a:ext>
            </a:extLst>
          </p:cNvPr>
          <p:cNvCxnSpPr/>
          <p:nvPr/>
        </p:nvCxnSpPr>
        <p:spPr>
          <a:xfrm>
            <a:off x="6096000" y="5248275"/>
            <a:ext cx="42386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32E382C-91BC-4192-1E80-9348CDC17E1F}"/>
              </a:ext>
            </a:extLst>
          </p:cNvPr>
          <p:cNvCxnSpPr/>
          <p:nvPr/>
        </p:nvCxnSpPr>
        <p:spPr>
          <a:xfrm>
            <a:off x="5019675" y="3000375"/>
            <a:ext cx="0" cy="3619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C58F036-3465-4DA2-47A5-8B4FCEFC9989}"/>
              </a:ext>
            </a:extLst>
          </p:cNvPr>
          <p:cNvCxnSpPr/>
          <p:nvPr/>
        </p:nvCxnSpPr>
        <p:spPr>
          <a:xfrm>
            <a:off x="6067425" y="3000375"/>
            <a:ext cx="0" cy="3619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7C3277F-24AA-B86A-5F0B-1B157EC46FA1}"/>
              </a:ext>
            </a:extLst>
          </p:cNvPr>
          <p:cNvCxnSpPr/>
          <p:nvPr/>
        </p:nvCxnSpPr>
        <p:spPr>
          <a:xfrm>
            <a:off x="5019675" y="3181350"/>
            <a:ext cx="104775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173CE88-A615-3E80-0A3A-968162288BA5}"/>
              </a:ext>
            </a:extLst>
          </p:cNvPr>
          <p:cNvCxnSpPr/>
          <p:nvPr/>
        </p:nvCxnSpPr>
        <p:spPr>
          <a:xfrm>
            <a:off x="5019675" y="5534025"/>
            <a:ext cx="0" cy="3619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4F532D0-B0DB-A5C8-9EDB-9D672A07D82A}"/>
              </a:ext>
            </a:extLst>
          </p:cNvPr>
          <p:cNvCxnSpPr/>
          <p:nvPr/>
        </p:nvCxnSpPr>
        <p:spPr>
          <a:xfrm>
            <a:off x="10315575" y="5534025"/>
            <a:ext cx="0" cy="3619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542AE63-5AE0-BEF7-90E0-5A2A5740767F}"/>
              </a:ext>
            </a:extLst>
          </p:cNvPr>
          <p:cNvCxnSpPr>
            <a:cxnSpLocks/>
          </p:cNvCxnSpPr>
          <p:nvPr/>
        </p:nvCxnSpPr>
        <p:spPr>
          <a:xfrm>
            <a:off x="5019675" y="5705475"/>
            <a:ext cx="52959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5AA01BB-D977-4887-9F0B-B40321BE7F08}"/>
              </a:ext>
            </a:extLst>
          </p:cNvPr>
          <p:cNvSpPr txBox="1"/>
          <p:nvPr/>
        </p:nvSpPr>
        <p:spPr>
          <a:xfrm>
            <a:off x="4131867" y="2518946"/>
            <a:ext cx="4083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서보모터</a:t>
            </a:r>
            <a:r>
              <a:rPr lang="ko-KR" altLang="en-US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회전 위치 결정</a:t>
            </a:r>
            <a:r>
              <a:rPr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(ex-1~2ms)</a:t>
            </a:r>
            <a:endParaRPr lang="ko-KR" altLang="en-US" sz="16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A185BB-57FB-C206-0CC8-118C4AA7C393}"/>
              </a:ext>
            </a:extLst>
          </p:cNvPr>
          <p:cNvSpPr txBox="1"/>
          <p:nvPr/>
        </p:nvSpPr>
        <p:spPr>
          <a:xfrm>
            <a:off x="6096000" y="5833429"/>
            <a:ext cx="3876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PWM </a:t>
            </a:r>
            <a:r>
              <a:rPr lang="ko-KR" altLang="en-US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주기</a:t>
            </a:r>
            <a:r>
              <a:rPr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단위시간</a:t>
            </a:r>
            <a:r>
              <a:rPr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ex-50ms)</a:t>
            </a:r>
            <a:endParaRPr lang="ko-KR" altLang="en-US" sz="16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46782DB5-C8A5-D0E8-7832-0BD43DDD9598}"/>
              </a:ext>
            </a:extLst>
          </p:cNvPr>
          <p:cNvSpPr/>
          <p:nvPr/>
        </p:nvSpPr>
        <p:spPr>
          <a:xfrm rot="16200000">
            <a:off x="9736234" y="2354355"/>
            <a:ext cx="1673035" cy="4762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A9516B0A-DF99-D1AE-A6ED-CEBA8D36CD6D}"/>
              </a:ext>
            </a:extLst>
          </p:cNvPr>
          <p:cNvSpPr/>
          <p:nvPr/>
        </p:nvSpPr>
        <p:spPr>
          <a:xfrm rot="13036454">
            <a:off x="9724456" y="2381869"/>
            <a:ext cx="1744112" cy="4762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072A642D-9BE9-2CEE-C24C-096DCEF92C89}"/>
              </a:ext>
            </a:extLst>
          </p:cNvPr>
          <p:cNvSpPr/>
          <p:nvPr/>
        </p:nvSpPr>
        <p:spPr>
          <a:xfrm rot="10800000">
            <a:off x="9686556" y="2425465"/>
            <a:ext cx="1748107" cy="4762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 descr="Cpu - 사용자 인터페이스 및 제스처 아이콘">
            <a:extLst>
              <a:ext uri="{FF2B5EF4-FFF2-40B4-BE49-F238E27FC236}">
                <a16:creationId xmlns:a16="http://schemas.microsoft.com/office/drawing/2014/main" id="{29F154A4-E424-EB29-CA06-970BFE883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496" y="3314699"/>
            <a:ext cx="127635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38DF641-CDA0-35D6-EF1D-B2308E6CD8E1}"/>
              </a:ext>
            </a:extLst>
          </p:cNvPr>
          <p:cNvCxnSpPr>
            <a:cxnSpLocks/>
          </p:cNvCxnSpPr>
          <p:nvPr/>
        </p:nvCxnSpPr>
        <p:spPr>
          <a:xfrm>
            <a:off x="5653678" y="3827067"/>
            <a:ext cx="1671047" cy="182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78C335B-A81D-0CE9-F9A7-AF2506C4255C}"/>
              </a:ext>
            </a:extLst>
          </p:cNvPr>
          <p:cNvSpPr txBox="1"/>
          <p:nvPr/>
        </p:nvSpPr>
        <p:spPr>
          <a:xfrm>
            <a:off x="6173589" y="4804422"/>
            <a:ext cx="4083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듀티</a:t>
            </a:r>
            <a:r>
              <a:rPr lang="ko-KR" altLang="en-US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사이클 </a:t>
            </a:r>
            <a:r>
              <a:rPr lang="ko-KR" altLang="en-US" sz="16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읽어들임</a:t>
            </a:r>
            <a:endParaRPr lang="ko-KR" altLang="en-US" sz="16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2" name="왼쪽 대괄호 41">
            <a:extLst>
              <a:ext uri="{FF2B5EF4-FFF2-40B4-BE49-F238E27FC236}">
                <a16:creationId xmlns:a16="http://schemas.microsoft.com/office/drawing/2014/main" id="{07A11CFF-F897-02C2-1464-C757BD46FA5F}"/>
              </a:ext>
            </a:extLst>
          </p:cNvPr>
          <p:cNvSpPr/>
          <p:nvPr/>
        </p:nvSpPr>
        <p:spPr>
          <a:xfrm rot="16200000">
            <a:off x="5480453" y="3229492"/>
            <a:ext cx="165872" cy="1008077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D38C513-7364-128A-2677-40F4389657A3}"/>
              </a:ext>
            </a:extLst>
          </p:cNvPr>
          <p:cNvCxnSpPr>
            <a:cxnSpLocks/>
          </p:cNvCxnSpPr>
          <p:nvPr/>
        </p:nvCxnSpPr>
        <p:spPr>
          <a:xfrm flipV="1">
            <a:off x="9097619" y="3235095"/>
            <a:ext cx="674328" cy="602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3D65B5A-8650-2FBF-9703-0DE1501BCA9E}"/>
              </a:ext>
            </a:extLst>
          </p:cNvPr>
          <p:cNvSpPr txBox="1"/>
          <p:nvPr/>
        </p:nvSpPr>
        <p:spPr>
          <a:xfrm>
            <a:off x="8992844" y="4008604"/>
            <a:ext cx="4083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듀티</a:t>
            </a:r>
            <a:r>
              <a:rPr lang="ko-KR" altLang="en-US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사이클에 따라 제어위치 계산</a:t>
            </a:r>
          </a:p>
        </p:txBody>
      </p:sp>
    </p:spTree>
    <p:extLst>
      <p:ext uri="{BB962C8B-B14F-4D97-AF65-F5344CB8AC3E}">
        <p14:creationId xmlns:p14="http://schemas.microsoft.com/office/powerpoint/2010/main" val="3469802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1B21D-F4DE-9962-BD74-81520597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</a:t>
            </a:r>
            <a:r>
              <a:rPr lang="ko-KR" altLang="en-US" dirty="0"/>
              <a:t> 실습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3A07C-94E6-70E0-62B2-ADF41914C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1. </a:t>
            </a:r>
            <a:r>
              <a:rPr lang="ko-KR" altLang="en-US" dirty="0"/>
              <a:t>시리얼 모니터로 각도를 입력 받아 </a:t>
            </a:r>
            <a:r>
              <a:rPr lang="ko-KR" altLang="en-US" dirty="0" err="1"/>
              <a:t>서보모터가</a:t>
            </a:r>
            <a:r>
              <a:rPr lang="ko-KR" altLang="en-US" dirty="0"/>
              <a:t> 입력된 값으로 회전되게 구현해 </a:t>
            </a:r>
            <a:r>
              <a:rPr lang="ko-KR" altLang="en-US" dirty="0" err="1"/>
              <a:t>보시오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2. </a:t>
            </a:r>
            <a:r>
              <a:rPr lang="ko-KR" altLang="en-US" dirty="0"/>
              <a:t>버튼을 </a:t>
            </a:r>
            <a:r>
              <a:rPr lang="en-US" altLang="ko-KR" dirty="0"/>
              <a:t>4</a:t>
            </a:r>
            <a:r>
              <a:rPr lang="ko-KR" altLang="en-US" dirty="0"/>
              <a:t>개로 시작</a:t>
            </a:r>
            <a:r>
              <a:rPr lang="en-US" altLang="ko-KR" dirty="0"/>
              <a:t>/</a:t>
            </a:r>
            <a:r>
              <a:rPr lang="ko-KR" altLang="en-US" dirty="0"/>
              <a:t>중지</a:t>
            </a:r>
            <a:r>
              <a:rPr lang="en-US" altLang="ko-KR" dirty="0"/>
              <a:t>, 1</a:t>
            </a:r>
            <a:r>
              <a:rPr lang="ko-KR" altLang="en-US" dirty="0"/>
              <a:t>단</a:t>
            </a:r>
            <a:r>
              <a:rPr lang="en-US" altLang="ko-KR" dirty="0"/>
              <a:t>, 2</a:t>
            </a:r>
            <a:r>
              <a:rPr lang="ko-KR" altLang="en-US" dirty="0"/>
              <a:t>단</a:t>
            </a:r>
            <a:r>
              <a:rPr lang="en-US" altLang="ko-KR" dirty="0"/>
              <a:t>, 3</a:t>
            </a:r>
            <a:r>
              <a:rPr lang="ko-KR" altLang="en-US" dirty="0"/>
              <a:t>단 속도 조절이 가능한 선풍기를 </a:t>
            </a:r>
            <a:r>
              <a:rPr lang="ko-KR" altLang="en-US" dirty="0" err="1"/>
              <a:t>구현하시오</a:t>
            </a:r>
            <a:r>
              <a:rPr lang="en-US" altLang="ko-KR" dirty="0"/>
              <a:t>(</a:t>
            </a:r>
            <a:r>
              <a:rPr lang="ko-KR" altLang="en-US" dirty="0"/>
              <a:t>프로펠러 모터 이용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FF4CF0-81C6-BA04-A9E6-CA416222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81EDFF-9ED7-26F6-C002-52D13078EBD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9195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843F3-D67E-D121-8E4E-50AA6CDD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타이머</a:t>
            </a:r>
            <a:r>
              <a:rPr lang="en-US" altLang="ko-KR" dirty="0"/>
              <a:t>/</a:t>
            </a:r>
            <a:r>
              <a:rPr lang="ko-KR" altLang="en-US" dirty="0"/>
              <a:t>카운터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A77B61-76B8-9B89-6FAA-4D2C61A23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35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타이머</a:t>
            </a:r>
            <a:endParaRPr lang="en-US" altLang="ko-KR" sz="35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dirty="0"/>
              <a:t>-MCU </a:t>
            </a:r>
            <a:r>
              <a:rPr lang="ko-KR" altLang="en-US" dirty="0"/>
              <a:t>내부의 클럭을 세는 장치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</a:t>
            </a:r>
            <a:r>
              <a:rPr lang="ko-KR" altLang="en-US" dirty="0"/>
              <a:t>내부 클럭을 세어 일정시간 동안 펄스를 만들어 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</a:t>
            </a:r>
            <a:r>
              <a:rPr lang="ko-KR" altLang="en-US" dirty="0"/>
              <a:t>일정시간</a:t>
            </a:r>
            <a:r>
              <a:rPr lang="en-US" altLang="ko-KR" dirty="0"/>
              <a:t>(</a:t>
            </a:r>
            <a:r>
              <a:rPr lang="ko-KR" altLang="en-US" dirty="0"/>
              <a:t>특정 조건</a:t>
            </a:r>
            <a:r>
              <a:rPr lang="en-US" altLang="ko-KR" dirty="0"/>
              <a:t>)</a:t>
            </a:r>
            <a:r>
              <a:rPr lang="ko-KR" altLang="en-US" dirty="0"/>
              <a:t>뒤에 인터럽트 발생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</a:t>
            </a:r>
            <a:r>
              <a:rPr lang="ko-KR" altLang="en-US" dirty="0"/>
              <a:t>분주가능</a:t>
            </a:r>
            <a:r>
              <a:rPr lang="en-US" altLang="ko-KR" dirty="0"/>
              <a:t>(</a:t>
            </a:r>
            <a:r>
              <a:rPr lang="en-US" altLang="ko-KR" dirty="0" err="1"/>
              <a:t>PreScare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sz="35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카운터</a:t>
            </a:r>
            <a:endParaRPr lang="en-US" altLang="ko-KR" sz="35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dirty="0"/>
              <a:t>-MCU </a:t>
            </a:r>
            <a:r>
              <a:rPr lang="ko-KR" altLang="en-US" dirty="0"/>
              <a:t>외부에서 입력되는 클럭을 세는 장치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</a:t>
            </a:r>
            <a:r>
              <a:rPr lang="ko-KR" altLang="en-US" dirty="0" err="1"/>
              <a:t>외부핀을</a:t>
            </a:r>
            <a:r>
              <a:rPr lang="ko-KR" altLang="en-US" dirty="0"/>
              <a:t> 통하여 들어오는 펄스를 세는 장치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</a:t>
            </a:r>
            <a:r>
              <a:rPr lang="ko-KR" altLang="en-US" dirty="0"/>
              <a:t>분주 불가능</a:t>
            </a:r>
            <a:r>
              <a:rPr lang="en-US" altLang="ko-KR" dirty="0"/>
              <a:t>(</a:t>
            </a:r>
            <a:r>
              <a:rPr lang="ko-KR" altLang="en-US" dirty="0"/>
              <a:t>외부 클럭을 그대로 사용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CD3589-6319-290A-4F39-51B336A0E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26CCC0-2AE9-384A-F804-102336AB83C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1519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7FB5A-32B0-DFD1-5CB4-1C35D1C1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타이머</a:t>
            </a:r>
            <a:r>
              <a:rPr lang="en-US" altLang="ko-KR" dirty="0"/>
              <a:t>/</a:t>
            </a:r>
            <a:r>
              <a:rPr lang="ko-KR" altLang="en-US" dirty="0"/>
              <a:t>카운터</a:t>
            </a:r>
            <a:r>
              <a:rPr lang="en-US" altLang="ko-KR" dirty="0"/>
              <a:t>(AVR </a:t>
            </a:r>
            <a:r>
              <a:rPr lang="ko-KR" altLang="en-US" dirty="0"/>
              <a:t>코어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9F4E547-537A-13BD-122D-44C6F938F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94573" y="1666037"/>
            <a:ext cx="5449303" cy="4879182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740CD1-10A2-B105-F3E0-07BD3325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92F7E4-E2B8-715F-DD01-2D0186F8573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9894CF-4C34-D09B-33EF-896734369977}"/>
              </a:ext>
            </a:extLst>
          </p:cNvPr>
          <p:cNvSpPr/>
          <p:nvPr/>
        </p:nvSpPr>
        <p:spPr>
          <a:xfrm>
            <a:off x="3575050" y="2944580"/>
            <a:ext cx="1739900" cy="6876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256D8-316E-A407-DB3D-71690E2404AD}"/>
              </a:ext>
            </a:extLst>
          </p:cNvPr>
          <p:cNvSpPr txBox="1"/>
          <p:nvPr/>
        </p:nvSpPr>
        <p:spPr>
          <a:xfrm>
            <a:off x="2360700" y="2489828"/>
            <a:ext cx="1965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현재 카운터 값 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F71EF9-1E7D-8993-8EE9-8D460F0E4C3F}"/>
              </a:ext>
            </a:extLst>
          </p:cNvPr>
          <p:cNvSpPr/>
          <p:nvPr/>
        </p:nvSpPr>
        <p:spPr>
          <a:xfrm>
            <a:off x="6892078" y="3436288"/>
            <a:ext cx="549908" cy="39722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EF3FE-C919-7712-120F-68AD2696FF56}"/>
              </a:ext>
            </a:extLst>
          </p:cNvPr>
          <p:cNvSpPr txBox="1"/>
          <p:nvPr/>
        </p:nvSpPr>
        <p:spPr>
          <a:xfrm>
            <a:off x="7487074" y="3274596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인터럽트 요청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3D8CA8-C55D-BD2F-D491-21F6092D3890}"/>
              </a:ext>
            </a:extLst>
          </p:cNvPr>
          <p:cNvSpPr/>
          <p:nvPr/>
        </p:nvSpPr>
        <p:spPr>
          <a:xfrm>
            <a:off x="4170046" y="3797299"/>
            <a:ext cx="549908" cy="30832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F965F-952F-702C-9012-D3E89995FB1E}"/>
              </a:ext>
            </a:extLst>
          </p:cNvPr>
          <p:cNvSpPr txBox="1"/>
          <p:nvPr/>
        </p:nvSpPr>
        <p:spPr>
          <a:xfrm>
            <a:off x="3190353" y="3826228"/>
            <a:ext cx="9733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비교연산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1B01A1-E8CD-B556-B641-9D29A07CD808}"/>
              </a:ext>
            </a:extLst>
          </p:cNvPr>
          <p:cNvSpPr/>
          <p:nvPr/>
        </p:nvSpPr>
        <p:spPr>
          <a:xfrm>
            <a:off x="8112232" y="3613149"/>
            <a:ext cx="637994" cy="16414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3629DF-3375-A011-AE54-B2E876FFFBDA}"/>
              </a:ext>
            </a:extLst>
          </p:cNvPr>
          <p:cNvSpPr txBox="1"/>
          <p:nvPr/>
        </p:nvSpPr>
        <p:spPr>
          <a:xfrm>
            <a:off x="7240211" y="5337907"/>
            <a:ext cx="1672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PWM </a:t>
            </a:r>
            <a:r>
              <a:rPr lang="ko-KR" altLang="en-US" sz="1600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생성 부분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719476-0903-4404-53B7-AC99AA944D5D}"/>
              </a:ext>
            </a:extLst>
          </p:cNvPr>
          <p:cNvSpPr/>
          <p:nvPr/>
        </p:nvSpPr>
        <p:spPr>
          <a:xfrm>
            <a:off x="4194136" y="4221826"/>
            <a:ext cx="501728" cy="30832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09D485-2BDE-F1E8-43C7-FE9F5F806911}"/>
              </a:ext>
            </a:extLst>
          </p:cNvPr>
          <p:cNvSpPr txBox="1"/>
          <p:nvPr/>
        </p:nvSpPr>
        <p:spPr>
          <a:xfrm>
            <a:off x="2835317" y="4460769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비교기준 설정</a:t>
            </a:r>
            <a:endParaRPr lang="ko-KR" altLang="en-US" sz="1600" dirty="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2310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0CDE7-9475-9719-E525-A693D44E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타이머</a:t>
            </a:r>
            <a:r>
              <a:rPr lang="en-US" altLang="ko-KR" dirty="0"/>
              <a:t>/</a:t>
            </a:r>
            <a:r>
              <a:rPr lang="ko-KR" altLang="en-US" dirty="0"/>
              <a:t>카운터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63CE7722-BDF2-6981-55C6-4CD9687D9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28627" y="1980202"/>
            <a:ext cx="5415107" cy="3131547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5F15D-0F08-492D-7463-1B58761B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4182AB-6775-B14C-895E-6CF47355642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4C30BE-8729-C57E-983B-80E296103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284" y="2453165"/>
            <a:ext cx="5546976" cy="2354719"/>
          </a:xfrm>
          <a:prstGeom prst="rect">
            <a:avLst/>
          </a:prstGeom>
        </p:spPr>
      </p:pic>
      <p:sp>
        <p:nvSpPr>
          <p:cNvPr id="12" name="내용 개체 틀 5">
            <a:extLst>
              <a:ext uri="{FF2B5EF4-FFF2-40B4-BE49-F238E27FC236}">
                <a16:creationId xmlns:a16="http://schemas.microsoft.com/office/drawing/2014/main" id="{A8E4FDDD-C5D9-6779-A442-3BF224093A41}"/>
              </a:ext>
            </a:extLst>
          </p:cNvPr>
          <p:cNvSpPr txBox="1">
            <a:spLocks/>
          </p:cNvSpPr>
          <p:nvPr/>
        </p:nvSpPr>
        <p:spPr>
          <a:xfrm>
            <a:off x="0" y="5421795"/>
            <a:ext cx="62230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Fast PWM  </a:t>
            </a:r>
            <a:r>
              <a:rPr lang="ko-KR" altLang="en-US" dirty="0"/>
              <a:t>모드</a:t>
            </a:r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C2716B9A-4936-0163-FD60-645C4F1CCCAE}"/>
              </a:ext>
            </a:extLst>
          </p:cNvPr>
          <p:cNvSpPr txBox="1">
            <a:spLocks/>
          </p:cNvSpPr>
          <p:nvPr/>
        </p:nvSpPr>
        <p:spPr>
          <a:xfrm>
            <a:off x="5794260" y="5322416"/>
            <a:ext cx="62230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CTC PWM  </a:t>
            </a:r>
            <a:r>
              <a:rPr lang="ko-KR" altLang="en-US" dirty="0"/>
              <a:t>모드</a:t>
            </a:r>
          </a:p>
        </p:txBody>
      </p:sp>
    </p:spTree>
    <p:extLst>
      <p:ext uri="{BB962C8B-B14F-4D97-AF65-F5344CB8AC3E}">
        <p14:creationId xmlns:p14="http://schemas.microsoft.com/office/powerpoint/2010/main" val="4159463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C64F4-C3B1-184A-B5D1-24065CBB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AEFDB-B64B-A33F-2966-309FF7447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타이머</a:t>
            </a:r>
            <a:r>
              <a:rPr lang="en-US" altLang="ko-KR" dirty="0"/>
              <a:t>/</a:t>
            </a:r>
            <a:r>
              <a:rPr lang="ko-KR" altLang="en-US" dirty="0"/>
              <a:t>카운터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33D813-B9F5-40C4-E489-1364B050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D5BF52-4323-CA45-3A91-F5CF936CBFE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2025-02-13</a:t>
            </a:fld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4A2D817-DE89-5EDE-1DC0-F90359BE5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944" y="1794798"/>
            <a:ext cx="5169166" cy="3511730"/>
          </a:xfrm>
          <a:prstGeom prst="rect">
            <a:avLst/>
          </a:prstGeo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69FAF2-37C4-EF8F-AFDD-00C08C4BF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48299"/>
            <a:ext cx="10515600" cy="72866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ko-KR" dirty="0"/>
              <a:t>Phase Correct PWM  </a:t>
            </a:r>
            <a:r>
              <a:rPr lang="ko-KR" altLang="en-US" dirty="0"/>
              <a:t>모드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76C053-C83C-593C-A162-68194886CACC}"/>
              </a:ext>
            </a:extLst>
          </p:cNvPr>
          <p:cNvSpPr/>
          <p:nvPr/>
        </p:nvSpPr>
        <p:spPr>
          <a:xfrm>
            <a:off x="6743700" y="2569633"/>
            <a:ext cx="482601" cy="45720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58D1034-F681-03C8-CB12-472ED71A7D81}"/>
              </a:ext>
            </a:extLst>
          </p:cNvPr>
          <p:cNvCxnSpPr>
            <a:cxnSpLocks/>
          </p:cNvCxnSpPr>
          <p:nvPr/>
        </p:nvCxnSpPr>
        <p:spPr>
          <a:xfrm>
            <a:off x="3331633" y="3877733"/>
            <a:ext cx="339936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25211B-CD58-251F-0FAC-F4F5A2940EEA}"/>
              </a:ext>
            </a:extLst>
          </p:cNvPr>
          <p:cNvSpPr txBox="1"/>
          <p:nvPr/>
        </p:nvSpPr>
        <p:spPr>
          <a:xfrm>
            <a:off x="7487266" y="2628957"/>
            <a:ext cx="1622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설정값</a:t>
            </a:r>
            <a:r>
              <a:rPr lang="ko-KR" altLang="en-US" sz="16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레지스터</a:t>
            </a:r>
            <a:endParaRPr lang="en-US" altLang="ko-KR" sz="1600" b="1" dirty="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(PWM , </a:t>
            </a:r>
            <a:r>
              <a:rPr lang="ko-KR" altLang="en-US" sz="12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인터럽트</a:t>
            </a:r>
            <a:r>
              <a:rPr lang="en-US" altLang="ko-KR" sz="1200" b="1" dirty="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ko-KR" altLang="en-US" sz="1200" b="1" dirty="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A66EE3-0348-5BFC-599A-97941774F14C}"/>
              </a:ext>
            </a:extLst>
          </p:cNvPr>
          <p:cNvSpPr txBox="1"/>
          <p:nvPr/>
        </p:nvSpPr>
        <p:spPr>
          <a:xfrm>
            <a:off x="6765754" y="3791867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err="1">
                <a:solidFill>
                  <a:schemeClr val="accent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OCRnX</a:t>
            </a:r>
            <a:r>
              <a:rPr lang="en-US" altLang="ko-KR" sz="1200" b="1" dirty="0">
                <a:solidFill>
                  <a:schemeClr val="accent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200" b="1" dirty="0">
                <a:solidFill>
                  <a:schemeClr val="accent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레지스터</a:t>
            </a:r>
          </a:p>
        </p:txBody>
      </p:sp>
    </p:spTree>
    <p:extLst>
      <p:ext uri="{BB962C8B-B14F-4D97-AF65-F5344CB8AC3E}">
        <p14:creationId xmlns:p14="http://schemas.microsoft.com/office/powerpoint/2010/main" val="311259098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9995</TotalTime>
  <Words>669</Words>
  <Application>Microsoft Office PowerPoint</Application>
  <PresentationFormat>와이드스크린</PresentationFormat>
  <Paragraphs>148</Paragraphs>
  <Slides>24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G마켓 산스 Medium</vt:lpstr>
      <vt:lpstr>G마켓 산스 TTF Bold</vt:lpstr>
      <vt:lpstr>G마켓 산스 TTF Medium</vt:lpstr>
      <vt:lpstr>se-nanumgothic</vt:lpstr>
      <vt:lpstr>맑은 고딕</vt:lpstr>
      <vt:lpstr>메이플스토리</vt:lpstr>
      <vt:lpstr>Arial</vt:lpstr>
      <vt:lpstr>1_Office 테마</vt:lpstr>
      <vt:lpstr>시리얼모니터</vt:lpstr>
      <vt:lpstr>시리얼모니터</vt:lpstr>
      <vt:lpstr>시리얼모니터</vt:lpstr>
      <vt:lpstr>시리얼 모니터 실습</vt:lpstr>
      <vt:lpstr>PWM 제어</vt:lpstr>
      <vt:lpstr>PWM 제어</vt:lpstr>
      <vt:lpstr>PWM 제어</vt:lpstr>
      <vt:lpstr>LED 밝기 제어</vt:lpstr>
      <vt:lpstr>LED 밝기 제어</vt:lpstr>
      <vt:lpstr>PWM 제어</vt:lpstr>
      <vt:lpstr>부저</vt:lpstr>
      <vt:lpstr>부저</vt:lpstr>
      <vt:lpstr>pwm 실습</vt:lpstr>
      <vt:lpstr>pwm 실습</vt:lpstr>
      <vt:lpstr>PWM 제어(서보모터)</vt:lpstr>
      <vt:lpstr>PWM 제어(서보모터)</vt:lpstr>
      <vt:lpstr>PWM 제어(서보모터)</vt:lpstr>
      <vt:lpstr>PWM 제어(서보모터)</vt:lpstr>
      <vt:lpstr>PWM 제어(서보모터)</vt:lpstr>
      <vt:lpstr>PWM 실습 </vt:lpstr>
      <vt:lpstr>타이머/카운터</vt:lpstr>
      <vt:lpstr>타이머/카운터(AVR 코어)</vt:lpstr>
      <vt:lpstr>타이머/카운터</vt:lpstr>
      <vt:lpstr>타이머/카운터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380</cp:revision>
  <dcterms:created xsi:type="dcterms:W3CDTF">2024-10-23T01:56:35Z</dcterms:created>
  <dcterms:modified xsi:type="dcterms:W3CDTF">2025-02-13T05:17:28Z</dcterms:modified>
</cp:coreProperties>
</file>