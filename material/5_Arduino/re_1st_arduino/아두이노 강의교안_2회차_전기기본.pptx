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962" r:id="rId2"/>
    <p:sldId id="276" r:id="rId3"/>
    <p:sldId id="290" r:id="rId4"/>
    <p:sldId id="262" r:id="rId5"/>
    <p:sldId id="381" r:id="rId6"/>
    <p:sldId id="382" r:id="rId7"/>
    <p:sldId id="383" r:id="rId8"/>
    <p:sldId id="270" r:id="rId9"/>
    <p:sldId id="263" r:id="rId10"/>
    <p:sldId id="273" r:id="rId11"/>
    <p:sldId id="280" r:id="rId12"/>
    <p:sldId id="264" r:id="rId13"/>
    <p:sldId id="281" r:id="rId14"/>
    <p:sldId id="283" r:id="rId15"/>
    <p:sldId id="284" r:id="rId16"/>
    <p:sldId id="272" r:id="rId17"/>
    <p:sldId id="28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 autoAdjust="0"/>
    <p:restoredTop sz="88047" autoAdjust="0"/>
  </p:normalViewPr>
  <p:slideViewPr>
    <p:cSldViewPr snapToGrid="0">
      <p:cViewPr varScale="1">
        <p:scale>
          <a:sx n="140" d="100"/>
          <a:sy n="140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278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교류 직류의 차이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교류는 전류가 시간에 따라서 진행하는 방향</a:t>
            </a:r>
            <a:r>
              <a:rPr lang="en-US" altLang="ko-KR" dirty="0"/>
              <a:t>(+, -)</a:t>
            </a:r>
            <a:r>
              <a:rPr lang="ko-KR" altLang="en-US" dirty="0"/>
              <a:t>이 달라지는 전기를 의미 하고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직류는 일정 전압을 유지하면서 전류가 흐르는 걸 전기를 뜻합니다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mcu</a:t>
            </a:r>
            <a:r>
              <a:rPr lang="ko-KR" altLang="en-US" dirty="0"/>
              <a:t>를 동작 시키기 위해선 우선 전원을 공급해줘야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전기에 대해서 알아보겠습니다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직류</a:t>
            </a:r>
            <a:r>
              <a:rPr lang="en-US" altLang="ko-KR" dirty="0"/>
              <a:t>, </a:t>
            </a:r>
            <a:r>
              <a:rPr lang="ko-KR" altLang="en-US" dirty="0"/>
              <a:t>교류</a:t>
            </a:r>
            <a:r>
              <a:rPr lang="en-US" altLang="ko-KR" dirty="0"/>
              <a:t>, </a:t>
            </a:r>
            <a:r>
              <a:rPr lang="ko-KR" altLang="en-US" dirty="0"/>
              <a:t>차이 아시는 분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간단하게는 직류는 전기가 흐르는 방향이 일정</a:t>
            </a:r>
            <a:r>
              <a:rPr lang="en-US" altLang="ko-KR" dirty="0"/>
              <a:t> + =&gt; -</a:t>
            </a:r>
          </a:p>
          <a:p>
            <a:endParaRPr lang="en-US" altLang="ko-KR" dirty="0"/>
          </a:p>
          <a:p>
            <a:r>
              <a:rPr lang="ko-KR" altLang="en-US" dirty="0"/>
              <a:t>교류는 전기가 흐르는 방향이 시간에 따라 변함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간단하게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+, - </a:t>
            </a:r>
            <a:r>
              <a:rPr lang="ko-KR" altLang="en-US" dirty="0"/>
              <a:t>가 있으면 직류</a:t>
            </a:r>
            <a:r>
              <a:rPr lang="en-US" altLang="ko-KR" dirty="0"/>
              <a:t>, </a:t>
            </a:r>
            <a:r>
              <a:rPr lang="ko-KR" altLang="en-US" dirty="0"/>
              <a:t>없으면 교류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건전지 넣을 때 어때요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콘센트 꽂을 때 </a:t>
            </a:r>
            <a:r>
              <a:rPr lang="ko-KR" altLang="en-US" dirty="0" err="1"/>
              <a:t>돼지코</a:t>
            </a:r>
            <a:r>
              <a:rPr lang="ko-KR" altLang="en-US" dirty="0"/>
              <a:t> 방향 보고 꽂나요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맞습니다 건전지는 </a:t>
            </a:r>
            <a:r>
              <a:rPr lang="ko-KR" altLang="en-US" dirty="0" err="1"/>
              <a:t>직류고</a:t>
            </a:r>
            <a:r>
              <a:rPr lang="en-US" altLang="ko-KR" dirty="0"/>
              <a:t>, </a:t>
            </a:r>
            <a:r>
              <a:rPr lang="ko-KR" altLang="en-US" dirty="0"/>
              <a:t>콘센트는 교류 입니다</a:t>
            </a:r>
          </a:p>
          <a:p>
            <a:endParaRPr lang="en-US" altLang="ko-KR" dirty="0"/>
          </a:p>
          <a:p>
            <a:r>
              <a:rPr lang="ko-KR" altLang="en-US" dirty="0"/>
              <a:t>그럼 어떤 차이</a:t>
            </a:r>
            <a:r>
              <a:rPr lang="en-US" altLang="ko-KR" dirty="0"/>
              <a:t>?  </a:t>
            </a:r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질문 들어오면 대답</a:t>
            </a:r>
            <a:r>
              <a:rPr lang="en-US" altLang="ko-KR" dirty="0"/>
              <a:t>, </a:t>
            </a:r>
            <a:r>
              <a:rPr lang="ko-KR" altLang="en-US" dirty="0"/>
              <a:t>발전기 부터 </a:t>
            </a:r>
            <a:r>
              <a:rPr lang="en-US" altLang="ko-KR" dirty="0"/>
              <a:t>*</a:t>
            </a:r>
          </a:p>
          <a:p>
            <a:endParaRPr lang="en-US" altLang="ko-KR" dirty="0"/>
          </a:p>
          <a:p>
            <a:r>
              <a:rPr lang="ko-KR" altLang="en-US" dirty="0"/>
              <a:t>발전기 회전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57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4639-667A-CE0A-9165-653C574F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105230-A653-CE01-BFE8-5A0DA2591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0011B0-A0C8-0D58-A74D-2D405B96A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아두이노도</a:t>
            </a:r>
            <a:r>
              <a:rPr lang="ko-KR" altLang="en-US" dirty="0"/>
              <a:t> 전자장치 전기를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우리가 사용하는 </a:t>
            </a:r>
            <a:r>
              <a:rPr lang="ko-KR" altLang="en-US" dirty="0" err="1"/>
              <a:t>아두이노는</a:t>
            </a:r>
            <a:r>
              <a:rPr lang="ko-KR" altLang="en-US" dirty="0"/>
              <a:t> 전원으로 직류를 사용합니다 그냥 직류만 </a:t>
            </a:r>
            <a:r>
              <a:rPr lang="ko-KR" altLang="en-US" dirty="0" err="1"/>
              <a:t>사용하는게</a:t>
            </a:r>
            <a:r>
              <a:rPr lang="ko-KR" altLang="en-US" dirty="0"/>
              <a:t> 아니라 </a:t>
            </a:r>
            <a:r>
              <a:rPr lang="en-US" altLang="ko-KR" dirty="0"/>
              <a:t>3.3~5v </a:t>
            </a:r>
            <a:r>
              <a:rPr lang="ko-KR" altLang="en-US" dirty="0"/>
              <a:t>사이의 전압을 </a:t>
            </a:r>
            <a:r>
              <a:rPr lang="en-US" altLang="ko-KR" dirty="0"/>
              <a:t>1</a:t>
            </a:r>
            <a:r>
              <a:rPr lang="ko-KR" altLang="en-US" dirty="0"/>
              <a:t>로 인식하는 전원을 사용합니다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 </a:t>
            </a:r>
            <a:r>
              <a:rPr lang="ko-KR" altLang="en-US" dirty="0"/>
              <a:t>여기서 </a:t>
            </a:r>
            <a:r>
              <a:rPr lang="en-US" altLang="ko-KR" dirty="0"/>
              <a:t>1</a:t>
            </a:r>
            <a:r>
              <a:rPr lang="ko-KR" altLang="en-US" dirty="0"/>
              <a:t>이 전압이 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아날로그 설명</a:t>
            </a:r>
            <a:r>
              <a:rPr lang="en-US" altLang="ko-KR" dirty="0"/>
              <a:t>, </a:t>
            </a:r>
            <a:r>
              <a:rPr lang="ko-KR" altLang="en-US" dirty="0"/>
              <a:t>디지털은 큰 틀에서 아날로그의 한 종류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0CD93-039B-10D5-E40A-DC848FED8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532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 err="1"/>
              <a:t>아두이노를</a:t>
            </a:r>
            <a:r>
              <a:rPr lang="ko-KR" altLang="en-US" dirty="0"/>
              <a:t> </a:t>
            </a:r>
            <a:r>
              <a:rPr lang="ko-KR" altLang="en-US" dirty="0" err="1"/>
              <a:t>사용할때</a:t>
            </a:r>
            <a:r>
              <a:rPr lang="ko-KR" altLang="en-US" dirty="0"/>
              <a:t> </a:t>
            </a:r>
            <a:r>
              <a:rPr lang="en-US" altLang="ko-KR" dirty="0"/>
              <a:t>MCU</a:t>
            </a:r>
            <a:r>
              <a:rPr lang="ko-KR" altLang="en-US" dirty="0"/>
              <a:t>로만 사용 불가 필수적으로 다른 외부장치</a:t>
            </a:r>
            <a:r>
              <a:rPr lang="en-US" altLang="ko-KR" dirty="0"/>
              <a:t>(</a:t>
            </a:r>
            <a:r>
              <a:rPr lang="ko-KR" altLang="en-US" dirty="0"/>
              <a:t>센서</a:t>
            </a:r>
            <a:r>
              <a:rPr lang="en-US" altLang="ko-KR" dirty="0"/>
              <a:t>, </a:t>
            </a:r>
            <a:r>
              <a:rPr lang="ko-KR" altLang="en-US" dirty="0"/>
              <a:t>모터</a:t>
            </a:r>
            <a:r>
              <a:rPr lang="en-US" altLang="ko-KR" dirty="0"/>
              <a:t>, LED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과 같이 </a:t>
            </a:r>
            <a:r>
              <a:rPr lang="ko-KR" altLang="en-US" dirty="0" err="1"/>
              <a:t>사용될때</a:t>
            </a:r>
            <a:r>
              <a:rPr lang="ko-KR" altLang="en-US" dirty="0"/>
              <a:t> 회로를 구성하여야 하며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회로에는 수많은 부품들이 있지만 대표적으로 </a:t>
            </a:r>
            <a:r>
              <a:rPr lang="en-US" altLang="ko-KR" dirty="0"/>
              <a:t>3</a:t>
            </a:r>
            <a:r>
              <a:rPr lang="ko-KR" altLang="en-US" dirty="0"/>
              <a:t>대 수동소자 소개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저항은 전기가 흐르는 것을 방해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커패시터는</a:t>
            </a:r>
            <a:r>
              <a:rPr lang="ko-KR" altLang="en-US" dirty="0"/>
              <a:t> 전기를 저장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인턱터는</a:t>
            </a:r>
            <a:r>
              <a:rPr lang="ko-KR" altLang="en-US" dirty="0"/>
              <a:t> 자기장 효과</a:t>
            </a:r>
            <a:r>
              <a:rPr lang="en-US" altLang="ko-KR" dirty="0"/>
              <a:t> </a:t>
            </a:r>
            <a:r>
              <a:rPr lang="ko-KR" altLang="en-US" dirty="0"/>
              <a:t>로 기억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655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기본 회로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이 회로에서 전기가 어떻게 흐르고 저항이 </a:t>
            </a:r>
            <a:r>
              <a:rPr lang="ko-KR" altLang="en-US" dirty="0" err="1"/>
              <a:t>어떤역할을</a:t>
            </a:r>
            <a:r>
              <a:rPr lang="ko-KR" altLang="en-US" dirty="0"/>
              <a:t> 하는지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집합은 부분의 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특히 아무리 복잡한 회로도</a:t>
            </a:r>
            <a:r>
              <a:rPr lang="en-US" altLang="ko-KR" dirty="0"/>
              <a:t>, </a:t>
            </a:r>
            <a:r>
              <a:rPr lang="ko-KR" altLang="en-US" dirty="0"/>
              <a:t>다 소자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라벨로 구성되어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19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옴의 법칙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v=</a:t>
            </a:r>
            <a:r>
              <a:rPr lang="en-US" altLang="ko-KR" dirty="0" err="1"/>
              <a:t>ir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i</a:t>
            </a:r>
            <a:r>
              <a:rPr lang="en-US" altLang="ko-KR" dirty="0"/>
              <a:t>=v/r</a:t>
            </a:r>
          </a:p>
          <a:p>
            <a:endParaRPr lang="en-US" altLang="ko-KR" dirty="0"/>
          </a:p>
          <a:p>
            <a:r>
              <a:rPr lang="en-US" altLang="ko-KR" dirty="0"/>
              <a:t>r=v/I </a:t>
            </a:r>
            <a:r>
              <a:rPr lang="ko-KR" altLang="en-US" dirty="0"/>
              <a:t>를 직관적으로 설명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687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저항은 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774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32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소공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148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653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2025-02-10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2025-02-10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4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image" Target="../media/image420.png"/><Relationship Id="rId7" Type="http://schemas.openxmlformats.org/officeDocument/2006/relationships/image" Target="../media/image46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5" Type="http://schemas.openxmlformats.org/officeDocument/2006/relationships/image" Target="../media/image440.png"/><Relationship Id="rId4" Type="http://schemas.openxmlformats.org/officeDocument/2006/relationships/image" Target="../media/image430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6C267-937E-1196-465D-DE101038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6A02E7-A6C5-B9AA-C8D4-38C06359D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578264"/>
            <a:ext cx="10713501" cy="1705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물질 안에 있는 전자 또는 공간에 있는 자유 전자나 이온들의 움직임 때문에 생기는 에너지의 한 형태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모든 전자기기는 동작하기 위해 전기를 </a:t>
            </a:r>
            <a:r>
              <a:rPr lang="ko-KR" altLang="en-US" dirty="0" err="1"/>
              <a:t>공급해줘야함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BEBE0C-753E-CC2B-794E-F1982697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0FB916-536B-AE22-A50F-FB490358145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C51ADB1-6ADD-450A-DE9B-36FF770A6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854" y="1459064"/>
            <a:ext cx="5590561" cy="236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633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13C23-40AB-7CAF-70BB-31F0E8145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교류 직류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71FCFE9-A2BD-0A18-C099-F820A34A5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736652"/>
            <a:ext cx="10515600" cy="4606834"/>
          </a:xfrm>
        </p:spPr>
      </p:pic>
    </p:spTree>
    <p:extLst>
      <p:ext uri="{BB962C8B-B14F-4D97-AF65-F5344CB8AC3E}">
        <p14:creationId xmlns:p14="http://schemas.microsoft.com/office/powerpoint/2010/main" val="1641844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89447-C255-08A8-C0A7-B7D854861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BC3D9-88DE-C035-E9D4-E4072729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디지털 로직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C8341C-E191-E554-3476-296FE4B49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317" y="1599913"/>
            <a:ext cx="4605436" cy="451023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3F3FE6E-3E1C-72E8-7F0C-23E34E7C874E}"/>
              </a:ext>
            </a:extLst>
          </p:cNvPr>
          <p:cNvCxnSpPr>
            <a:cxnSpLocks/>
          </p:cNvCxnSpPr>
          <p:nvPr/>
        </p:nvCxnSpPr>
        <p:spPr>
          <a:xfrm>
            <a:off x="3881928" y="2197408"/>
            <a:ext cx="3792829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72D93EF-43E3-930E-01AD-348D90DB901B}"/>
              </a:ext>
            </a:extLst>
          </p:cNvPr>
          <p:cNvCxnSpPr>
            <a:cxnSpLocks/>
          </p:cNvCxnSpPr>
          <p:nvPr/>
        </p:nvCxnSpPr>
        <p:spPr>
          <a:xfrm>
            <a:off x="3881928" y="2547716"/>
            <a:ext cx="3792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5BE758-4982-F29F-6533-5D36D83F3822}"/>
              </a:ext>
            </a:extLst>
          </p:cNvPr>
          <p:cNvSpPr txBox="1"/>
          <p:nvPr/>
        </p:nvSpPr>
        <p:spPr>
          <a:xfrm>
            <a:off x="7674757" y="1836776"/>
            <a:ext cx="184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High(3.3v~5v)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7A06E-B7DF-9868-1419-F114F2B7B7B2}"/>
              </a:ext>
            </a:extLst>
          </p:cNvPr>
          <p:cNvSpPr txBox="1"/>
          <p:nvPr/>
        </p:nvSpPr>
        <p:spPr>
          <a:xfrm>
            <a:off x="7698093" y="2547716"/>
            <a:ext cx="1106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Low(0v)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5DF46-97E2-1A87-A979-2ED20F9F8D0D}"/>
              </a:ext>
            </a:extLst>
          </p:cNvPr>
          <p:cNvSpPr txBox="1"/>
          <p:nvPr/>
        </p:nvSpPr>
        <p:spPr>
          <a:xfrm>
            <a:off x="3054514" y="2363050"/>
            <a:ext cx="727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시간</a:t>
            </a:r>
          </a:p>
        </p:txBody>
      </p:sp>
    </p:spTree>
    <p:extLst>
      <p:ext uri="{BB962C8B-B14F-4D97-AF65-F5344CB8AC3E}">
        <p14:creationId xmlns:p14="http://schemas.microsoft.com/office/powerpoint/2010/main" val="120545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BB3CE-C6D0-DF93-DDF9-412DB4C5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대 수동소자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0E1750E-FB44-1EED-B631-E994C9E47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7529" y="1849679"/>
            <a:ext cx="2957976" cy="180748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2A94FA-97C5-E737-D8AC-CE11C200E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326" y="1785325"/>
            <a:ext cx="3285755" cy="19361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87D987-1A5D-2B57-7AEE-4A4E36C00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413" y="1849678"/>
            <a:ext cx="3079174" cy="18074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CFC172-DD1F-3002-6A0C-8155EBB85C71}"/>
              </a:ext>
            </a:extLst>
          </p:cNvPr>
          <p:cNvSpPr txBox="1"/>
          <p:nvPr/>
        </p:nvSpPr>
        <p:spPr>
          <a:xfrm>
            <a:off x="1799845" y="4443474"/>
            <a:ext cx="973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저항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F0657C-90C2-CBB6-0D49-BBC8C426201D}"/>
              </a:ext>
            </a:extLst>
          </p:cNvPr>
          <p:cNvSpPr txBox="1"/>
          <p:nvPr/>
        </p:nvSpPr>
        <p:spPr>
          <a:xfrm>
            <a:off x="5251753" y="446840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커패시터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9B652B-4D2F-D764-3D47-4DBE419CCFD7}"/>
              </a:ext>
            </a:extLst>
          </p:cNvPr>
          <p:cNvSpPr txBox="1"/>
          <p:nvPr/>
        </p:nvSpPr>
        <p:spPr>
          <a:xfrm>
            <a:off x="9181428" y="4468408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인덕터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434FD8-731F-9FA6-EAAA-36CF53FE1690}"/>
              </a:ext>
            </a:extLst>
          </p:cNvPr>
          <p:cNvSpPr txBox="1"/>
          <p:nvPr/>
        </p:nvSpPr>
        <p:spPr>
          <a:xfrm>
            <a:off x="807529" y="5351734"/>
            <a:ext cx="3275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전류가 흐르는 것을 방해함</a:t>
            </a:r>
            <a:endParaRPr lang="en-US" altLang="ko-KR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E293DC-D2CA-E25F-1809-33BD7ED73229}"/>
              </a:ext>
            </a:extLst>
          </p:cNvPr>
          <p:cNvSpPr txBox="1"/>
          <p:nvPr/>
        </p:nvSpPr>
        <p:spPr>
          <a:xfrm>
            <a:off x="4641451" y="5351734"/>
            <a:ext cx="31854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전기를 일시적으로 저장함</a:t>
            </a:r>
            <a:endParaRPr lang="en-US" altLang="ko-KR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AD688-DECD-D073-1583-F783A02026AE}"/>
              </a:ext>
            </a:extLst>
          </p:cNvPr>
          <p:cNvSpPr txBox="1"/>
          <p:nvPr/>
        </p:nvSpPr>
        <p:spPr>
          <a:xfrm>
            <a:off x="8597937" y="5288166"/>
            <a:ext cx="3018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전류의 변화를 이용하여 </a:t>
            </a:r>
            <a:endParaRPr lang="en-US" altLang="ko-KR" sz="2000" dirty="0"/>
          </a:p>
          <a:p>
            <a:r>
              <a:rPr lang="ko-KR" altLang="en-US" sz="2000" dirty="0"/>
              <a:t>전압의 변화를 유도함</a:t>
            </a:r>
            <a:endParaRPr lang="en-US" altLang="ko-KR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73263-FD99-8CC9-160C-0922DC40F332}"/>
              </a:ext>
            </a:extLst>
          </p:cNvPr>
          <p:cNvSpPr txBox="1"/>
          <p:nvPr/>
        </p:nvSpPr>
        <p:spPr>
          <a:xfrm>
            <a:off x="5394585" y="2934732"/>
            <a:ext cx="346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+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8F4B8-C23E-6242-404A-FE714BED9A4F}"/>
              </a:ext>
            </a:extLst>
          </p:cNvPr>
          <p:cNvSpPr txBox="1"/>
          <p:nvPr/>
        </p:nvSpPr>
        <p:spPr>
          <a:xfrm>
            <a:off x="6450863" y="2934732"/>
            <a:ext cx="346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-</a:t>
            </a:r>
            <a:endParaRPr lang="ko-KR" altLang="en-US" sz="4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648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53F5B-7EF5-25D4-5DBD-B37D2535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저항의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602A70-55E0-D039-BADB-E09180D6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C98DE7-0789-C1D5-2435-EA24D71EC33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89766F-4018-36CE-7F00-355DD63E29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57" y="1873324"/>
            <a:ext cx="1908288" cy="190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0DF3FF-D02B-5804-3C7E-C4D0BD2C1E55}"/>
              </a:ext>
            </a:extLst>
          </p:cNvPr>
          <p:cNvSpPr txBox="1"/>
          <p:nvPr/>
        </p:nvSpPr>
        <p:spPr>
          <a:xfrm>
            <a:off x="405005" y="4618838"/>
            <a:ext cx="2781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탄소 피막 저항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A1835-B048-C5C4-2F86-04137FFB8726}"/>
              </a:ext>
            </a:extLst>
          </p:cNvPr>
          <p:cNvSpPr txBox="1"/>
          <p:nvPr/>
        </p:nvSpPr>
        <p:spPr>
          <a:xfrm>
            <a:off x="245668" y="5324227"/>
            <a:ext cx="34932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세라믹 로드에 탄소분말</a:t>
            </a:r>
            <a:r>
              <a:rPr lang="en-US" altLang="ko-KR" sz="2000" b="0" i="0" dirty="0">
                <a:solidFill>
                  <a:srgbClr val="555555"/>
                </a:solidFill>
                <a:effectLst/>
                <a:latin typeface="AppleSDGothicNeo"/>
              </a:rPr>
              <a:t>, </a:t>
            </a:r>
          </a:p>
          <a:p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가격이 저렴하기 때문에 널리 </a:t>
            </a:r>
            <a:endParaRPr lang="en-US" altLang="ko-KR" sz="2000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사용되는 형태의 종류</a:t>
            </a:r>
            <a:endParaRPr lang="en-US" altLang="ko-KR" sz="20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4ACE2EE-119F-C61F-433E-211E09570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631" y="2041655"/>
            <a:ext cx="2095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9E56B4-5EED-9F8F-0E12-3E2721BC240F}"/>
              </a:ext>
            </a:extLst>
          </p:cNvPr>
          <p:cNvSpPr txBox="1"/>
          <p:nvPr/>
        </p:nvSpPr>
        <p:spPr>
          <a:xfrm>
            <a:off x="4174666" y="5324227"/>
            <a:ext cx="2864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저항의 소형화</a:t>
            </a:r>
            <a:endParaRPr lang="en-US" altLang="ko-KR" sz="2000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정격전력이 작다는 특징</a:t>
            </a:r>
            <a:endParaRPr lang="en-US" altLang="ko-KR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8D30C-A94A-19ED-DB35-C20D82C391E2}"/>
              </a:ext>
            </a:extLst>
          </p:cNvPr>
          <p:cNvSpPr txBox="1"/>
          <p:nvPr/>
        </p:nvSpPr>
        <p:spPr>
          <a:xfrm>
            <a:off x="4283898" y="4570821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칩 저항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6793156-7E03-6A29-9AC4-E8C2AA0BC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219" y="1770192"/>
            <a:ext cx="20955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B003DE-5CDE-9CB3-4FCE-142356D08B4D}"/>
              </a:ext>
            </a:extLst>
          </p:cNvPr>
          <p:cNvSpPr txBox="1"/>
          <p:nvPr/>
        </p:nvSpPr>
        <p:spPr>
          <a:xfrm>
            <a:off x="8293731" y="5324227"/>
            <a:ext cx="37497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손잡이를 돌리면 가운데 위치한 </a:t>
            </a:r>
            <a:endParaRPr lang="en-US" altLang="ko-KR" sz="2000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다리 형태의 다이얼 와이퍼가 </a:t>
            </a:r>
            <a:endParaRPr lang="en-US" altLang="ko-KR" sz="2000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회전하게 되면서 </a:t>
            </a:r>
            <a:r>
              <a:rPr lang="ko-KR" altLang="en-US" sz="2000" b="0" i="0" dirty="0" err="1">
                <a:solidFill>
                  <a:srgbClr val="555555"/>
                </a:solidFill>
                <a:effectLst/>
                <a:latin typeface="AppleSDGothicNeo"/>
              </a:rPr>
              <a:t>저항값을</a:t>
            </a:r>
            <a:r>
              <a:rPr lang="ko-KR" altLang="en-US" sz="2000" b="0" i="0" dirty="0">
                <a:solidFill>
                  <a:srgbClr val="555555"/>
                </a:solidFill>
                <a:effectLst/>
                <a:latin typeface="AppleSDGothicNeo"/>
              </a:rPr>
              <a:t> 조절</a:t>
            </a:r>
            <a:endParaRPr lang="en-US" altLang="ko-KR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734CD6-C709-7A20-9DE9-D5821C1A9A3F}"/>
              </a:ext>
            </a:extLst>
          </p:cNvPr>
          <p:cNvSpPr txBox="1"/>
          <p:nvPr/>
        </p:nvSpPr>
        <p:spPr>
          <a:xfrm>
            <a:off x="9073104" y="4558295"/>
            <a:ext cx="1877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가변 저항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119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5A431-EE14-8ADA-4700-84E7C9E0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캐패시터의</a:t>
            </a:r>
            <a:r>
              <a:rPr lang="ko-KR" altLang="en-US" dirty="0"/>
              <a:t>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0E38E-B0DC-930E-7E9B-FE78B942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7FDEF4-E6A4-85FE-287B-E4EE7E48658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78A01-0854-3314-AEB2-D42F8B689B69}"/>
              </a:ext>
            </a:extLst>
          </p:cNvPr>
          <p:cNvSpPr txBox="1"/>
          <p:nvPr/>
        </p:nvSpPr>
        <p:spPr>
          <a:xfrm>
            <a:off x="405005" y="4618838"/>
            <a:ext cx="3060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세라믹 </a:t>
            </a:r>
            <a:r>
              <a:rPr lang="ko-KR" altLang="en-US" sz="3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캐패시터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04E07-9500-3E61-6E83-34ED467D2174}"/>
              </a:ext>
            </a:extLst>
          </p:cNvPr>
          <p:cNvSpPr txBox="1"/>
          <p:nvPr/>
        </p:nvSpPr>
        <p:spPr>
          <a:xfrm>
            <a:off x="245668" y="5324227"/>
            <a:ext cx="3121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세라믹을 </a:t>
            </a:r>
            <a:r>
              <a:rPr lang="ko-KR" altLang="en-US" sz="2000" dirty="0" err="1"/>
              <a:t>적층식으로</a:t>
            </a:r>
            <a:r>
              <a:rPr lang="ko-KR" altLang="en-US" sz="2000" dirty="0"/>
              <a:t> 구현</a:t>
            </a:r>
            <a:endParaRPr lang="en-US" altLang="ko-KR" sz="2000" dirty="0"/>
          </a:p>
          <a:p>
            <a:r>
              <a:rPr lang="ko-KR" altLang="en-US" sz="2000" dirty="0"/>
              <a:t>극성이 없음</a:t>
            </a:r>
            <a:endParaRPr lang="en-US" altLang="ko-KR" sz="2000" dirty="0"/>
          </a:p>
          <a:p>
            <a:r>
              <a:rPr lang="ko-KR" altLang="en-US" sz="2000" dirty="0"/>
              <a:t>가장 흔하게 사용</a:t>
            </a: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368F86-995B-C7A1-1802-0BBB4F7E1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626" y="2056486"/>
            <a:ext cx="2535127" cy="205570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989C6662-8CCB-C28A-3785-B65D4915C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25" y="2125182"/>
            <a:ext cx="2879576" cy="209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C308EC-6A1F-F74E-C796-BE3C10986CAB}"/>
              </a:ext>
            </a:extLst>
          </p:cNvPr>
          <p:cNvSpPr txBox="1"/>
          <p:nvPr/>
        </p:nvSpPr>
        <p:spPr>
          <a:xfrm>
            <a:off x="4461203" y="4560585"/>
            <a:ext cx="2666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전해 </a:t>
            </a:r>
            <a:r>
              <a:rPr lang="ko-KR" altLang="en-US" sz="3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캐패시터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DC9A16-04FC-4872-784E-5B5B8830767D}"/>
              </a:ext>
            </a:extLst>
          </p:cNvPr>
          <p:cNvSpPr txBox="1"/>
          <p:nvPr/>
        </p:nvSpPr>
        <p:spPr>
          <a:xfrm>
            <a:off x="3767172" y="5283965"/>
            <a:ext cx="36920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세라믹 </a:t>
            </a:r>
            <a:r>
              <a:rPr lang="ko-KR" altLang="en-US" sz="2000" dirty="0" err="1"/>
              <a:t>캐패시터에</a:t>
            </a:r>
            <a:r>
              <a:rPr lang="ko-KR" altLang="en-US" sz="2000" dirty="0"/>
              <a:t> 비해 용량과</a:t>
            </a:r>
            <a:endParaRPr lang="en-US" altLang="ko-KR" sz="2000" dirty="0"/>
          </a:p>
          <a:p>
            <a:r>
              <a:rPr lang="ko-KR" altLang="en-US" sz="2000" dirty="0"/>
              <a:t> 내압이 큼</a:t>
            </a:r>
            <a:endParaRPr lang="en-US" altLang="ko-KR" sz="2000" dirty="0"/>
          </a:p>
          <a:p>
            <a:r>
              <a:rPr lang="ko-KR" altLang="en-US" sz="2000" dirty="0"/>
              <a:t>극성이 있다</a:t>
            </a:r>
            <a:r>
              <a:rPr lang="en-US" altLang="ko-KR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60D084-B238-1FE8-22D5-5D3A600C35B6}"/>
              </a:ext>
            </a:extLst>
          </p:cNvPr>
          <p:cNvSpPr txBox="1"/>
          <p:nvPr/>
        </p:nvSpPr>
        <p:spPr>
          <a:xfrm>
            <a:off x="8369922" y="4560584"/>
            <a:ext cx="2666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탄탈</a:t>
            </a:r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3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캐패시터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B5155-F158-3391-1DA0-20CC2BD66AA7}"/>
              </a:ext>
            </a:extLst>
          </p:cNvPr>
          <p:cNvSpPr txBox="1"/>
          <p:nvPr/>
        </p:nvSpPr>
        <p:spPr>
          <a:xfrm>
            <a:off x="8203870" y="5264511"/>
            <a:ext cx="39036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온도 안정성이 좋다</a:t>
            </a:r>
            <a:r>
              <a:rPr lang="en-US" altLang="ko-KR" sz="2000" b="0" i="0" dirty="0">
                <a:solidFill>
                  <a:srgbClr val="222222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ko-KR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용량 대비 사이즈가 작은 편이다</a:t>
            </a:r>
            <a:r>
              <a:rPr lang="en-US" altLang="ko-KR" sz="2000" b="0" i="0" dirty="0">
                <a:solidFill>
                  <a:srgbClr val="222222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en-US" altLang="ko-KR" sz="2000" dirty="0">
                <a:solidFill>
                  <a:srgbClr val="222222"/>
                </a:solidFill>
                <a:latin typeface="-apple-system"/>
              </a:rPr>
              <a:t>SR</a:t>
            </a:r>
            <a:r>
              <a:rPr lang="ko-KR" altLang="en-US" sz="2000" dirty="0">
                <a:solidFill>
                  <a:srgbClr val="222222"/>
                </a:solidFill>
                <a:latin typeface="-apple-system"/>
              </a:rPr>
              <a:t>이 낮다</a:t>
            </a:r>
            <a:endParaRPr lang="en-US" altLang="ko-KR" sz="2000" dirty="0">
              <a:solidFill>
                <a:srgbClr val="222222"/>
              </a:solidFill>
              <a:latin typeface="-apple-system"/>
            </a:endParaRPr>
          </a:p>
          <a:p>
            <a:pPr algn="l"/>
            <a:r>
              <a:rPr lang="ko-KR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극성이 있다</a:t>
            </a:r>
            <a:r>
              <a:rPr lang="en-US" altLang="ko-KR" sz="2000" b="0" i="0" dirty="0">
                <a:solidFill>
                  <a:srgbClr val="222222"/>
                </a:solidFill>
                <a:effectLst/>
                <a:latin typeface="-apple-system"/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4056313-BDA4-C593-49FF-85F0A5299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982" y="2399817"/>
            <a:ext cx="4045158" cy="1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73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8274-64DD-DAB1-7787-23BA5C60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인덕터의 종류</a:t>
            </a:r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12ACF62C-C3FD-7CE0-35A1-3FCF00DC1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231" y="2046820"/>
            <a:ext cx="2159111" cy="1828894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3B5A28-7973-29F1-2552-CFD6B7C9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02DB9F-D613-58F2-E7F2-5DA5BDDD1A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25E05-F004-0638-A01E-47DF64276474}"/>
              </a:ext>
            </a:extLst>
          </p:cNvPr>
          <p:cNvSpPr txBox="1"/>
          <p:nvPr/>
        </p:nvSpPr>
        <p:spPr>
          <a:xfrm>
            <a:off x="489502" y="4430948"/>
            <a:ext cx="1877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칩 인덕터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905FE-46E9-8ECB-2F59-F78B1C85A09D}"/>
              </a:ext>
            </a:extLst>
          </p:cNvPr>
          <p:cNvSpPr txBox="1"/>
          <p:nvPr/>
        </p:nvSpPr>
        <p:spPr>
          <a:xfrm>
            <a:off x="330165" y="5136337"/>
            <a:ext cx="3730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코일과 </a:t>
            </a:r>
            <a:r>
              <a:rPr lang="ko-KR" altLang="en-US" sz="20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코아를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내장한 </a:t>
            </a:r>
            <a:endParaRPr lang="en-US" altLang="ko-KR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r>
              <a:rPr lang="ko-KR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칩패키지 형태의 인덕터로 형태</a:t>
            </a:r>
            <a:endParaRPr lang="en-US" altLang="ko-KR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2B08C-154A-4434-CF70-7B1AC76744E5}"/>
              </a:ext>
            </a:extLst>
          </p:cNvPr>
          <p:cNvSpPr txBox="1"/>
          <p:nvPr/>
        </p:nvSpPr>
        <p:spPr>
          <a:xfrm>
            <a:off x="4619098" y="4372694"/>
            <a:ext cx="2350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i="0" dirty="0">
                <a:effectLst/>
                <a:latin typeface="Helvetica" panose="020B0604020202020204" pitchFamily="34" charset="0"/>
              </a:rPr>
              <a:t>파워 인덕터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D523A0-968F-0861-D14A-F05169E9C938}"/>
              </a:ext>
            </a:extLst>
          </p:cNvPr>
          <p:cNvSpPr txBox="1"/>
          <p:nvPr/>
        </p:nvSpPr>
        <p:spPr>
          <a:xfrm>
            <a:off x="4060673" y="5090535"/>
            <a:ext cx="3801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파워 인덕터는 주로 전원회로에 </a:t>
            </a:r>
            <a:endParaRPr lang="en-US" altLang="ko-KR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r>
              <a:rPr lang="ko-KR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많이 쓰이는 인덕터</a:t>
            </a:r>
            <a:endParaRPr lang="en-US" altLang="ko-KR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E56820-C16D-D23C-D818-A0721301F444}"/>
              </a:ext>
            </a:extLst>
          </p:cNvPr>
          <p:cNvSpPr txBox="1"/>
          <p:nvPr/>
        </p:nvSpPr>
        <p:spPr>
          <a:xfrm>
            <a:off x="8696525" y="4372694"/>
            <a:ext cx="3005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i="0" dirty="0" err="1">
                <a:effectLst/>
                <a:latin typeface="Helvetica" panose="020B0604020202020204" pitchFamily="34" charset="0"/>
              </a:rPr>
              <a:t>링코일</a:t>
            </a:r>
            <a:r>
              <a:rPr lang="ko-KR" altLang="en-US" sz="3200" b="1" i="0" dirty="0">
                <a:effectLst/>
                <a:latin typeface="Helvetica" panose="020B0604020202020204" pitchFamily="34" charset="0"/>
              </a:rPr>
              <a:t> 인덕터</a:t>
            </a:r>
            <a:endParaRPr lang="en-US" altLang="ko-KR" sz="3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C19DB2-F585-0041-14FB-068E7889E5A9}"/>
              </a:ext>
            </a:extLst>
          </p:cNvPr>
          <p:cNvSpPr txBox="1"/>
          <p:nvPr/>
        </p:nvSpPr>
        <p:spPr>
          <a:xfrm>
            <a:off x="7861714" y="4777700"/>
            <a:ext cx="44550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ko-KR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algn="l"/>
            <a:r>
              <a:rPr lang="ko-KR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회로의 특정부분에 전류가 많이 </a:t>
            </a:r>
            <a:endParaRPr lang="en-US" altLang="ko-KR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algn="l"/>
            <a:r>
              <a:rPr lang="ko-KR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흐르는</a:t>
            </a:r>
            <a:r>
              <a:rPr lang="en-US" altLang="ko-KR" sz="2000" dirty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곳에 인덕터를 사용해야 할</a:t>
            </a:r>
            <a:r>
              <a:rPr lang="ko-KR" altLang="en-US" sz="2000" dirty="0">
                <a:solidFill>
                  <a:srgbClr val="000000"/>
                </a:solidFill>
                <a:latin typeface="Helvetica" panose="020B0604020202020204" pitchFamily="34" charset="0"/>
              </a:rPr>
              <a:t> 때</a:t>
            </a:r>
            <a:endParaRPr lang="en-US" altLang="ko-KR" sz="2000" b="0" i="0" dirty="0">
              <a:solidFill>
                <a:srgbClr val="222222"/>
              </a:solidFill>
              <a:effectLst/>
              <a:latin typeface="-apple-system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73B48BB-D633-7B14-A2AD-D5D41D1C1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409" y="1569293"/>
            <a:ext cx="2350323" cy="176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9BF86E6-8184-6652-C116-2E2D657E5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044" y="1740242"/>
            <a:ext cx="1949550" cy="19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9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4C756-B841-A384-53E2-6AEC17F6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저항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3AC9C28-AC3B-7B05-B406-5049B17F2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33F27BE-4C91-553A-EA08-54F7C0CD1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867" y="1959281"/>
            <a:ext cx="5481912" cy="357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15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3074B-F049-1461-55AC-FCC760E3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옴의 법칙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54B6477-CA0B-2C4B-5C6B-2AF993198332}"/>
              </a:ext>
            </a:extLst>
          </p:cNvPr>
          <p:cNvSpPr/>
          <p:nvPr/>
        </p:nvSpPr>
        <p:spPr>
          <a:xfrm>
            <a:off x="3825123" y="1454449"/>
            <a:ext cx="4179237" cy="4062636"/>
          </a:xfrm>
          <a:prstGeom prst="ellipse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2A94364-E3E1-48BD-67A6-323A1E059560}"/>
              </a:ext>
            </a:extLst>
          </p:cNvPr>
          <p:cNvCxnSpPr>
            <a:cxnSpLocks/>
          </p:cNvCxnSpPr>
          <p:nvPr/>
        </p:nvCxnSpPr>
        <p:spPr>
          <a:xfrm>
            <a:off x="3793293" y="3485767"/>
            <a:ext cx="4179237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CA56D77-E560-FE66-45F5-6D6007EB372D}"/>
              </a:ext>
            </a:extLst>
          </p:cNvPr>
          <p:cNvCxnSpPr>
            <a:cxnSpLocks/>
            <a:stCxn id="4" idx="4"/>
          </p:cNvCxnSpPr>
          <p:nvPr/>
        </p:nvCxnSpPr>
        <p:spPr>
          <a:xfrm flipV="1">
            <a:off x="5914742" y="3485767"/>
            <a:ext cx="15343" cy="20313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238B290-FE9A-3584-BE52-6CA7D9942138}"/>
              </a:ext>
            </a:extLst>
          </p:cNvPr>
          <p:cNvSpPr txBox="1"/>
          <p:nvPr/>
        </p:nvSpPr>
        <p:spPr>
          <a:xfrm>
            <a:off x="5383305" y="2316215"/>
            <a:ext cx="1425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전압 </a:t>
            </a:r>
            <a:r>
              <a:rPr lang="en-US" altLang="ko-KR" sz="3200" b="1" dirty="0"/>
              <a:t>V</a:t>
            </a:r>
            <a:endParaRPr lang="ko-KR" altLang="en-US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C3BC7-B1AF-B124-C2E8-DD96CE0DE97C}"/>
              </a:ext>
            </a:extLst>
          </p:cNvPr>
          <p:cNvSpPr txBox="1"/>
          <p:nvPr/>
        </p:nvSpPr>
        <p:spPr>
          <a:xfrm>
            <a:off x="4296819" y="3916650"/>
            <a:ext cx="1276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전류 </a:t>
            </a:r>
            <a:r>
              <a:rPr lang="en-US" altLang="ko-KR" sz="3200" b="1" dirty="0"/>
              <a:t>I</a:t>
            </a:r>
            <a:endParaRPr lang="ko-KR" altLang="en-US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25B5B-EB7C-29AF-A766-D91EAE3E7E41}"/>
              </a:ext>
            </a:extLst>
          </p:cNvPr>
          <p:cNvSpPr txBox="1"/>
          <p:nvPr/>
        </p:nvSpPr>
        <p:spPr>
          <a:xfrm>
            <a:off x="6157499" y="3916650"/>
            <a:ext cx="14173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저항 </a:t>
            </a:r>
            <a:r>
              <a:rPr lang="en-US" altLang="ko-KR" sz="3200" b="1" dirty="0"/>
              <a:t>R</a:t>
            </a:r>
            <a:endParaRPr lang="ko-KR" altLang="en-US" sz="3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3A64DB-2B62-9E48-82DE-64545A126693}"/>
              </a:ext>
            </a:extLst>
          </p:cNvPr>
          <p:cNvSpPr txBox="1"/>
          <p:nvPr/>
        </p:nvSpPr>
        <p:spPr>
          <a:xfrm>
            <a:off x="1778102" y="5799071"/>
            <a:ext cx="8254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전압</a:t>
            </a:r>
            <a:r>
              <a:rPr lang="en-US" altLang="ko-KR" sz="3200" dirty="0"/>
              <a:t>, </a:t>
            </a:r>
            <a:r>
              <a:rPr lang="ko-KR" altLang="en-US" sz="3200" dirty="0"/>
              <a:t>전류</a:t>
            </a:r>
            <a:r>
              <a:rPr lang="en-US" altLang="ko-KR" sz="3200" dirty="0"/>
              <a:t>, </a:t>
            </a:r>
            <a:r>
              <a:rPr lang="ko-KR" altLang="en-US" sz="3200" dirty="0"/>
              <a:t>저항의 상관관계를 나타낸 식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243727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B43BFF-534E-A7F9-00E6-6D4B1846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옴의 법칙 계산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4D9B0C-8753-8077-369F-4E4EF0CB3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5" y="5172063"/>
            <a:ext cx="10515600" cy="1097757"/>
          </a:xfrm>
        </p:spPr>
        <p:txBody>
          <a:bodyPr>
            <a:noAutofit/>
          </a:bodyPr>
          <a:lstStyle/>
          <a:p>
            <a:r>
              <a:rPr lang="ko-KR" altLang="en-US" sz="3200" dirty="0"/>
              <a:t>위 회로의 전압</a:t>
            </a:r>
            <a:r>
              <a:rPr lang="en-US" altLang="ko-KR" sz="3200" dirty="0"/>
              <a:t>/</a:t>
            </a:r>
            <a:r>
              <a:rPr lang="ko-KR" altLang="en-US" sz="3200" dirty="0"/>
              <a:t>전류는</a:t>
            </a:r>
            <a:r>
              <a:rPr lang="en-US" altLang="ko-KR" sz="3200" dirty="0"/>
              <a:t>?</a:t>
            </a:r>
          </a:p>
          <a:p>
            <a:r>
              <a:rPr lang="en-US" altLang="ko-KR" sz="3200" dirty="0"/>
              <a:t>R1 </a:t>
            </a:r>
            <a:r>
              <a:rPr lang="ko-KR" altLang="en-US" sz="3200" dirty="0"/>
              <a:t>저항의 양끝단에 걸리는 전압</a:t>
            </a:r>
            <a:r>
              <a:rPr lang="en-US" altLang="ko-KR" sz="3200" dirty="0"/>
              <a:t>/</a:t>
            </a:r>
            <a:r>
              <a:rPr lang="ko-KR" altLang="en-US" sz="3200" dirty="0"/>
              <a:t>전류는</a:t>
            </a:r>
            <a:r>
              <a:rPr lang="en-US" altLang="ko-KR" sz="3200" dirty="0"/>
              <a:t>?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58B350-7EAF-D8A5-DEDC-4D5F60D1A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63" y="1549839"/>
            <a:ext cx="8458635" cy="349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31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82B3C-9F62-B4EF-906E-D3856754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AB587-8916-64FC-13B7-F9F6F276B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옴의 법칙 계산 정답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51080-FD6B-7B56-A185-C28001A28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4" y="5183854"/>
            <a:ext cx="10515600" cy="1420374"/>
          </a:xfrm>
        </p:spPr>
        <p:txBody>
          <a:bodyPr>
            <a:noAutofit/>
          </a:bodyPr>
          <a:lstStyle/>
          <a:p>
            <a:r>
              <a:rPr lang="ko-KR" altLang="en-US" sz="3200" dirty="0"/>
              <a:t>위 회로의 전압</a:t>
            </a:r>
            <a:r>
              <a:rPr lang="en-US" altLang="ko-KR" sz="3200" dirty="0"/>
              <a:t>/</a:t>
            </a:r>
            <a:r>
              <a:rPr lang="ko-KR" altLang="en-US" sz="3200" dirty="0"/>
              <a:t>전류는</a:t>
            </a:r>
            <a:r>
              <a:rPr lang="en-US" altLang="ko-KR" sz="3200" dirty="0"/>
              <a:t>?</a:t>
            </a:r>
          </a:p>
          <a:p>
            <a:r>
              <a:rPr lang="en-US" altLang="ko-KR" sz="3200" dirty="0"/>
              <a:t>R1 </a:t>
            </a:r>
            <a:r>
              <a:rPr lang="ko-KR" altLang="en-US" sz="3200" dirty="0"/>
              <a:t>저항의 양끝단에 걸리는 전압</a:t>
            </a:r>
            <a:r>
              <a:rPr lang="en-US" altLang="ko-KR" sz="3200" dirty="0"/>
              <a:t>/</a:t>
            </a:r>
            <a:r>
              <a:rPr lang="ko-KR" altLang="en-US" sz="3200" dirty="0"/>
              <a:t>전류는</a:t>
            </a:r>
            <a:r>
              <a:rPr lang="en-US" altLang="ko-KR" sz="3200" dirty="0"/>
              <a:t>?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FC7BE5-4535-480C-1B88-2288787E4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70" y="1551278"/>
            <a:ext cx="8458635" cy="349903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57FC01C-8ADA-879C-05DB-648BA71326BF}"/>
              </a:ext>
            </a:extLst>
          </p:cNvPr>
          <p:cNvCxnSpPr>
            <a:cxnSpLocks/>
          </p:cNvCxnSpPr>
          <p:nvPr/>
        </p:nvCxnSpPr>
        <p:spPr>
          <a:xfrm flipH="1" flipV="1">
            <a:off x="3741588" y="1674146"/>
            <a:ext cx="133350" cy="565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809AF44-1311-DC9D-9BFB-1E9A02C8F902}"/>
              </a:ext>
            </a:extLst>
          </p:cNvPr>
          <p:cNvCxnSpPr>
            <a:cxnSpLocks/>
          </p:cNvCxnSpPr>
          <p:nvPr/>
        </p:nvCxnSpPr>
        <p:spPr>
          <a:xfrm flipV="1">
            <a:off x="4827438" y="1686846"/>
            <a:ext cx="139700" cy="5651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7692BDD-FE66-CB8E-B8BF-B50F713E4207}"/>
              </a:ext>
            </a:extLst>
          </p:cNvPr>
          <p:cNvSpPr txBox="1"/>
          <p:nvPr/>
        </p:nvSpPr>
        <p:spPr>
          <a:xfrm>
            <a:off x="3379638" y="1186899"/>
            <a:ext cx="72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10v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E233FE-4CC3-7412-3A4A-93E2DD1475FF}"/>
              </a:ext>
            </a:extLst>
          </p:cNvPr>
          <p:cNvSpPr txBox="1"/>
          <p:nvPr/>
        </p:nvSpPr>
        <p:spPr>
          <a:xfrm>
            <a:off x="4827438" y="1180180"/>
            <a:ext cx="72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0v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EEB098-1ECE-5CD8-E9D6-3E8641A24265}"/>
              </a:ext>
            </a:extLst>
          </p:cNvPr>
          <p:cNvSpPr txBox="1"/>
          <p:nvPr/>
        </p:nvSpPr>
        <p:spPr>
          <a:xfrm>
            <a:off x="8907529" y="2629603"/>
            <a:ext cx="1085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C00000"/>
                </a:solidFill>
              </a:rPr>
              <a:t>10v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DD7348-EAC5-88C7-6392-631CB841F3A4}"/>
              </a:ext>
            </a:extLst>
          </p:cNvPr>
          <p:cNvSpPr txBox="1"/>
          <p:nvPr/>
        </p:nvSpPr>
        <p:spPr>
          <a:xfrm>
            <a:off x="8596487" y="3868915"/>
            <a:ext cx="853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C00000"/>
                </a:solidFill>
              </a:rPr>
              <a:t>5</a:t>
            </a:r>
            <a:r>
              <a:rPr lang="el-GR" altLang="ko-KR" sz="32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Ω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8023B3-7785-3255-57AE-362AEF243428}"/>
              </a:ext>
            </a:extLst>
          </p:cNvPr>
          <p:cNvSpPr txBox="1"/>
          <p:nvPr/>
        </p:nvSpPr>
        <p:spPr>
          <a:xfrm>
            <a:off x="7751830" y="3857367"/>
            <a:ext cx="1085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C00000"/>
                </a:solidFill>
              </a:rPr>
              <a:t>2A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31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14C37-8BA3-AC4D-420A-435BD9F6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직렬회로 계산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2E2B0DD4-EB69-D164-1D01-3D9EA3792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07168" y="1362806"/>
            <a:ext cx="4616687" cy="3264068"/>
          </a:xfr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3365C84-DBA3-D14C-7D1E-53ACC6081A92}"/>
              </a:ext>
            </a:extLst>
          </p:cNvPr>
          <p:cNvSpPr txBox="1">
            <a:spLocks/>
          </p:cNvSpPr>
          <p:nvPr/>
        </p:nvSpPr>
        <p:spPr>
          <a:xfrm>
            <a:off x="988218" y="5257800"/>
            <a:ext cx="10515600" cy="1137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위 회로의 전압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전류는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</a:p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R1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R2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저항의 양끝단에 걸리는 전압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전류는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2845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4C5BC-4925-0082-A02B-148A5B6B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341F1-0619-3AA3-7909-EF81EE6E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직렬회로 계산 정답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36252E3-3F3E-2256-9C85-F290331BF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61241" y="2383193"/>
            <a:ext cx="4616687" cy="3264068"/>
          </a:xfr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B2CA6E6-9832-1858-DBC4-DB464DDACD1C}"/>
              </a:ext>
            </a:extLst>
          </p:cNvPr>
          <p:cNvCxnSpPr>
            <a:cxnSpLocks/>
          </p:cNvCxnSpPr>
          <p:nvPr/>
        </p:nvCxnSpPr>
        <p:spPr>
          <a:xfrm flipH="1" flipV="1">
            <a:off x="2890488" y="2399485"/>
            <a:ext cx="96762" cy="431367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8845DB-1D7B-76E2-3645-09A84C140D01}"/>
              </a:ext>
            </a:extLst>
          </p:cNvPr>
          <p:cNvSpPr txBox="1"/>
          <p:nvPr/>
        </p:nvSpPr>
        <p:spPr>
          <a:xfrm>
            <a:off x="2475251" y="1964509"/>
            <a:ext cx="83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24V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D5A2904-F046-3529-2951-BFBE16778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956" y="2615169"/>
            <a:ext cx="2867961" cy="2772058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6B67C42-CC2B-222E-A7F1-20537577C16A}"/>
              </a:ext>
            </a:extLst>
          </p:cNvPr>
          <p:cNvCxnSpPr>
            <a:cxnSpLocks/>
          </p:cNvCxnSpPr>
          <p:nvPr/>
        </p:nvCxnSpPr>
        <p:spPr>
          <a:xfrm flipH="1" flipV="1">
            <a:off x="4741547" y="2425175"/>
            <a:ext cx="96762" cy="431367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FB847C8F-DDAE-A971-9680-004F58A7F049}"/>
              </a:ext>
            </a:extLst>
          </p:cNvPr>
          <p:cNvSpPr/>
          <p:nvPr/>
        </p:nvSpPr>
        <p:spPr>
          <a:xfrm>
            <a:off x="3110622" y="2541713"/>
            <a:ext cx="2716604" cy="93875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595C59-51A6-81A0-1886-7CF230508608}"/>
              </a:ext>
            </a:extLst>
          </p:cNvPr>
          <p:cNvSpPr txBox="1"/>
          <p:nvPr/>
        </p:nvSpPr>
        <p:spPr>
          <a:xfrm>
            <a:off x="3964196" y="2574769"/>
            <a:ext cx="789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Arial" panose="020B0604020202020204" pitchFamily="34" charset="0"/>
              </a:rPr>
              <a:t>2</a:t>
            </a:r>
            <a:r>
              <a:rPr lang="en-US" altLang="ko-KR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00</a:t>
            </a:r>
            <a:r>
              <a:rPr lang="el-GR" altLang="ko-KR" sz="18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Ω</a:t>
            </a:r>
            <a:endParaRPr lang="ko-KR" altLang="en-US" sz="1800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D1A04-12DB-6AB3-EE6D-2D013347FDAD}"/>
              </a:ext>
            </a:extLst>
          </p:cNvPr>
          <p:cNvSpPr txBox="1"/>
          <p:nvPr/>
        </p:nvSpPr>
        <p:spPr>
          <a:xfrm>
            <a:off x="8453246" y="4541289"/>
            <a:ext cx="1275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200</a:t>
            </a:r>
            <a:r>
              <a:rPr lang="el-GR" altLang="ko-KR" sz="20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Ω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CF682-3A81-2B30-09C8-B49958D34E34}"/>
              </a:ext>
            </a:extLst>
          </p:cNvPr>
          <p:cNvSpPr txBox="1"/>
          <p:nvPr/>
        </p:nvSpPr>
        <p:spPr>
          <a:xfrm>
            <a:off x="8826507" y="3480466"/>
            <a:ext cx="957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24V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FC8A8F-E516-DA84-491D-CA79BD2F28AA}"/>
              </a:ext>
            </a:extLst>
          </p:cNvPr>
          <p:cNvSpPr txBox="1"/>
          <p:nvPr/>
        </p:nvSpPr>
        <p:spPr>
          <a:xfrm>
            <a:off x="7414265" y="4541289"/>
            <a:ext cx="1412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120mA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604384-1B4F-4E51-51B0-BE25A6DB9DCD}"/>
              </a:ext>
            </a:extLst>
          </p:cNvPr>
          <p:cNvSpPr txBox="1"/>
          <p:nvPr/>
        </p:nvSpPr>
        <p:spPr>
          <a:xfrm>
            <a:off x="3287476" y="3784394"/>
            <a:ext cx="3205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120 X 100 = 12000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5D44D6-D64D-4340-5ADE-130E3277C82A}"/>
              </a:ext>
            </a:extLst>
          </p:cNvPr>
          <p:cNvSpPr txBox="1"/>
          <p:nvPr/>
        </p:nvSpPr>
        <p:spPr>
          <a:xfrm>
            <a:off x="4358857" y="1985001"/>
            <a:ext cx="83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12V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878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48D3-22C2-6F38-6438-37573F396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AF5CC-7C47-B4F7-AA94-94E91F23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병렬회로 계산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783668D-9171-F768-71C4-AF06F4E865E9}"/>
              </a:ext>
            </a:extLst>
          </p:cNvPr>
          <p:cNvSpPr txBox="1">
            <a:spLocks/>
          </p:cNvSpPr>
          <p:nvPr/>
        </p:nvSpPr>
        <p:spPr>
          <a:xfrm>
            <a:off x="959643" y="5459512"/>
            <a:ext cx="10515600" cy="1137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위 회로의 전압</a:t>
            </a:r>
            <a:r>
              <a:rPr lang="en-US" altLang="ko-KR" dirty="0"/>
              <a:t>/</a:t>
            </a:r>
            <a:r>
              <a:rPr lang="ko-KR" altLang="en-US" dirty="0"/>
              <a:t>전류는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R1 </a:t>
            </a:r>
            <a:r>
              <a:rPr lang="ko-KR" altLang="en-US" dirty="0"/>
              <a:t>과 </a:t>
            </a:r>
            <a:r>
              <a:rPr lang="en-US" altLang="ko-KR" dirty="0"/>
              <a:t>R2 </a:t>
            </a:r>
            <a:r>
              <a:rPr lang="ko-KR" altLang="en-US" dirty="0"/>
              <a:t>저항의 양끝단에 걸리는 전압</a:t>
            </a:r>
            <a:r>
              <a:rPr lang="en-US" altLang="ko-KR" dirty="0"/>
              <a:t>/</a:t>
            </a:r>
            <a:r>
              <a:rPr lang="ko-KR" altLang="en-US" dirty="0"/>
              <a:t>전류는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3" name="내용 개체 틀 9">
            <a:extLst>
              <a:ext uri="{FF2B5EF4-FFF2-40B4-BE49-F238E27FC236}">
                <a16:creationId xmlns:a16="http://schemas.microsoft.com/office/drawing/2014/main" id="{37402EA4-DF16-6A42-1372-39A68BBBC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527" y="2126198"/>
            <a:ext cx="2887899" cy="28271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689C629-8559-76B3-30DD-DD556645C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180" y="1481595"/>
            <a:ext cx="4200393" cy="3794799"/>
          </a:xfrm>
          <a:prstGeom prst="rect">
            <a:avLst/>
          </a:prstGeom>
        </p:spPr>
      </p:pic>
      <p:pic>
        <p:nvPicPr>
          <p:cNvPr id="5" name="내용 개체 틀 9">
            <a:extLst>
              <a:ext uri="{FF2B5EF4-FFF2-40B4-BE49-F238E27FC236}">
                <a16:creationId xmlns:a16="http://schemas.microsoft.com/office/drawing/2014/main" id="{7ABEBD34-F977-564F-C2FC-18FCA0936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954" y="2182177"/>
            <a:ext cx="2887899" cy="28271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ADCE69-5AC4-E6BB-3950-560F47B3B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607" y="1537574"/>
            <a:ext cx="4200393" cy="37947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7CE700-930E-4FAE-A64D-1E3900AF5A6E}"/>
                  </a:ext>
                </a:extLst>
              </p:cNvPr>
              <p:cNvSpPr txBox="1"/>
              <p:nvPr/>
            </p:nvSpPr>
            <p:spPr>
              <a:xfrm>
                <a:off x="6141193" y="1366062"/>
                <a:ext cx="578605" cy="887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ko-KR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sz="18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  <a:p>
                <a:endParaRPr lang="en-US" altLang="ko-KR" sz="18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7CE700-930E-4FAE-A64D-1E3900AF5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193" y="1366062"/>
                <a:ext cx="578605" cy="8879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C23D86-907D-6714-2E9E-2B961D8C217F}"/>
                  </a:ext>
                </a:extLst>
              </p:cNvPr>
              <p:cNvSpPr txBox="1"/>
              <p:nvPr/>
            </p:nvSpPr>
            <p:spPr>
              <a:xfrm>
                <a:off x="6561624" y="1426762"/>
                <a:ext cx="1350049" cy="795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C23D86-907D-6714-2E9E-2B961D8C2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624" y="1426762"/>
                <a:ext cx="1350049" cy="7956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F305B2-F1E8-7B8C-39BF-745A9F974B1B}"/>
                  </a:ext>
                </a:extLst>
              </p:cNvPr>
              <p:cNvSpPr txBox="1"/>
              <p:nvPr/>
            </p:nvSpPr>
            <p:spPr>
              <a:xfrm>
                <a:off x="7614823" y="1412228"/>
                <a:ext cx="475258" cy="79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F305B2-F1E8-7B8C-39BF-745A9F974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823" y="1412228"/>
                <a:ext cx="475258" cy="7956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4F6BAE8-8380-835D-EECD-C0F4629E191B}"/>
              </a:ext>
            </a:extLst>
          </p:cNvPr>
          <p:cNvSpPr txBox="1"/>
          <p:nvPr/>
        </p:nvSpPr>
        <p:spPr>
          <a:xfrm>
            <a:off x="6647455" y="151746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=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457EA-314A-BB72-3BF6-B07B5844B1BF}"/>
              </a:ext>
            </a:extLst>
          </p:cNvPr>
          <p:cNvSpPr txBox="1"/>
          <p:nvPr/>
        </p:nvSpPr>
        <p:spPr>
          <a:xfrm>
            <a:off x="7398724" y="150911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+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F68A3-467B-3A69-4CE9-4F255A253786}"/>
              </a:ext>
            </a:extLst>
          </p:cNvPr>
          <p:cNvSpPr txBox="1"/>
          <p:nvPr/>
        </p:nvSpPr>
        <p:spPr>
          <a:xfrm>
            <a:off x="8128362" y="1455231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….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95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D5E12-A23D-3F25-46AC-8C9572C1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C75E9-F5A2-5AB3-F5DA-2322B8537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4362847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병렬회로 계산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E5DC34-E0D7-02C5-71D7-87886B675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949" y="2319338"/>
            <a:ext cx="4200393" cy="379479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6AD421C-346F-31EB-38F0-1994AF52D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955" y="3018989"/>
            <a:ext cx="2867961" cy="2772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7E5C62-B305-CC4E-A8E9-A8240A0A9C45}"/>
              </a:ext>
            </a:extLst>
          </p:cNvPr>
          <p:cNvSpPr txBox="1"/>
          <p:nvPr/>
        </p:nvSpPr>
        <p:spPr>
          <a:xfrm>
            <a:off x="8278245" y="4945109"/>
            <a:ext cx="127525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</a:rPr>
              <a:t>200</a:t>
            </a:r>
            <a:r>
              <a:rPr lang="el-GR" altLang="ko-KR" sz="16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Ω</a:t>
            </a:r>
            <a:endParaRPr lang="en-US" altLang="ko-KR" sz="1600" b="1" i="0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sz="1600" b="1" dirty="0">
                <a:solidFill>
                  <a:srgbClr val="C00000"/>
                </a:solidFill>
              </a:rPr>
              <a:t>300</a:t>
            </a:r>
            <a:r>
              <a:rPr lang="el-GR" altLang="ko-KR" sz="16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Ω</a:t>
            </a:r>
            <a:endParaRPr lang="ko-KR" altLang="en-US" sz="1600" b="1" dirty="0">
              <a:solidFill>
                <a:srgbClr val="C00000"/>
              </a:solidFill>
            </a:endParaRPr>
          </a:p>
          <a:p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46DD2-014D-600E-72A9-F9515E0D3530}"/>
              </a:ext>
            </a:extLst>
          </p:cNvPr>
          <p:cNvSpPr txBox="1"/>
          <p:nvPr/>
        </p:nvSpPr>
        <p:spPr>
          <a:xfrm>
            <a:off x="8651506" y="3884286"/>
            <a:ext cx="957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12V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26B3C-7630-2AD4-01A3-4169B8572613}"/>
              </a:ext>
            </a:extLst>
          </p:cNvPr>
          <p:cNvSpPr txBox="1"/>
          <p:nvPr/>
        </p:nvSpPr>
        <p:spPr>
          <a:xfrm>
            <a:off x="7447704" y="4921802"/>
            <a:ext cx="141224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</a:rPr>
              <a:t>60mA</a:t>
            </a:r>
          </a:p>
          <a:p>
            <a:r>
              <a:rPr lang="en-US" altLang="ko-KR" sz="1600" b="1" dirty="0">
                <a:solidFill>
                  <a:srgbClr val="C00000"/>
                </a:solidFill>
              </a:rPr>
              <a:t>40mA</a:t>
            </a:r>
            <a:endParaRPr lang="ko-KR" altLang="en-US" sz="1600" b="1" dirty="0">
              <a:solidFill>
                <a:srgbClr val="C00000"/>
              </a:solidFill>
            </a:endParaRPr>
          </a:p>
          <a:p>
            <a:endParaRPr lang="ko-KR" altLang="en-US" sz="2000" b="1" dirty="0">
              <a:solidFill>
                <a:srgbClr val="C0000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085DB1F-1639-E813-BF3F-BC49ADFC7BC4}"/>
              </a:ext>
            </a:extLst>
          </p:cNvPr>
          <p:cNvCxnSpPr>
            <a:cxnSpLocks/>
          </p:cNvCxnSpPr>
          <p:nvPr/>
        </p:nvCxnSpPr>
        <p:spPr>
          <a:xfrm flipH="1" flipV="1">
            <a:off x="3791497" y="3569687"/>
            <a:ext cx="96762" cy="431367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AE744DE-77BA-DD55-F743-4D667946E208}"/>
              </a:ext>
            </a:extLst>
          </p:cNvPr>
          <p:cNvCxnSpPr>
            <a:cxnSpLocks/>
          </p:cNvCxnSpPr>
          <p:nvPr/>
        </p:nvCxnSpPr>
        <p:spPr>
          <a:xfrm flipH="1" flipV="1">
            <a:off x="3622117" y="2363115"/>
            <a:ext cx="96762" cy="431367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B3CF7A32-0C0C-F3F4-DECB-BD715AE21F46}"/>
              </a:ext>
            </a:extLst>
          </p:cNvPr>
          <p:cNvSpPr/>
          <p:nvPr/>
        </p:nvSpPr>
        <p:spPr>
          <a:xfrm>
            <a:off x="3358515" y="2428887"/>
            <a:ext cx="1774876" cy="1505559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3408A5-5503-E5E3-F05C-68E17D627A69}"/>
                  </a:ext>
                </a:extLst>
              </p:cNvPr>
              <p:cNvSpPr txBox="1"/>
              <p:nvPr/>
            </p:nvSpPr>
            <p:spPr>
              <a:xfrm>
                <a:off x="5201046" y="2263553"/>
                <a:ext cx="578605" cy="887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ko-KR" sz="1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sz="18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  <a:p>
                <a:endParaRPr lang="en-US" altLang="ko-KR" sz="18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3408A5-5503-E5E3-F05C-68E17D627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46" y="2263553"/>
                <a:ext cx="578605" cy="8879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BAD6122-5C92-C0A6-487D-2E142DD2A357}"/>
              </a:ext>
            </a:extLst>
          </p:cNvPr>
          <p:cNvSpPr txBox="1"/>
          <p:nvPr/>
        </p:nvSpPr>
        <p:spPr>
          <a:xfrm>
            <a:off x="3567850" y="4114247"/>
            <a:ext cx="1138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C000"/>
                </a:solidFill>
              </a:rPr>
              <a:t>40mA</a:t>
            </a:r>
            <a:endParaRPr lang="ko-KR" altLang="en-US" sz="2000" b="1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ADEB73-6302-3B3E-175B-BD41909330C0}"/>
                  </a:ext>
                </a:extLst>
              </p:cNvPr>
              <p:cNvSpPr txBox="1"/>
              <p:nvPr/>
            </p:nvSpPr>
            <p:spPr>
              <a:xfrm>
                <a:off x="5621477" y="2324253"/>
                <a:ext cx="1350049" cy="795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ADEB73-6302-3B3E-175B-BD4190933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477" y="2324253"/>
                <a:ext cx="1350049" cy="7956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96D093-049F-6A0A-A3C6-B22D33A36106}"/>
                  </a:ext>
                </a:extLst>
              </p:cNvPr>
              <p:cNvSpPr txBox="1"/>
              <p:nvPr/>
            </p:nvSpPr>
            <p:spPr>
              <a:xfrm>
                <a:off x="6674676" y="2309719"/>
                <a:ext cx="475258" cy="79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96D093-049F-6A0A-A3C6-B22D33A36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676" y="2309719"/>
                <a:ext cx="475258" cy="7956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01A7DC4-9F29-86A2-F69B-982519C7BDBC}"/>
              </a:ext>
            </a:extLst>
          </p:cNvPr>
          <p:cNvSpPr txBox="1"/>
          <p:nvPr/>
        </p:nvSpPr>
        <p:spPr>
          <a:xfrm>
            <a:off x="5707308" y="241495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=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DDDCD-4012-B623-93D4-07E0CDB68E6E}"/>
              </a:ext>
            </a:extLst>
          </p:cNvPr>
          <p:cNvSpPr txBox="1"/>
          <p:nvPr/>
        </p:nvSpPr>
        <p:spPr>
          <a:xfrm>
            <a:off x="6458577" y="240660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+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9D570-A245-8AB8-05AB-ECA660514812}"/>
              </a:ext>
            </a:extLst>
          </p:cNvPr>
          <p:cNvSpPr txBox="1"/>
          <p:nvPr/>
        </p:nvSpPr>
        <p:spPr>
          <a:xfrm>
            <a:off x="7188215" y="2352722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….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16F698-DFB1-17F6-8C4C-894D3E42307A}"/>
              </a:ext>
            </a:extLst>
          </p:cNvPr>
          <p:cNvSpPr txBox="1"/>
          <p:nvPr/>
        </p:nvSpPr>
        <p:spPr>
          <a:xfrm>
            <a:off x="4857415" y="3528566"/>
            <a:ext cx="97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120</a:t>
            </a:r>
            <a:r>
              <a:rPr lang="el-GR" altLang="ko-KR" sz="2400" b="1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Ω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A54488-DD66-841F-50E2-A26E7256C70E}"/>
              </a:ext>
            </a:extLst>
          </p:cNvPr>
          <p:cNvSpPr txBox="1"/>
          <p:nvPr/>
        </p:nvSpPr>
        <p:spPr>
          <a:xfrm>
            <a:off x="3221844" y="1959799"/>
            <a:ext cx="1138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C000"/>
                </a:solidFill>
              </a:rPr>
              <a:t>60mA</a:t>
            </a:r>
            <a:endParaRPr lang="ko-KR" altLang="en-US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630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1829D-9E9E-26F6-B657-47EBD5B6D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혼합회로 계산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C90FEFD-97E2-5FE8-2875-18F33F454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4102"/>
            <a:ext cx="10515600" cy="1114010"/>
          </a:xfrm>
        </p:spPr>
        <p:txBody>
          <a:bodyPr/>
          <a:lstStyle/>
          <a:p>
            <a:r>
              <a:rPr lang="ko-KR" altLang="en-US" dirty="0"/>
              <a:t>위 회로의 전압</a:t>
            </a:r>
            <a:r>
              <a:rPr lang="en-US" altLang="ko-KR" dirty="0"/>
              <a:t>/</a:t>
            </a:r>
            <a:r>
              <a:rPr lang="ko-KR" altLang="en-US" dirty="0"/>
              <a:t>전류는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R1, R2, R3 </a:t>
            </a:r>
            <a:r>
              <a:rPr lang="ko-KR" altLang="en-US" dirty="0"/>
              <a:t>저항의 양끝단에 걸리는 전압</a:t>
            </a:r>
            <a:r>
              <a:rPr lang="en-US" altLang="ko-KR" dirty="0"/>
              <a:t>/</a:t>
            </a:r>
            <a:r>
              <a:rPr lang="ko-KR" altLang="en-US" dirty="0"/>
              <a:t>전류는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D78A2D-FEF5-AF22-D26B-38371014A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557" y="1481958"/>
            <a:ext cx="4540483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7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3A56-83F7-290C-92EC-739EBF02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3D3F-9EDD-C4F8-698F-B0E6A89AB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혼합회로 계산 정답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10C71B3-0537-1EE9-29D5-962CD16F6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4102"/>
            <a:ext cx="10515600" cy="1114010"/>
          </a:xfrm>
        </p:spPr>
        <p:txBody>
          <a:bodyPr/>
          <a:lstStyle/>
          <a:p>
            <a:r>
              <a:rPr lang="ko-KR" altLang="en-US" dirty="0"/>
              <a:t>위 회로의 전압</a:t>
            </a:r>
            <a:r>
              <a:rPr lang="en-US" altLang="ko-KR" dirty="0"/>
              <a:t>/</a:t>
            </a:r>
            <a:r>
              <a:rPr lang="ko-KR" altLang="en-US" dirty="0"/>
              <a:t>전류는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R1, R2, R3 </a:t>
            </a:r>
            <a:r>
              <a:rPr lang="ko-KR" altLang="en-US" dirty="0"/>
              <a:t>저항의 양끝단에 걸리는 전압</a:t>
            </a:r>
            <a:r>
              <a:rPr lang="en-US" altLang="ko-KR" dirty="0"/>
              <a:t>/</a:t>
            </a:r>
            <a:r>
              <a:rPr lang="ko-KR" altLang="en-US" dirty="0"/>
              <a:t>전류는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205B11-7EA2-481C-A5B9-B6A71F2CA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282" y="1843908"/>
            <a:ext cx="4540483" cy="3435527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374B425-7EE2-9F05-7DB2-5EA5AA983C9A}"/>
              </a:ext>
            </a:extLst>
          </p:cNvPr>
          <p:cNvCxnSpPr>
            <a:cxnSpLocks/>
          </p:cNvCxnSpPr>
          <p:nvPr/>
        </p:nvCxnSpPr>
        <p:spPr>
          <a:xfrm flipH="1" flipV="1">
            <a:off x="2703025" y="2260299"/>
            <a:ext cx="96762" cy="431367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5934BCA-94FD-0CF8-A4F8-58A4B3203DAF}"/>
              </a:ext>
            </a:extLst>
          </p:cNvPr>
          <p:cNvSpPr txBox="1"/>
          <p:nvPr/>
        </p:nvSpPr>
        <p:spPr>
          <a:xfrm>
            <a:off x="2153091" y="1765281"/>
            <a:ext cx="1247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19.38V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0CEB539-1873-8017-8287-5971837A1BD0}"/>
              </a:ext>
            </a:extLst>
          </p:cNvPr>
          <p:cNvCxnSpPr>
            <a:cxnSpLocks/>
          </p:cNvCxnSpPr>
          <p:nvPr/>
        </p:nvCxnSpPr>
        <p:spPr>
          <a:xfrm flipH="1" flipV="1">
            <a:off x="3990066" y="1800108"/>
            <a:ext cx="96762" cy="431367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BABBC556-780C-AC06-7D1A-343369FD9BCF}"/>
              </a:ext>
            </a:extLst>
          </p:cNvPr>
          <p:cNvSpPr/>
          <p:nvPr/>
        </p:nvSpPr>
        <p:spPr>
          <a:xfrm>
            <a:off x="3797001" y="2078025"/>
            <a:ext cx="1438824" cy="1227593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48A87-B3B8-9025-C934-2F8F49197110}"/>
              </a:ext>
            </a:extLst>
          </p:cNvPr>
          <p:cNvSpPr txBox="1"/>
          <p:nvPr/>
        </p:nvSpPr>
        <p:spPr>
          <a:xfrm>
            <a:off x="3021272" y="3502621"/>
            <a:ext cx="29724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C000"/>
                </a:solidFill>
              </a:rPr>
              <a:t>36/185.71 = 193.8</a:t>
            </a:r>
          </a:p>
          <a:p>
            <a:r>
              <a:rPr lang="en-US" altLang="ko-KR" sz="2000" b="1" dirty="0">
                <a:solidFill>
                  <a:srgbClr val="FFC000"/>
                </a:solidFill>
              </a:rPr>
              <a:t>193.8 x 100 = 19380</a:t>
            </a:r>
            <a:endParaRPr lang="ko-KR" altLang="en-US" sz="2000" b="1" dirty="0">
              <a:solidFill>
                <a:srgbClr val="FFC000"/>
              </a:solidFill>
            </a:endParaRPr>
          </a:p>
          <a:p>
            <a:r>
              <a:rPr lang="en-US" altLang="ko-KR" sz="2000" b="1" dirty="0">
                <a:solidFill>
                  <a:srgbClr val="FFC000"/>
                </a:solidFill>
              </a:rPr>
              <a:t>193.8 x 85.71 = 16610</a:t>
            </a:r>
            <a:endParaRPr lang="ko-KR" altLang="en-US" sz="2000" b="1" dirty="0">
              <a:solidFill>
                <a:srgbClr val="FFC000"/>
              </a:solidFill>
            </a:endParaRPr>
          </a:p>
          <a:p>
            <a:endParaRPr lang="ko-KR" altLang="en-US" sz="2400" b="1" dirty="0">
              <a:solidFill>
                <a:srgbClr val="FFC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0B5862-92B3-EE76-C58B-3F4568DF6168}"/>
              </a:ext>
            </a:extLst>
          </p:cNvPr>
          <p:cNvSpPr txBox="1"/>
          <p:nvPr/>
        </p:nvSpPr>
        <p:spPr>
          <a:xfrm>
            <a:off x="3435346" y="1301245"/>
            <a:ext cx="1222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C000"/>
                </a:solidFill>
              </a:rPr>
              <a:t>16.61V</a:t>
            </a:r>
            <a:endParaRPr lang="ko-KR" altLang="en-US" sz="2400" b="1" dirty="0">
              <a:solidFill>
                <a:srgbClr val="FFC000"/>
              </a:solidFill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E64BBC8-B46C-1795-900A-B682DAADD34C}"/>
              </a:ext>
            </a:extLst>
          </p:cNvPr>
          <p:cNvGrpSpPr/>
          <p:nvPr/>
        </p:nvGrpSpPr>
        <p:grpSpPr>
          <a:xfrm>
            <a:off x="5323348" y="1873793"/>
            <a:ext cx="2394653" cy="887935"/>
            <a:chOff x="6832699" y="1195341"/>
            <a:chExt cx="2394653" cy="8879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3DB48EA-43D0-4A5E-56E7-EA7F422810A4}"/>
                    </a:ext>
                  </a:extLst>
                </p:cNvPr>
                <p:cNvSpPr txBox="1"/>
                <p:nvPr/>
              </p:nvSpPr>
              <p:spPr>
                <a:xfrm>
                  <a:off x="6832699" y="1195341"/>
                  <a:ext cx="578605" cy="88793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18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18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p>
                                <m:r>
                                  <a:rPr lang="en-US" altLang="ko-KR" sz="18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sz="1800" b="1" dirty="0">
                    <a:solidFill>
                      <a:schemeClr val="accent1"/>
                    </a:solidFill>
                    <a:latin typeface="Arial" panose="020B0604020202020204" pitchFamily="34" charset="0"/>
                  </a:endParaRPr>
                </a:p>
                <a:p>
                  <a:endParaRPr lang="en-US" altLang="ko-KR" sz="1800" b="1" dirty="0">
                    <a:solidFill>
                      <a:schemeClr val="accent1"/>
                    </a:solidFill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3DB48EA-43D0-4A5E-56E7-EA7F422810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2699" y="1195341"/>
                  <a:ext cx="578605" cy="88793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FD358BC-6FA4-B2FC-2C6B-1FB237A4DC59}"/>
                    </a:ext>
                  </a:extLst>
                </p:cNvPr>
                <p:cNvSpPr txBox="1"/>
                <p:nvPr/>
              </p:nvSpPr>
              <p:spPr>
                <a:xfrm>
                  <a:off x="7253130" y="1256041"/>
                  <a:ext cx="1350049" cy="79560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b="1" dirty="0">
                    <a:solidFill>
                      <a:schemeClr val="accent1"/>
                    </a:solidFill>
                  </a:endParaRPr>
                </a:p>
                <a:p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FD358BC-6FA4-B2FC-2C6B-1FB237A4D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3130" y="1256041"/>
                  <a:ext cx="1350049" cy="79560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E239E74-0CE9-73FC-7175-8876AFF32436}"/>
                    </a:ext>
                  </a:extLst>
                </p:cNvPr>
                <p:cNvSpPr txBox="1"/>
                <p:nvPr/>
              </p:nvSpPr>
              <p:spPr>
                <a:xfrm>
                  <a:off x="8306329" y="1241507"/>
                  <a:ext cx="475258" cy="7956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b="1" dirty="0">
                    <a:solidFill>
                      <a:schemeClr val="accent1"/>
                    </a:solidFill>
                  </a:endParaRPr>
                </a:p>
                <a:p>
                  <a:endParaRPr lang="ko-KR" alt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E239E74-0CE9-73FC-7175-8876AFF32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6329" y="1241507"/>
                  <a:ext cx="475258" cy="79560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8E98C96-2870-742F-6E8F-76F4AC3CB6EF}"/>
                </a:ext>
              </a:extLst>
            </p:cNvPr>
            <p:cNvSpPr txBox="1"/>
            <p:nvPr/>
          </p:nvSpPr>
          <p:spPr>
            <a:xfrm>
              <a:off x="7338961" y="134674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accent1"/>
                  </a:solidFill>
                </a:rPr>
                <a:t>=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FDAFFE8-9355-4248-3D8F-7EAD684C5F44}"/>
                </a:ext>
              </a:extLst>
            </p:cNvPr>
            <p:cNvSpPr txBox="1"/>
            <p:nvPr/>
          </p:nvSpPr>
          <p:spPr>
            <a:xfrm>
              <a:off x="8090230" y="133839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accent1"/>
                  </a:solidFill>
                </a:rPr>
                <a:t>+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06D3DD-E68D-FD69-FAF3-D06C7C488EBB}"/>
                </a:ext>
              </a:extLst>
            </p:cNvPr>
            <p:cNvSpPr txBox="1"/>
            <p:nvPr/>
          </p:nvSpPr>
          <p:spPr>
            <a:xfrm>
              <a:off x="8819868" y="1284510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accent1"/>
                  </a:solidFill>
                </a:rPr>
                <a:t>….</a:t>
              </a:r>
              <a:endParaRPr lang="ko-KR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EF7D6913-D3D1-AA9D-2E68-80A152396B57}"/>
              </a:ext>
            </a:extLst>
          </p:cNvPr>
          <p:cNvSpPr/>
          <p:nvPr/>
        </p:nvSpPr>
        <p:spPr>
          <a:xfrm>
            <a:off x="2844018" y="2249289"/>
            <a:ext cx="830473" cy="775307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4B5A246-C4C2-E3F9-2E56-CCD30F9CB56E}"/>
              </a:ext>
            </a:extLst>
          </p:cNvPr>
          <p:cNvGrpSpPr/>
          <p:nvPr/>
        </p:nvGrpSpPr>
        <p:grpSpPr>
          <a:xfrm>
            <a:off x="2641368" y="3088604"/>
            <a:ext cx="1615567" cy="664775"/>
            <a:chOff x="1842448" y="2222707"/>
            <a:chExt cx="1615567" cy="664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47819E4-1CDA-A5D5-E780-D6F40DEE9C9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842448" y="2327264"/>
                  <a:ext cx="357406" cy="2819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ko-KR" altLang="en-US" b="1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47819E4-1CDA-A5D5-E780-D6F40DEE9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2448" y="2327264"/>
                  <a:ext cx="357406" cy="281937"/>
                </a:xfrm>
                <a:prstGeom prst="rect">
                  <a:avLst/>
                </a:prstGeom>
                <a:blipFill>
                  <a:blip r:embed="rId6"/>
                  <a:stretch>
                    <a:fillRect l="-10169" t="-2128" r="-1695" b="-85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158C8DF-0DCC-A7F9-4B5F-D5C942270B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293837" y="2327264"/>
                  <a:ext cx="448008" cy="5602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altLang="ko-KR" b="1" dirty="0"/>
                </a:p>
                <a:p>
                  <a:endParaRPr lang="ko-KR" alt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158C8DF-0DCC-A7F9-4B5F-D5C942270B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3837" y="2327264"/>
                  <a:ext cx="448008" cy="56021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938D9AB-782E-E375-7BE6-A5E08A3F52A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752226" y="2327264"/>
                  <a:ext cx="449610" cy="5602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altLang="ko-KR" b="1" dirty="0"/>
                </a:p>
                <a:p>
                  <a:endParaRPr lang="ko-KR" alt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938D9AB-782E-E375-7BE6-A5E08A3F5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2226" y="2327264"/>
                  <a:ext cx="449610" cy="5602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61BE06E-21FE-ECAE-E6BA-3762EBBC20EB}"/>
                </a:ext>
              </a:extLst>
            </p:cNvPr>
            <p:cNvSpPr txBox="1">
              <a:spLocks/>
            </p:cNvSpPr>
            <p:nvPr/>
          </p:nvSpPr>
          <p:spPr>
            <a:xfrm>
              <a:off x="2083751" y="228919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accent1"/>
                  </a:solidFill>
                </a:rPr>
                <a:t>=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446000E-1D4D-9A33-9009-3B0A3E542A27}"/>
                </a:ext>
              </a:extLst>
            </p:cNvPr>
            <p:cNvSpPr txBox="1">
              <a:spLocks/>
            </p:cNvSpPr>
            <p:nvPr/>
          </p:nvSpPr>
          <p:spPr>
            <a:xfrm>
              <a:off x="2583750" y="2274992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accent1"/>
                  </a:solidFill>
                </a:rPr>
                <a:t>+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F2E5786-95F7-F0A0-D201-C041D3F60546}"/>
                </a:ext>
              </a:extLst>
            </p:cNvPr>
            <p:cNvSpPr txBox="1">
              <a:spLocks/>
            </p:cNvSpPr>
            <p:nvPr/>
          </p:nvSpPr>
          <p:spPr>
            <a:xfrm>
              <a:off x="3069767" y="2222707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accent1"/>
                  </a:solidFill>
                </a:rPr>
                <a:t>…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05BAC188-38B3-557F-24EE-17084C11B9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1335" y="2138393"/>
            <a:ext cx="2867961" cy="2772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F025DC-63B5-AF16-78CB-AB1E9A896B17}"/>
              </a:ext>
            </a:extLst>
          </p:cNvPr>
          <p:cNvSpPr txBox="1"/>
          <p:nvPr/>
        </p:nvSpPr>
        <p:spPr>
          <a:xfrm>
            <a:off x="8515854" y="3987778"/>
            <a:ext cx="12752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100</a:t>
            </a:r>
            <a:r>
              <a:rPr lang="el-GR" altLang="ko-KR" sz="20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Ω</a:t>
            </a:r>
            <a:endParaRPr lang="en-US" altLang="ko-KR" sz="20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r>
              <a:rPr lang="en-US" altLang="ko-KR" sz="2000" b="1" dirty="0">
                <a:solidFill>
                  <a:srgbClr val="C00000"/>
                </a:solidFill>
                <a:latin typeface="Arial" panose="020B0604020202020204" pitchFamily="34" charset="0"/>
              </a:rPr>
              <a:t>85.71</a:t>
            </a:r>
            <a:r>
              <a:rPr lang="el-GR" altLang="ko-KR" sz="20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Ω</a:t>
            </a:r>
            <a:endParaRPr lang="en-US" altLang="ko-KR" sz="2000" b="1" i="0" dirty="0"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8450B-8EAF-8CC5-17E5-2B25AB668D95}"/>
              </a:ext>
            </a:extLst>
          </p:cNvPr>
          <p:cNvSpPr txBox="1"/>
          <p:nvPr/>
        </p:nvSpPr>
        <p:spPr>
          <a:xfrm>
            <a:off x="8889115" y="2926955"/>
            <a:ext cx="957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36V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7D561-6366-2769-53B3-292BEC28867A}"/>
              </a:ext>
            </a:extLst>
          </p:cNvPr>
          <p:cNvSpPr txBox="1"/>
          <p:nvPr/>
        </p:nvSpPr>
        <p:spPr>
          <a:xfrm>
            <a:off x="7476873" y="3987778"/>
            <a:ext cx="1412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194mA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ADE6BE-CB1C-27B1-9ACC-BD46F86EDF82}"/>
              </a:ext>
            </a:extLst>
          </p:cNvPr>
          <p:cNvSpPr txBox="1"/>
          <p:nvPr/>
        </p:nvSpPr>
        <p:spPr>
          <a:xfrm>
            <a:off x="9367990" y="4021113"/>
            <a:ext cx="6141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C00000"/>
                </a:solidFill>
              </a:rPr>
              <a:t>+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0181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9905</TotalTime>
  <Words>640</Words>
  <Application>Microsoft Office PowerPoint</Application>
  <PresentationFormat>와이드스크린</PresentationFormat>
  <Paragraphs>216</Paragraphs>
  <Slides>17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AppleSDGothicNeo</vt:lpstr>
      <vt:lpstr>-apple-system</vt:lpstr>
      <vt:lpstr>G마켓 산스 Medium</vt:lpstr>
      <vt:lpstr>G마켓 산스 TTF Bold</vt:lpstr>
      <vt:lpstr>G마켓 산스 TTF Medium</vt:lpstr>
      <vt:lpstr>맑은 고딕</vt:lpstr>
      <vt:lpstr>메이플스토리</vt:lpstr>
      <vt:lpstr>Arial</vt:lpstr>
      <vt:lpstr>Cambria Math</vt:lpstr>
      <vt:lpstr>Helvetica</vt:lpstr>
      <vt:lpstr>1_Office 테마</vt:lpstr>
      <vt:lpstr>전기</vt:lpstr>
      <vt:lpstr>교류 직류</vt:lpstr>
      <vt:lpstr>디지털 로직</vt:lpstr>
      <vt:lpstr>3대 수동소자</vt:lpstr>
      <vt:lpstr>저항의 종류</vt:lpstr>
      <vt:lpstr>캐패시터의 종류</vt:lpstr>
      <vt:lpstr>인덕터의 종류</vt:lpstr>
      <vt:lpstr>저항</vt:lpstr>
      <vt:lpstr>옴의 법칙</vt:lpstr>
      <vt:lpstr>옴의 법칙 계산</vt:lpstr>
      <vt:lpstr>옴의 법칙 계산 정답</vt:lpstr>
      <vt:lpstr>직렬회로 계산</vt:lpstr>
      <vt:lpstr>직렬회로 계산 정답</vt:lpstr>
      <vt:lpstr>병렬회로 계산</vt:lpstr>
      <vt:lpstr>병렬회로 계산</vt:lpstr>
      <vt:lpstr>혼합회로 계산</vt:lpstr>
      <vt:lpstr>혼합회로 계산 정답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364</cp:revision>
  <dcterms:created xsi:type="dcterms:W3CDTF">2024-10-23T01:56:35Z</dcterms:created>
  <dcterms:modified xsi:type="dcterms:W3CDTF">2025-02-10T07:51:18Z</dcterms:modified>
</cp:coreProperties>
</file>