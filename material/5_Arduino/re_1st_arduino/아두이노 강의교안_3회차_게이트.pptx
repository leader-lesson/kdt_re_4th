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5"/>
  </p:notesMasterIdLst>
  <p:sldIdLst>
    <p:sldId id="307" r:id="rId2"/>
    <p:sldId id="274" r:id="rId3"/>
    <p:sldId id="277" r:id="rId4"/>
    <p:sldId id="275" r:id="rId5"/>
    <p:sldId id="278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73" autoAdjust="0"/>
    <p:restoredTop sz="88047" autoAdjust="0"/>
  </p:normalViewPr>
  <p:slideViewPr>
    <p:cSldViewPr snapToGrid="0">
      <p:cViewPr varScale="1">
        <p:scale>
          <a:sx n="140" d="100"/>
          <a:sy n="140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7803-1B5A-0C86-9B87-3C2D4BCA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7ECA89-B9DD-BC61-9094-1AFDC9D8F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969159-474F-8CA7-718A-C15C34931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위에서 학습한 </a:t>
            </a:r>
            <a:r>
              <a:rPr lang="en-US" altLang="ko-KR" dirty="0" err="1"/>
              <a:t>r,l,c</a:t>
            </a:r>
            <a:r>
              <a:rPr lang="en-US" altLang="ko-KR" dirty="0"/>
              <a:t> </a:t>
            </a:r>
            <a:r>
              <a:rPr lang="ko-KR" altLang="en-US" dirty="0"/>
              <a:t>직</a:t>
            </a:r>
            <a:r>
              <a:rPr lang="en-US" altLang="ko-KR" dirty="0"/>
              <a:t>/</a:t>
            </a:r>
            <a:r>
              <a:rPr lang="ko-KR" altLang="en-US" dirty="0"/>
              <a:t>병렬 회로를 실제로 구현해보고 각 소자의 값을 변경해보고 직접 측정해보자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2FBB2-542F-7212-DACA-9D02F63D0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225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6961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실무에서 제일 많이 쓰이는 구성</a:t>
            </a:r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152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인덕터는 이정도</a:t>
            </a:r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ko-KR" altLang="en-US" dirty="0"/>
              <a:t>특정 주파수의 노이즈를 감소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8271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하나 이상의 논리적 </a:t>
            </a:r>
            <a:r>
              <a:rPr lang="ko-KR" altLang="en-US" b="0" i="0" dirty="0" err="1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입력값에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 대해 논리 연산을 수행하여 하나의 논리적 </a:t>
            </a:r>
            <a:r>
              <a:rPr lang="ko-KR" altLang="en-US" b="0" i="0" dirty="0" err="1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출력값을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 얻는 전자회로</a:t>
            </a:r>
            <a:endParaRPr lang="en-US" altLang="ko-KR" b="0" i="0" dirty="0">
              <a:solidFill>
                <a:srgbClr val="040C28"/>
              </a:solidFill>
              <a:effectLst/>
              <a:latin typeface="Arial" panose="020B0604020202020204" pitchFamily="34" charset="0"/>
            </a:endParaRPr>
          </a:p>
          <a:p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컴퓨터는 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0, 1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을 다룬다고 했죠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?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여기에 </a:t>
            </a:r>
            <a:r>
              <a:rPr lang="ko-KR" altLang="en-US" b="0" i="0" dirty="0" err="1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들어가는게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0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또는 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1 </a:t>
            </a:r>
            <a:r>
              <a:rPr lang="ko-KR" altLang="en-US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입니다</a:t>
            </a:r>
            <a:r>
              <a:rPr lang="en-US" altLang="ko-KR" b="0" i="0" dirty="0">
                <a:solidFill>
                  <a:srgbClr val="040C28"/>
                </a:solidFill>
                <a:effectLst/>
                <a:latin typeface="Arial" panose="020B0604020202020204" pitchFamily="34" charset="0"/>
              </a:rPr>
              <a:t>;;;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99D024-DE68-44ED-822F-D827F84FBD4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992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2025-02-10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3.png"/><Relationship Id="rId7" Type="http://schemas.openxmlformats.org/officeDocument/2006/relationships/image" Target="../media/image5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500.png"/><Relationship Id="rId10" Type="http://schemas.openxmlformats.org/officeDocument/2006/relationships/image" Target="../media/image550.png"/><Relationship Id="rId4" Type="http://schemas.openxmlformats.org/officeDocument/2006/relationships/image" Target="../media/image4.png"/><Relationship Id="rId9" Type="http://schemas.openxmlformats.org/officeDocument/2006/relationships/image" Target="../media/image5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3" Type="http://schemas.openxmlformats.org/officeDocument/2006/relationships/image" Target="../media/image7.png"/><Relationship Id="rId7" Type="http://schemas.openxmlformats.org/officeDocument/2006/relationships/image" Target="../media/image6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C9DDA-2C85-623A-08FA-19F93442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5D657-A8D9-05CF-A6EE-14EE872A6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회로 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E2E8C-9D1F-6AF6-DFF3-711CF31A1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https://www.falstad.com/circuit/circuitjs.html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FDE16-4B1E-7CAE-B422-CEC82575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B1E402-7694-BEFA-AAC6-71DE8F5F6D5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4AD40E-524C-433F-8BAA-783DCFC0F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910" y="2179163"/>
            <a:ext cx="3417214" cy="335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9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466FC-7DD0-E131-EADC-326441857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커패시터의</a:t>
            </a:r>
            <a:r>
              <a:rPr lang="ko-KR" altLang="en-US" dirty="0"/>
              <a:t> 직렬</a:t>
            </a:r>
            <a:r>
              <a:rPr lang="en-US" altLang="ko-KR" dirty="0"/>
              <a:t>/</a:t>
            </a:r>
            <a:r>
              <a:rPr lang="ko-KR" altLang="en-US" dirty="0"/>
              <a:t>병렬 연결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67E1CAD-6420-282A-E3D5-2B454782DF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1062" y="1303606"/>
            <a:ext cx="4547298" cy="261633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1C3F72-FD5B-143E-996D-03A087323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650" y="3897863"/>
            <a:ext cx="4287394" cy="249140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035B2923-B378-599D-A383-A1D8F3555478}"/>
              </a:ext>
            </a:extLst>
          </p:cNvPr>
          <p:cNvGrpSpPr/>
          <p:nvPr/>
        </p:nvGrpSpPr>
        <p:grpSpPr>
          <a:xfrm>
            <a:off x="5665936" y="4609930"/>
            <a:ext cx="2356151" cy="1067269"/>
            <a:chOff x="7305316" y="1904531"/>
            <a:chExt cx="2356151" cy="10672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8FA3768-EC3C-1568-74A5-85145CD9D655}"/>
                    </a:ext>
                  </a:extLst>
                </p:cNvPr>
                <p:cNvSpPr txBox="1"/>
                <p:nvPr/>
              </p:nvSpPr>
              <p:spPr>
                <a:xfrm>
                  <a:off x="7305316" y="1904531"/>
                  <a:ext cx="453586" cy="6938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8FA3768-EC3C-1568-74A5-85145CD9D6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316" y="1904531"/>
                  <a:ext cx="453586" cy="69384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377CBAB-93E1-2108-0B06-D143776A1D7C}"/>
                    </a:ext>
                  </a:extLst>
                </p:cNvPr>
                <p:cNvSpPr txBox="1"/>
                <p:nvPr/>
              </p:nvSpPr>
              <p:spPr>
                <a:xfrm>
                  <a:off x="7973441" y="1908624"/>
                  <a:ext cx="532133" cy="10631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377CBAB-93E1-2108-0B06-D143776A1D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441" y="1908624"/>
                  <a:ext cx="532133" cy="106317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31FCE6-AB9C-CC39-50CD-FDD265B3A73D}"/>
                    </a:ext>
                  </a:extLst>
                </p:cNvPr>
                <p:cNvSpPr txBox="1"/>
                <p:nvPr/>
              </p:nvSpPr>
              <p:spPr>
                <a:xfrm>
                  <a:off x="8691083" y="1908624"/>
                  <a:ext cx="524118" cy="106317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831FCE6-AB9C-CC39-50CD-FDD265B3A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083" y="1908624"/>
                  <a:ext cx="524118" cy="106317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D0CA6A-903B-78EC-6A50-02F741F17127}"/>
                </a:ext>
              </a:extLst>
            </p:cNvPr>
            <p:cNvSpPr txBox="1"/>
            <p:nvPr/>
          </p:nvSpPr>
          <p:spPr>
            <a:xfrm>
              <a:off x="7694755" y="1991923"/>
              <a:ext cx="40588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=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70966A-6AE3-1B42-B61C-83F574D4FF87}"/>
                </a:ext>
              </a:extLst>
            </p:cNvPr>
            <p:cNvSpPr txBox="1"/>
            <p:nvPr/>
          </p:nvSpPr>
          <p:spPr>
            <a:xfrm>
              <a:off x="8386727" y="2064986"/>
              <a:ext cx="40588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+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3C8CAA-8437-CB64-2FF3-F0395AA5B954}"/>
                </a:ext>
              </a:extLst>
            </p:cNvPr>
            <p:cNvSpPr txBox="1"/>
            <p:nvPr/>
          </p:nvSpPr>
          <p:spPr>
            <a:xfrm>
              <a:off x="9205893" y="1985439"/>
              <a:ext cx="45557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…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C4C253B4-3BCD-DC6C-37B8-BE78444854B4}"/>
              </a:ext>
            </a:extLst>
          </p:cNvPr>
          <p:cNvGrpSpPr/>
          <p:nvPr/>
        </p:nvGrpSpPr>
        <p:grpSpPr>
          <a:xfrm>
            <a:off x="5611853" y="2180272"/>
            <a:ext cx="2330812" cy="863002"/>
            <a:chOff x="7278362" y="3181789"/>
            <a:chExt cx="2330812" cy="8630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8CF8EA-0B3C-CDC0-1732-FFAFF815E900}"/>
                    </a:ext>
                  </a:extLst>
                </p:cNvPr>
                <p:cNvSpPr txBox="1"/>
                <p:nvPr/>
              </p:nvSpPr>
              <p:spPr>
                <a:xfrm>
                  <a:off x="7278362" y="3299587"/>
                  <a:ext cx="522515" cy="7452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D8CF8EA-0B3C-CDC0-1732-FFAFF815E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8362" y="3299587"/>
                  <a:ext cx="522515" cy="74520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922B1C-852D-7E11-B63F-0A2B639F02BD}"/>
                    </a:ext>
                  </a:extLst>
                </p:cNvPr>
                <p:cNvSpPr txBox="1"/>
                <p:nvPr/>
              </p:nvSpPr>
              <p:spPr>
                <a:xfrm>
                  <a:off x="7997624" y="3294507"/>
                  <a:ext cx="512897" cy="74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p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922B1C-852D-7E11-B63F-0A2B639F0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7624" y="3294507"/>
                  <a:ext cx="512897" cy="74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616E9D-5987-CE38-64DA-1DC5E6D783F5}"/>
                    </a:ext>
                  </a:extLst>
                </p:cNvPr>
                <p:cNvSpPr txBox="1"/>
                <p:nvPr/>
              </p:nvSpPr>
              <p:spPr>
                <a:xfrm>
                  <a:off x="8721644" y="3292094"/>
                  <a:ext cx="513730" cy="74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E616E9D-5987-CE38-64DA-1DC5E6D78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1644" y="3292094"/>
                  <a:ext cx="513730" cy="74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B2BCC5-6533-D2EA-7DED-AD945C3E8FB5}"/>
                </a:ext>
              </a:extLst>
            </p:cNvPr>
            <p:cNvSpPr txBox="1"/>
            <p:nvPr/>
          </p:nvSpPr>
          <p:spPr>
            <a:xfrm>
              <a:off x="7669614" y="32397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=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4F8516-DA25-79E8-8A5D-20A8AB725F3C}"/>
                </a:ext>
              </a:extLst>
            </p:cNvPr>
            <p:cNvSpPr txBox="1"/>
            <p:nvPr/>
          </p:nvSpPr>
          <p:spPr>
            <a:xfrm>
              <a:off x="8391287" y="32397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+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EB379F-0F28-3BE0-577E-1DAD23C70A48}"/>
                </a:ext>
              </a:extLst>
            </p:cNvPr>
            <p:cNvSpPr txBox="1"/>
            <p:nvPr/>
          </p:nvSpPr>
          <p:spPr>
            <a:xfrm>
              <a:off x="9153600" y="3181789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…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DC9005D-0C3B-D856-3755-5CDBE647A03B}"/>
              </a:ext>
            </a:extLst>
          </p:cNvPr>
          <p:cNvSpPr txBox="1"/>
          <p:nvPr/>
        </p:nvSpPr>
        <p:spPr>
          <a:xfrm>
            <a:off x="8299098" y="1665189"/>
            <a:ext cx="35900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정전용량</a:t>
            </a:r>
            <a:r>
              <a:rPr lang="en-US" altLang="ko-KR" sz="2800" dirty="0"/>
              <a:t>(Capacitance)</a:t>
            </a:r>
            <a:br>
              <a:rPr lang="en-US" altLang="ko-KR" sz="2800" dirty="0"/>
            </a:br>
            <a:r>
              <a:rPr lang="en-US" altLang="ko-KR" sz="2800" dirty="0"/>
              <a:t>Q=CV</a:t>
            </a:r>
          </a:p>
          <a:p>
            <a:r>
              <a:rPr lang="en-US" altLang="ko-KR" sz="2800" dirty="0"/>
              <a:t>C=Q/V</a:t>
            </a:r>
          </a:p>
          <a:p>
            <a:r>
              <a:rPr lang="en-US" altLang="ko-KR" sz="2800" dirty="0"/>
              <a:t>V=Q/C</a:t>
            </a:r>
          </a:p>
          <a:p>
            <a:r>
              <a:rPr lang="en-US" altLang="ko-KR" sz="2800" dirty="0"/>
              <a:t>Q</a:t>
            </a:r>
            <a:r>
              <a:rPr lang="ko-KR" altLang="en-US" sz="2800" dirty="0"/>
              <a:t>는 전하량</a:t>
            </a:r>
            <a:endParaRPr lang="en-US" altLang="ko-KR" sz="2800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360A5-22E9-1D14-2E4F-F859166234D1}"/>
              </a:ext>
            </a:extLst>
          </p:cNvPr>
          <p:cNvSpPr txBox="1"/>
          <p:nvPr/>
        </p:nvSpPr>
        <p:spPr>
          <a:xfrm>
            <a:off x="8267936" y="4770385"/>
            <a:ext cx="359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저항과 식이 반대인 이유는 저항의 역할과 상충 되기 때문</a:t>
            </a:r>
          </a:p>
        </p:txBody>
      </p:sp>
    </p:spTree>
    <p:extLst>
      <p:ext uri="{BB962C8B-B14F-4D97-AF65-F5344CB8AC3E}">
        <p14:creationId xmlns:p14="http://schemas.microsoft.com/office/powerpoint/2010/main" val="780632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3E9B5-9CEA-78AD-69E0-1211F940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033B9-82A2-F628-2BF5-307F391F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커패시터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D092A5-DF56-5345-7EF1-EDC054CD5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035" y="1944688"/>
            <a:ext cx="4323095" cy="3760787"/>
          </a:xfrm>
        </p:spPr>
        <p:txBody>
          <a:bodyPr/>
          <a:lstStyle/>
          <a:p>
            <a:r>
              <a:rPr lang="ko-KR" altLang="en-US" dirty="0" err="1"/>
              <a:t>디커플링</a:t>
            </a:r>
            <a:r>
              <a:rPr lang="en-US" altLang="ko-KR" dirty="0"/>
              <a:t>/</a:t>
            </a:r>
            <a:r>
              <a:rPr lang="ko-KR" altLang="en-US" dirty="0"/>
              <a:t>완충작용</a:t>
            </a:r>
            <a:endParaRPr lang="en-US" altLang="ko-KR" dirty="0"/>
          </a:p>
          <a:p>
            <a:r>
              <a:rPr lang="ko-KR" altLang="en-US" dirty="0"/>
              <a:t>바이패스</a:t>
            </a:r>
            <a:r>
              <a:rPr lang="en-US" altLang="ko-KR" dirty="0"/>
              <a:t>/</a:t>
            </a:r>
            <a:r>
              <a:rPr lang="ko-KR" altLang="en-US" dirty="0"/>
              <a:t>노이즈 제거</a:t>
            </a:r>
            <a:endParaRPr lang="en-US" altLang="ko-KR" dirty="0"/>
          </a:p>
          <a:p>
            <a:r>
              <a:rPr lang="ko-KR" altLang="en-US" dirty="0"/>
              <a:t>저용량</a:t>
            </a:r>
            <a:r>
              <a:rPr lang="en-US" altLang="ko-KR" dirty="0"/>
              <a:t>=&gt;</a:t>
            </a:r>
            <a:r>
              <a:rPr lang="ko-KR" altLang="en-US" dirty="0"/>
              <a:t>고주파 제거</a:t>
            </a:r>
            <a:endParaRPr lang="en-US" altLang="ko-KR" dirty="0"/>
          </a:p>
          <a:p>
            <a:r>
              <a:rPr lang="en-US" altLang="ko-KR" dirty="0"/>
              <a:t>(100nF~1uF)</a:t>
            </a:r>
          </a:p>
          <a:p>
            <a:r>
              <a:rPr lang="ko-KR" altLang="en-US" dirty="0"/>
              <a:t>대용량</a:t>
            </a:r>
            <a:r>
              <a:rPr lang="en-US" altLang="ko-KR" dirty="0"/>
              <a:t>=&gt;</a:t>
            </a:r>
            <a:r>
              <a:rPr lang="ko-KR" altLang="en-US" dirty="0"/>
              <a:t>저주파 제거</a:t>
            </a:r>
            <a:endParaRPr lang="en-US" altLang="ko-KR" dirty="0"/>
          </a:p>
          <a:p>
            <a:r>
              <a:rPr lang="en-US" altLang="ko-KR" dirty="0"/>
              <a:t>(10uF~100uF)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7936530-ECEB-1B84-8E0F-0B3E82228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60" y="1549839"/>
            <a:ext cx="5683542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8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16956-9AF1-604E-7AEF-089D6E44E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인덕터의 직렬</a:t>
            </a:r>
            <a:r>
              <a:rPr lang="en-US" altLang="ko-KR" dirty="0"/>
              <a:t>/</a:t>
            </a:r>
            <a:r>
              <a:rPr lang="ko-KR" altLang="en-US"/>
              <a:t>병렬 연결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7004050-BE7E-27A3-7736-ABF7FDCE5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610" y="1325563"/>
            <a:ext cx="3886400" cy="2514729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5FCCFB-5B04-0959-4E40-4632986F3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0" y="3872428"/>
            <a:ext cx="4015343" cy="2514729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323F28CA-438C-F03C-9F25-287593005D19}"/>
              </a:ext>
            </a:extLst>
          </p:cNvPr>
          <p:cNvGrpSpPr/>
          <p:nvPr/>
        </p:nvGrpSpPr>
        <p:grpSpPr>
          <a:xfrm>
            <a:off x="5844442" y="2410772"/>
            <a:ext cx="2356151" cy="1064896"/>
            <a:chOff x="7305316" y="1904531"/>
            <a:chExt cx="2356151" cy="10648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75B7AD1-31F3-2955-6BE0-D860B2E035CA}"/>
                    </a:ext>
                  </a:extLst>
                </p:cNvPr>
                <p:cNvSpPr txBox="1"/>
                <p:nvPr/>
              </p:nvSpPr>
              <p:spPr>
                <a:xfrm>
                  <a:off x="7305316" y="1904531"/>
                  <a:ext cx="395878" cy="69147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175B7AD1-31F3-2955-6BE0-D860B2E035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5316" y="1904531"/>
                  <a:ext cx="395878" cy="69147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E27D3DD-6A5F-1479-73C6-55324748F7AE}"/>
                    </a:ext>
                  </a:extLst>
                </p:cNvPr>
                <p:cNvSpPr txBox="1"/>
                <p:nvPr/>
              </p:nvSpPr>
              <p:spPr>
                <a:xfrm>
                  <a:off x="7973441" y="1908624"/>
                  <a:ext cx="508088" cy="10608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E27D3DD-6A5F-1479-73C6-55324748F7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3441" y="1908624"/>
                  <a:ext cx="508088" cy="106080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791336F-C851-F5EC-A30C-245B5558C0F3}"/>
                    </a:ext>
                  </a:extLst>
                </p:cNvPr>
                <p:cNvSpPr txBox="1"/>
                <p:nvPr/>
              </p:nvSpPr>
              <p:spPr>
                <a:xfrm>
                  <a:off x="8691083" y="1908624"/>
                  <a:ext cx="506485" cy="10608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p>
                                <m:r>
                                  <a:rPr lang="en-US" altLang="ko-KR" sz="2400" b="1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791336F-C851-F5EC-A30C-245B5558C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1083" y="1908624"/>
                  <a:ext cx="506485" cy="106080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4002B08-20DB-0E16-E5F5-BCBECE4FBDE3}"/>
                </a:ext>
              </a:extLst>
            </p:cNvPr>
            <p:cNvSpPr txBox="1"/>
            <p:nvPr/>
          </p:nvSpPr>
          <p:spPr>
            <a:xfrm>
              <a:off x="7694755" y="1991923"/>
              <a:ext cx="40588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=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97CA52E-EACA-AC9B-8E95-9C798A7A7477}"/>
                </a:ext>
              </a:extLst>
            </p:cNvPr>
            <p:cNvSpPr txBox="1"/>
            <p:nvPr/>
          </p:nvSpPr>
          <p:spPr>
            <a:xfrm>
              <a:off x="8386727" y="2064986"/>
              <a:ext cx="40588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+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1F6D6E-5303-66A3-200E-012DD31595A5}"/>
                </a:ext>
              </a:extLst>
            </p:cNvPr>
            <p:cNvSpPr txBox="1"/>
            <p:nvPr/>
          </p:nvSpPr>
          <p:spPr>
            <a:xfrm>
              <a:off x="9205893" y="1985439"/>
              <a:ext cx="455574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…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A57CA2F-3C27-57EF-5867-FF3ABA431B51}"/>
              </a:ext>
            </a:extLst>
          </p:cNvPr>
          <p:cNvGrpSpPr/>
          <p:nvPr/>
        </p:nvGrpSpPr>
        <p:grpSpPr>
          <a:xfrm>
            <a:off x="5760447" y="4841018"/>
            <a:ext cx="2330812" cy="863002"/>
            <a:chOff x="7278362" y="3181789"/>
            <a:chExt cx="2330812" cy="8630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2CC1662-12E8-ABE5-89E7-CA118F97ECBB}"/>
                    </a:ext>
                  </a:extLst>
                </p:cNvPr>
                <p:cNvSpPr txBox="1"/>
                <p:nvPr/>
              </p:nvSpPr>
              <p:spPr>
                <a:xfrm>
                  <a:off x="7278362" y="3299587"/>
                  <a:ext cx="500073" cy="7452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2CC1662-12E8-ABE5-89E7-CA118F97E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8362" y="3299587"/>
                  <a:ext cx="500073" cy="745204"/>
                </a:xfrm>
                <a:prstGeom prst="rect">
                  <a:avLst/>
                </a:prstGeom>
                <a:blipFill>
                  <a:blip r:embed="rId7"/>
                  <a:stretch>
                    <a:fillRect l="-4878" t="-81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DB3A69-5D2B-C843-A629-F984E9B49197}"/>
                    </a:ext>
                  </a:extLst>
                </p:cNvPr>
                <p:cNvSpPr txBox="1"/>
                <p:nvPr/>
              </p:nvSpPr>
              <p:spPr>
                <a:xfrm>
                  <a:off x="7997624" y="3294507"/>
                  <a:ext cx="415178" cy="7386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DB3A69-5D2B-C843-A629-F984E9B49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7624" y="3294507"/>
                  <a:ext cx="415178" cy="73866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AEB8780-0F3A-A491-6D40-C0DA782EA3B1}"/>
                    </a:ext>
                  </a:extLst>
                </p:cNvPr>
                <p:cNvSpPr txBox="1"/>
                <p:nvPr/>
              </p:nvSpPr>
              <p:spPr>
                <a:xfrm>
                  <a:off x="8721644" y="3292094"/>
                  <a:ext cx="503279" cy="74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𝑳</m:t>
                            </m:r>
                          </m:e>
                          <m:sup>
                            <m:r>
                              <a:rPr lang="en-US" altLang="ko-KR" sz="2400" b="1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altLang="ko-KR" sz="2400" b="1" dirty="0">
                    <a:solidFill>
                      <a:schemeClr val="accent1"/>
                    </a:solidFill>
                  </a:endParaRPr>
                </a:p>
                <a:p>
                  <a:endParaRPr lang="ko-KR" altLang="en-US" sz="2400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AEB8780-0F3A-A491-6D40-C0DA782EA3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1644" y="3292094"/>
                  <a:ext cx="503279" cy="746999"/>
                </a:xfrm>
                <a:prstGeom prst="rect">
                  <a:avLst/>
                </a:prstGeom>
                <a:blipFill>
                  <a:blip r:embed="rId9"/>
                  <a:stretch>
                    <a:fillRect l="-3659" t="-81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26D5415-454F-94B5-8B19-A6942B62E3EC}"/>
                </a:ext>
              </a:extLst>
            </p:cNvPr>
            <p:cNvSpPr txBox="1"/>
            <p:nvPr/>
          </p:nvSpPr>
          <p:spPr>
            <a:xfrm>
              <a:off x="7669614" y="32397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=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FEB3A4-CDAE-CB94-C38B-7F94C6332CE4}"/>
                </a:ext>
              </a:extLst>
            </p:cNvPr>
            <p:cNvSpPr txBox="1"/>
            <p:nvPr/>
          </p:nvSpPr>
          <p:spPr>
            <a:xfrm>
              <a:off x="8391287" y="3239732"/>
              <a:ext cx="4058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+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81F1EA1-2DAD-BBBA-0B3D-04E0FAB8E0EE}"/>
                </a:ext>
              </a:extLst>
            </p:cNvPr>
            <p:cNvSpPr txBox="1"/>
            <p:nvPr/>
          </p:nvSpPr>
          <p:spPr>
            <a:xfrm>
              <a:off x="9153600" y="3181789"/>
              <a:ext cx="455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b="1" dirty="0">
                  <a:solidFill>
                    <a:schemeClr val="accent1"/>
                  </a:solidFill>
                </a:rPr>
                <a:t>…</a:t>
              </a:r>
              <a:endParaRPr lang="ko-KR" altLang="en-US" sz="24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615DE88-2ABD-EDCA-684D-9FB4D2DE53C6}"/>
              </a:ext>
            </a:extLst>
          </p:cNvPr>
          <p:cNvSpPr txBox="1"/>
          <p:nvPr/>
        </p:nvSpPr>
        <p:spPr>
          <a:xfrm>
            <a:off x="8447692" y="4773763"/>
            <a:ext cx="3590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저항과 식과 동일 이유는 저항의 역할</a:t>
            </a:r>
            <a:r>
              <a:rPr lang="en-US" altLang="ko-KR" dirty="0"/>
              <a:t>(</a:t>
            </a:r>
            <a:r>
              <a:rPr lang="ko-KR" altLang="en-US" dirty="0"/>
              <a:t>전류 제한</a:t>
            </a:r>
            <a:r>
              <a:rPr lang="en-US" altLang="ko-KR" dirty="0"/>
              <a:t>)</a:t>
            </a:r>
            <a:r>
              <a:rPr lang="ko-KR" altLang="en-US" dirty="0"/>
              <a:t>과 비슷하기 때문</a:t>
            </a:r>
          </a:p>
        </p:txBody>
      </p:sp>
    </p:spTree>
    <p:extLst>
      <p:ext uri="{BB962C8B-B14F-4D97-AF65-F5344CB8AC3E}">
        <p14:creationId xmlns:p14="http://schemas.microsoft.com/office/powerpoint/2010/main" val="341011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C75A-5459-2104-6643-6FC6CA35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7416-940A-123B-C9F6-281DD6383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인덕터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EE56762-6280-30F5-CA6D-B852F3675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622" y="4981765"/>
            <a:ext cx="4251931" cy="147866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스위칭</a:t>
            </a:r>
            <a:r>
              <a:rPr lang="ko-KR" altLang="en-US" dirty="0"/>
              <a:t> </a:t>
            </a:r>
            <a:r>
              <a:rPr lang="ko-KR" altLang="en-US" dirty="0" err="1"/>
              <a:t>레귤레이터에서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/>
              <a:t>전압안정용으로 사용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502EAE-1570-F4BF-4F33-33DD62F06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267" y="1716088"/>
            <a:ext cx="2840951" cy="231298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F8973AE-85F2-FAF3-9FAF-4AD45C096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82" y="1645254"/>
            <a:ext cx="2720398" cy="259484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445F30-DAD8-4826-BD32-6E9082578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7099" y="2235705"/>
            <a:ext cx="3738996" cy="11932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B05F97-BFF2-B8BB-CDB6-5C6181339B04}"/>
              </a:ext>
            </a:extLst>
          </p:cNvPr>
          <p:cNvSpPr txBox="1"/>
          <p:nvPr/>
        </p:nvSpPr>
        <p:spPr>
          <a:xfrm>
            <a:off x="4049878" y="4684880"/>
            <a:ext cx="35900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HPF(High Pass Filter)</a:t>
            </a:r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813E9-844D-7FF6-93AD-5E78075B0CC6}"/>
              </a:ext>
            </a:extLst>
          </p:cNvPr>
          <p:cNvSpPr txBox="1"/>
          <p:nvPr/>
        </p:nvSpPr>
        <p:spPr>
          <a:xfrm>
            <a:off x="400449" y="4667489"/>
            <a:ext cx="35900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LPF(Low Pass Filter)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CDC4E-14B5-0E47-B58F-33CFB0027442}"/>
              </a:ext>
            </a:extLst>
          </p:cNvPr>
          <p:cNvSpPr txBox="1"/>
          <p:nvPr/>
        </p:nvSpPr>
        <p:spPr>
          <a:xfrm>
            <a:off x="8153148" y="4684879"/>
            <a:ext cx="355642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BPF(Band Pass Filter)</a:t>
            </a:r>
          </a:p>
          <a:p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36488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AD261-548F-3895-D36F-629188EB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논리게이트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3260CB1A-D5BD-5E8C-2019-5A906EE3D8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54665" y="2207367"/>
            <a:ext cx="5707724" cy="2606267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7E345-D08B-1529-A0C5-CC6306504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9AF24E-8039-8293-6606-7DB2FBA3BBE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5199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6FD9-5CC0-1775-BE69-5E927013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C4755-EC02-A066-625D-AC523F8E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논리게이트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5E5A24-F7D2-316F-4291-D94233F7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8C54AE-52BD-E036-CB2D-738610CE134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B3CB10-2B27-6117-8924-9BA17AC6A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3434"/>
            <a:ext cx="10515600" cy="527725"/>
          </a:xfrm>
        </p:spPr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FD33A1E-E9CE-B662-3C5D-D22003AD5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765" y="3320444"/>
            <a:ext cx="3298188" cy="25826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1DB1D6-5274-2B00-EE82-84EB600D7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728" y="3334698"/>
            <a:ext cx="3298187" cy="254141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F4DE063-660A-67DD-89D7-9C34C2CE3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7414" y="1296569"/>
            <a:ext cx="2082907" cy="201305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D4ADCFD-3EF8-466B-A194-05379C799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25" y="1275765"/>
            <a:ext cx="2190863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8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526BE-78DF-FB50-4573-C5A98D53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4AC37-3DCF-6FFA-4E5E-20BAE47A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논리게이트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6DD91-BB78-B8FE-C82A-9279CAC0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FD33E-7BB7-3C3C-D2EA-174F12F0834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FE0E3-6280-8E96-9A7B-3A58CD22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06436"/>
            <a:ext cx="10515600" cy="527725"/>
          </a:xfrm>
        </p:spPr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D2051BD-308A-867A-B61D-2A0689F5D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178" y="3429000"/>
            <a:ext cx="3178356" cy="244907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FF1513-75CC-A7E3-D3AB-0F51F04A3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585" y="3429000"/>
            <a:ext cx="3153456" cy="244907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9A61DA1-488A-DB2B-4355-EF9E8BDE0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630" y="1549839"/>
            <a:ext cx="1790792" cy="156853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8B3B777-83A9-1516-B07C-30CA42593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5410" y="1549839"/>
            <a:ext cx="1978784" cy="170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9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AA1BE-3E89-9205-EB4F-0FE03775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1D778-60D8-2DC0-5A96-30ADE5C1C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논리게이트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20050-371D-6E41-449E-118B714C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1AD10E-9F61-E2D3-1329-696BED390C5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2E5DCF-EEEC-F839-8DCE-FA3DA0203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9237"/>
            <a:ext cx="10515600" cy="527725"/>
          </a:xfrm>
        </p:spPr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E62089-A707-2862-8E73-52CFA2F50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85" y="2329249"/>
            <a:ext cx="2663061" cy="24179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32F85FB-6610-CA04-3412-846676890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252" y="2220003"/>
            <a:ext cx="3249661" cy="241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92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4CED-1661-E55C-B88B-5CA8FA37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7C189-D9A6-7B72-2FB0-A4D01616A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논리게이트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9E4C64-7BAB-54A5-7344-47CCB828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A07F2D-B9BE-0988-424D-9A9E6B721A2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CF4CDB-6291-12C7-3964-6610BFAB5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9237"/>
            <a:ext cx="10515600" cy="527725"/>
          </a:xfrm>
        </p:spPr>
        <p:txBody>
          <a:bodyPr>
            <a:normAutofit lnSpcReduction="10000"/>
          </a:bodyPr>
          <a:lstStyle/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904073E-5AB6-D438-B734-21F720D26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365" y="2395425"/>
            <a:ext cx="2353483" cy="21573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0961A6-46C9-BE00-FCD1-3C163FB8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926" y="2276001"/>
            <a:ext cx="3118206" cy="23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59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DEAF1-E500-6559-1ADA-BD155BBC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반가산기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FEA91-70EA-2C1F-B71F-0E32FF153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9C0724-9B27-780C-A913-144E63F11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1E2766-F2FA-5A8C-804D-DFE438C9B0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98CEE2F-2914-3425-6D5E-39F077C74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97" y="2525866"/>
            <a:ext cx="4819006" cy="256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889F2-CB42-DD17-6A96-7871887DB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트랜지스터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62FAD5-1244-D736-206D-7F40EC30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D1AE65-B7B2-3752-EC22-53E41A13B2F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1026" name="Picture 2" descr="반도체 기초지식 - 트랜지스터(Transistor)란 무엇일까?">
            <a:extLst>
              <a:ext uri="{FF2B5EF4-FFF2-40B4-BE49-F238E27FC236}">
                <a16:creationId xmlns:a16="http://schemas.microsoft.com/office/drawing/2014/main" id="{F9E33DB5-93E2-2C2E-D6FA-3DF46FF52C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260" y="1491884"/>
            <a:ext cx="4684071" cy="352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A3FCA24-6878-8015-D8F7-95D8B9B2D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541" y="1895341"/>
            <a:ext cx="1986785" cy="3067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11182D-642E-29AF-2012-09CEADFFD954}"/>
              </a:ext>
            </a:extLst>
          </p:cNvPr>
          <p:cNvSpPr txBox="1"/>
          <p:nvPr/>
        </p:nvSpPr>
        <p:spPr>
          <a:xfrm>
            <a:off x="2923398" y="5520134"/>
            <a:ext cx="6097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전류나 전압흐름을 조절하여 증폭</a:t>
            </a:r>
            <a:r>
              <a:rPr lang="en-US" altLang="ko-KR" dirty="0"/>
              <a:t>, </a:t>
            </a:r>
            <a:r>
              <a:rPr lang="ko-KR" altLang="en-US" dirty="0"/>
              <a:t>스위치 역할을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9645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AF887-2BF0-D5DB-1C01-5DD5E49F5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9C8DB-134D-85ED-D948-B2754CB7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트랜지스터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7BF76A-8125-0583-ECB7-1134030A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666CC3-1B34-493C-4C66-175C4114C05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6D30D2-9D17-FA25-CF87-8C20F77A2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610" y="1907484"/>
            <a:ext cx="1553156" cy="17138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F818CFC-0552-7D42-3CF1-38DF0234B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82" y="1862445"/>
            <a:ext cx="1553156" cy="176987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A62A1-E355-7F59-4C65-9AD5219E2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28992"/>
            <a:ext cx="10515600" cy="1247971"/>
          </a:xfrm>
        </p:spPr>
        <p:txBody>
          <a:bodyPr>
            <a:normAutofit/>
          </a:bodyPr>
          <a:lstStyle/>
          <a:p>
            <a:r>
              <a:rPr lang="en-US" altLang="ko-KR" dirty="0"/>
              <a:t>NPN: C-&gt;E </a:t>
            </a:r>
            <a:r>
              <a:rPr lang="ko-KR" altLang="en-US" dirty="0"/>
              <a:t>로 전류 </a:t>
            </a:r>
            <a:r>
              <a:rPr lang="en-US" altLang="ko-KR" dirty="0"/>
              <a:t>(B&gt;E(</a:t>
            </a:r>
            <a:r>
              <a:rPr lang="ko-KR" altLang="en-US" dirty="0"/>
              <a:t>전압</a:t>
            </a:r>
            <a:r>
              <a:rPr lang="en-US" altLang="ko-KR" dirty="0"/>
              <a:t>), C</a:t>
            </a:r>
            <a:r>
              <a:rPr lang="ko-KR" altLang="en-US" dirty="0"/>
              <a:t>가 </a:t>
            </a:r>
            <a:r>
              <a:rPr lang="en-US" altLang="ko-KR" dirty="0"/>
              <a:t>-, E</a:t>
            </a:r>
            <a:r>
              <a:rPr lang="ko-KR" altLang="en-US" dirty="0"/>
              <a:t>가</a:t>
            </a:r>
            <a:r>
              <a:rPr lang="en-US" altLang="ko-KR" dirty="0"/>
              <a:t>+)</a:t>
            </a:r>
          </a:p>
          <a:p>
            <a:r>
              <a:rPr lang="en-US" altLang="ko-KR" dirty="0"/>
              <a:t>PNP: E-&gt;C </a:t>
            </a:r>
            <a:r>
              <a:rPr lang="ko-KR" altLang="en-US" dirty="0"/>
              <a:t>로 전류 </a:t>
            </a:r>
            <a:r>
              <a:rPr lang="en-US" altLang="ko-KR" dirty="0"/>
              <a:t>(B&lt;E(</a:t>
            </a:r>
            <a:r>
              <a:rPr lang="ko-KR" altLang="en-US" dirty="0"/>
              <a:t>전압</a:t>
            </a:r>
            <a:r>
              <a:rPr lang="en-US" altLang="ko-KR" dirty="0"/>
              <a:t>), C</a:t>
            </a:r>
            <a:r>
              <a:rPr lang="ko-KR" altLang="en-US" dirty="0"/>
              <a:t>가</a:t>
            </a:r>
            <a:r>
              <a:rPr lang="en-US" altLang="ko-KR" dirty="0"/>
              <a:t> +, E</a:t>
            </a:r>
            <a:r>
              <a:rPr lang="ko-KR" altLang="en-US" dirty="0"/>
              <a:t>가 </a:t>
            </a:r>
            <a:r>
              <a:rPr lang="en-US" altLang="ko-KR" dirty="0"/>
              <a:t>-)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E4C136-776F-4E6D-67DE-1C6DC44D0ACE}"/>
              </a:ext>
            </a:extLst>
          </p:cNvPr>
          <p:cNvSpPr txBox="1"/>
          <p:nvPr/>
        </p:nvSpPr>
        <p:spPr>
          <a:xfrm>
            <a:off x="3185280" y="3743561"/>
            <a:ext cx="9608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NPN</a:t>
            </a:r>
            <a:endParaRPr lang="ko-KR" alt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BD6CB-27D6-96E8-8FD2-B2C5B3650596}"/>
              </a:ext>
            </a:extLst>
          </p:cNvPr>
          <p:cNvSpPr txBox="1"/>
          <p:nvPr/>
        </p:nvSpPr>
        <p:spPr>
          <a:xfrm>
            <a:off x="7001543" y="3683317"/>
            <a:ext cx="9608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/>
              <a:t>PNP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9933586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9888</TotalTime>
  <Words>285</Words>
  <Application>Microsoft Office PowerPoint</Application>
  <PresentationFormat>와이드스크린</PresentationFormat>
  <Paragraphs>91</Paragraphs>
  <Slides>13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G마켓 산스 TTF Bold</vt:lpstr>
      <vt:lpstr>G마켓 산스 TTF Medium</vt:lpstr>
      <vt:lpstr>맑은 고딕</vt:lpstr>
      <vt:lpstr>메이플스토리</vt:lpstr>
      <vt:lpstr>Arial</vt:lpstr>
      <vt:lpstr>Cambria Math</vt:lpstr>
      <vt:lpstr>1_Office 테마</vt:lpstr>
      <vt:lpstr>회로 실습</vt:lpstr>
      <vt:lpstr>커패시터의 직렬/병렬 연결</vt:lpstr>
      <vt:lpstr>커패시터</vt:lpstr>
      <vt:lpstr>인덕터의 직렬/병렬 연결</vt:lpstr>
      <vt:lpstr>인덕터</vt:lpstr>
      <vt:lpstr>논리게이트</vt:lpstr>
      <vt:lpstr>논리게이트</vt:lpstr>
      <vt:lpstr>논리게이트</vt:lpstr>
      <vt:lpstr>논리게이트</vt:lpstr>
      <vt:lpstr>논리게이트</vt:lpstr>
      <vt:lpstr>반가산기</vt:lpstr>
      <vt:lpstr>트랜지스터</vt:lpstr>
      <vt:lpstr>트랜지스터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363</cp:revision>
  <dcterms:created xsi:type="dcterms:W3CDTF">2024-10-23T01:56:35Z</dcterms:created>
  <dcterms:modified xsi:type="dcterms:W3CDTF">2025-02-10T09:46:20Z</dcterms:modified>
</cp:coreProperties>
</file>