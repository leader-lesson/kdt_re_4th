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327" r:id="rId2"/>
    <p:sldId id="328" r:id="rId3"/>
    <p:sldId id="329" r:id="rId4"/>
    <p:sldId id="330" r:id="rId5"/>
    <p:sldId id="334" r:id="rId6"/>
    <p:sldId id="331" r:id="rId7"/>
    <p:sldId id="332" r:id="rId8"/>
    <p:sldId id="333" r:id="rId9"/>
    <p:sldId id="370" r:id="rId10"/>
    <p:sldId id="371" r:id="rId11"/>
    <p:sldId id="372" r:id="rId12"/>
    <p:sldId id="3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97" d="100"/>
          <a:sy n="97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79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풀업저항</a:t>
            </a:r>
            <a:endParaRPr lang="en-US" altLang="ko-KR" dirty="0"/>
          </a:p>
          <a:p>
            <a:r>
              <a:rPr lang="en-US" altLang="ko-KR" dirty="0"/>
              <a:t>1:N </a:t>
            </a:r>
            <a:r>
              <a:rPr lang="ko-KR" altLang="en-US" dirty="0"/>
              <a:t>통신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789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SDA</a:t>
            </a:r>
            <a:r>
              <a:rPr lang="ko-KR" altLang="en-US" dirty="0"/>
              <a:t>가 고</a:t>
            </a:r>
            <a:r>
              <a:rPr lang="en-US" altLang="ko-KR" dirty="0"/>
              <a:t>-&gt;</a:t>
            </a:r>
            <a:r>
              <a:rPr lang="ko-KR" altLang="en-US" dirty="0"/>
              <a:t>저로 변환</a:t>
            </a:r>
            <a:endParaRPr lang="en-US" altLang="ko-KR" dirty="0"/>
          </a:p>
          <a:p>
            <a:r>
              <a:rPr lang="en-US" altLang="ko-KR" dirty="0"/>
              <a:t>SLAVE</a:t>
            </a:r>
            <a:r>
              <a:rPr lang="ko-KR" altLang="en-US" dirty="0"/>
              <a:t>에 주소 전송</a:t>
            </a:r>
            <a:endParaRPr lang="en-US" altLang="ko-KR" dirty="0"/>
          </a:p>
          <a:p>
            <a:r>
              <a:rPr lang="ko-KR" altLang="en-US" dirty="0"/>
              <a:t>주소가 맞는 </a:t>
            </a:r>
            <a:r>
              <a:rPr lang="en-US" altLang="ko-KR" dirty="0"/>
              <a:t>SLAVE</a:t>
            </a:r>
            <a:r>
              <a:rPr lang="ko-KR" altLang="en-US" dirty="0"/>
              <a:t>는 로우 </a:t>
            </a:r>
            <a:r>
              <a:rPr lang="en-US" altLang="ko-KR" dirty="0"/>
              <a:t>1</a:t>
            </a:r>
            <a:r>
              <a:rPr lang="ko-KR" altLang="en-US" dirty="0"/>
              <a:t>비트 전송</a:t>
            </a:r>
            <a:endParaRPr lang="en-US" altLang="ko-KR" dirty="0"/>
          </a:p>
          <a:p>
            <a:r>
              <a:rPr lang="ko-KR" altLang="en-US" dirty="0"/>
              <a:t>마스터는 </a:t>
            </a:r>
            <a:r>
              <a:rPr lang="en-US" altLang="ko-KR" dirty="0"/>
              <a:t>8</a:t>
            </a:r>
            <a:r>
              <a:rPr lang="ko-KR" altLang="en-US" dirty="0"/>
              <a:t>비트 데이터 프레임 전송</a:t>
            </a:r>
            <a:endParaRPr lang="en-US" altLang="ko-KR" dirty="0"/>
          </a:p>
          <a:p>
            <a:r>
              <a:rPr lang="ko-KR" altLang="en-US" dirty="0" err="1"/>
              <a:t>슬레이브는</a:t>
            </a:r>
            <a:r>
              <a:rPr lang="ko-KR" altLang="en-US" dirty="0"/>
              <a:t> </a:t>
            </a:r>
            <a:r>
              <a:rPr lang="en-US" altLang="ko-KR" dirty="0"/>
              <a:t>ACK 1</a:t>
            </a:r>
            <a:r>
              <a:rPr lang="ko-KR" altLang="en-US" dirty="0"/>
              <a:t>비트 전송</a:t>
            </a:r>
            <a:endParaRPr lang="en-US" altLang="ko-KR" dirty="0"/>
          </a:p>
          <a:p>
            <a:r>
              <a:rPr lang="ko-KR" altLang="en-US" dirty="0" err="1"/>
              <a:t>중지시</a:t>
            </a:r>
            <a:r>
              <a:rPr lang="ko-KR" altLang="en-US" dirty="0"/>
              <a:t> </a:t>
            </a:r>
            <a:r>
              <a:rPr lang="en-US" altLang="ko-KR" dirty="0"/>
              <a:t>SDA, SCL </a:t>
            </a:r>
            <a:r>
              <a:rPr lang="ko-KR" altLang="en-US" dirty="0" err="1"/>
              <a:t>둘다</a:t>
            </a:r>
            <a:r>
              <a:rPr lang="ko-KR" altLang="en-US" dirty="0"/>
              <a:t> 하이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90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https://www.devicemart.co.kr/goods/search?keyword_log_flag=Y&amp;search_text=i2c&amp;q=i2c&amp;x=0&amp;y=0</a:t>
            </a:r>
          </a:p>
          <a:p>
            <a:endParaRPr lang="en-US" altLang="ko-KR" dirty="0"/>
          </a:p>
          <a:p>
            <a:r>
              <a:rPr lang="ko-KR" altLang="en-US" dirty="0" err="1"/>
              <a:t>디바이스마트에서</a:t>
            </a:r>
            <a:r>
              <a:rPr lang="ko-KR" altLang="en-US" dirty="0"/>
              <a:t> </a:t>
            </a:r>
            <a:r>
              <a:rPr lang="en-US" altLang="ko-KR" dirty="0"/>
              <a:t>I2C </a:t>
            </a:r>
            <a:r>
              <a:rPr lang="ko-KR" altLang="en-US" dirty="0"/>
              <a:t>검색해서 보여주기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06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71741-0E76-6CC8-20F3-B415F8B4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C3195B-5DEE-92A6-EC34-8278399B9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3C5E7B-34FC-1088-3FAA-DB9809629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https://www.devicemart.co.kr/goods/search?keyword_log_flag=Y&amp;search_text=i2c&amp;q=i2c&amp;x=0&amp;y=0</a:t>
            </a:r>
          </a:p>
          <a:p>
            <a:endParaRPr lang="en-US" altLang="ko-KR" dirty="0"/>
          </a:p>
          <a:p>
            <a:r>
              <a:rPr lang="ko-KR" altLang="en-US" dirty="0" err="1"/>
              <a:t>디바이스마트에서</a:t>
            </a:r>
            <a:r>
              <a:rPr lang="ko-KR" altLang="en-US" dirty="0"/>
              <a:t> </a:t>
            </a:r>
            <a:r>
              <a:rPr lang="en-US" altLang="ko-KR" dirty="0"/>
              <a:t>I2C </a:t>
            </a:r>
            <a:r>
              <a:rPr lang="ko-KR" altLang="en-US" dirty="0"/>
              <a:t>검색해서 보여주기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버퍼 지우기 코드 없애고 테스트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베경 </a:t>
            </a:r>
            <a:r>
              <a:rPr lang="en-US" altLang="ko-KR" dirty="0"/>
              <a:t>led </a:t>
            </a:r>
            <a:r>
              <a:rPr lang="ko-KR" altLang="en-US" dirty="0"/>
              <a:t>코드 지우고 테스트 해보기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217D3-0E16-AD04-807C-7B44351EA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25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19F15-C069-5048-F314-CBA988F1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74C43-C67A-7996-8725-3B7A7504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5E2A3E-E333-280C-B97F-222579968E1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85A036F-28D5-2319-50FA-FA869C5063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868" y="1096679"/>
            <a:ext cx="5982824" cy="293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36644B-9136-95BE-6447-D79FE9571D40}"/>
              </a:ext>
            </a:extLst>
          </p:cNvPr>
          <p:cNvSpPr txBox="1"/>
          <p:nvPr/>
        </p:nvSpPr>
        <p:spPr>
          <a:xfrm>
            <a:off x="329983" y="2296522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SDA: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송수신 라인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8D3B8-A956-10AB-4246-0B6515B47F8C}"/>
              </a:ext>
            </a:extLst>
          </p:cNvPr>
          <p:cNvSpPr txBox="1"/>
          <p:nvPr/>
        </p:nvSpPr>
        <p:spPr>
          <a:xfrm>
            <a:off x="7234516" y="4000020"/>
            <a:ext cx="3817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SCL: Master, Slave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간 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송수신시 타이밍을 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맞추기 위한 클럭을 생성하는 라인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CD56C-84CD-D27C-A7BE-9D8F8E8313E1}"/>
              </a:ext>
            </a:extLst>
          </p:cNvPr>
          <p:cNvSpPr txBox="1"/>
          <p:nvPr/>
        </p:nvSpPr>
        <p:spPr>
          <a:xfrm>
            <a:off x="1500122" y="5274210"/>
            <a:ext cx="89603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555555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</a:t>
            </a:r>
            <a:r>
              <a:rPr lang="ko-KR" altLang="en-US" sz="3200" b="0" i="0" dirty="0">
                <a:solidFill>
                  <a:srgbClr val="555555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가닥으로 직렬통신을 하는 동기식 통신 프로토콜</a:t>
            </a:r>
            <a:endParaRPr lang="ko-KR" altLang="en-US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12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54EF3-9046-E7DB-50EE-612CE6CC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EF63A-A0E1-835D-8B85-E135F273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84957D-2892-565A-98A6-E1F6C10C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804933-57B3-2470-E491-E445C895D78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6146" name="Picture 2" descr="I2C Communication - STEMpedia Education">
            <a:extLst>
              <a:ext uri="{FF2B5EF4-FFF2-40B4-BE49-F238E27FC236}">
                <a16:creationId xmlns:a16="http://schemas.microsoft.com/office/drawing/2014/main" id="{6039EB38-A52B-1C6D-20E7-FA5C7ED14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579" y="1505389"/>
            <a:ext cx="7458988" cy="419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11053D46-0FEB-F04A-183B-A0EC51C0DDD8}"/>
              </a:ext>
            </a:extLst>
          </p:cNvPr>
          <p:cNvSpPr/>
          <p:nvPr/>
        </p:nvSpPr>
        <p:spPr>
          <a:xfrm>
            <a:off x="8096250" y="2335652"/>
            <a:ext cx="1060450" cy="9906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E2B0BDD-B93B-E4EB-F697-A1AF7D8EA087}"/>
              </a:ext>
            </a:extLst>
          </p:cNvPr>
          <p:cNvCxnSpPr>
            <a:cxnSpLocks/>
          </p:cNvCxnSpPr>
          <p:nvPr/>
        </p:nvCxnSpPr>
        <p:spPr>
          <a:xfrm>
            <a:off x="9116563" y="3070225"/>
            <a:ext cx="713237" cy="57617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226043-E0EF-F2A5-0C05-270DACBEB03C}"/>
              </a:ext>
            </a:extLst>
          </p:cNvPr>
          <p:cNvSpPr txBox="1"/>
          <p:nvPr/>
        </p:nvSpPr>
        <p:spPr>
          <a:xfrm>
            <a:off x="9734104" y="3701158"/>
            <a:ext cx="115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풀업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저항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9D6601-FB0E-1784-C56A-F413554E2F5D}"/>
              </a:ext>
            </a:extLst>
          </p:cNvPr>
          <p:cNvSpPr/>
          <p:nvPr/>
        </p:nvSpPr>
        <p:spPr>
          <a:xfrm>
            <a:off x="3695700" y="3050335"/>
            <a:ext cx="1060450" cy="9906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4ED2174-D785-29B4-75D1-0D24A3723EE9}"/>
              </a:ext>
            </a:extLst>
          </p:cNvPr>
          <p:cNvCxnSpPr>
            <a:cxnSpLocks/>
          </p:cNvCxnSpPr>
          <p:nvPr/>
        </p:nvCxnSpPr>
        <p:spPr>
          <a:xfrm flipH="1">
            <a:off x="3613150" y="3994538"/>
            <a:ext cx="385313" cy="70446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5F8CBE-B742-3E33-A301-E559A91ACFDA}"/>
              </a:ext>
            </a:extLst>
          </p:cNvPr>
          <p:cNvSpPr txBox="1"/>
          <p:nvPr/>
        </p:nvSpPr>
        <p:spPr>
          <a:xfrm>
            <a:off x="2101851" y="4832437"/>
            <a:ext cx="2533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7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비트 주소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128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 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Slave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가능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비트 주소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1024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 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Slave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가능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447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D905-341E-F2CD-7741-D1C3EABF2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45854-5B2D-0246-6105-C9F70007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F78E69-EB02-15A9-239D-3A367D58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FFEFCF-7D73-9E94-3A23-D40F8CDC071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5122" name="Picture 2" descr="Basics of the I2C Communication Protocol">
            <a:extLst>
              <a:ext uri="{FF2B5EF4-FFF2-40B4-BE49-F238E27FC236}">
                <a16:creationId xmlns:a16="http://schemas.microsoft.com/office/drawing/2014/main" id="{2BA3AABB-692A-2BE8-A4B6-F27D13464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978" y="1148525"/>
            <a:ext cx="7055154" cy="51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89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A80CA-7ACC-4775-946C-24C72FC0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9461C-B2F8-1A9C-8E4C-79A7C8C3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F2B36-2EB8-71BE-7AD4-51D4A14A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EFDCD-3762-0F4A-9A2B-40F49A954CE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7170" name="Picture 2" descr="I2C 데이터 메세지의 구조와 전송과정 (Start, Stop Condition, Address Frame, Read/Write,  ACK Bit, Data Frame) : 네이버 블로그">
            <a:extLst>
              <a:ext uri="{FF2B5EF4-FFF2-40B4-BE49-F238E27FC236}">
                <a16:creationId xmlns:a16="http://schemas.microsoft.com/office/drawing/2014/main" id="{5F2EC97B-4D84-E672-DB3F-19F65CC126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283" y="2589525"/>
            <a:ext cx="5969434" cy="235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BA606F-437B-0ADC-08EE-306242ED25B3}"/>
              </a:ext>
            </a:extLst>
          </p:cNvPr>
          <p:cNvSpPr txBox="1"/>
          <p:nvPr/>
        </p:nvSpPr>
        <p:spPr>
          <a:xfrm>
            <a:off x="188518" y="3105834"/>
            <a:ext cx="2800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SDA, SCL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두 라인 모두 기본적으로는 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HIGH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C8660-6C59-A933-E625-A36D0E4E50AB}"/>
              </a:ext>
            </a:extLst>
          </p:cNvPr>
          <p:cNvSpPr txBox="1"/>
          <p:nvPr/>
        </p:nvSpPr>
        <p:spPr>
          <a:xfrm>
            <a:off x="2625507" y="1804558"/>
            <a:ext cx="347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SDA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 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LOW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 되면 통신 시작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6740B0B-CC5A-C20E-96A4-5673D068C125}"/>
              </a:ext>
            </a:extLst>
          </p:cNvPr>
          <p:cNvSpPr/>
          <p:nvPr/>
        </p:nvSpPr>
        <p:spPr>
          <a:xfrm>
            <a:off x="8083376" y="2534533"/>
            <a:ext cx="826718" cy="1707267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E93F5-148F-7EC4-FAC8-767AB4C80855}"/>
              </a:ext>
            </a:extLst>
          </p:cNvPr>
          <p:cNvSpPr txBox="1"/>
          <p:nvPr/>
        </p:nvSpPr>
        <p:spPr>
          <a:xfrm>
            <a:off x="5794260" y="5571644"/>
            <a:ext cx="164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프레임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EEFA0-FCE0-84C2-DE64-4DD0A24577C7}"/>
              </a:ext>
            </a:extLst>
          </p:cNvPr>
          <p:cNvSpPr txBox="1"/>
          <p:nvPr/>
        </p:nvSpPr>
        <p:spPr>
          <a:xfrm>
            <a:off x="9203132" y="2585068"/>
            <a:ext cx="2800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SDA, SCL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두 라인 모두 기본적으로는 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HIGH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955EB01-8D56-2439-7198-8D769B6DD62A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988868" y="3054350"/>
            <a:ext cx="198832" cy="3746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9D26B00-5B34-1BF2-94A9-5823EAAD9D9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988868" y="3429000"/>
            <a:ext cx="198832" cy="19874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F1E176AF-51FF-DBB3-C4E4-191D0EAAEB1C}"/>
              </a:ext>
            </a:extLst>
          </p:cNvPr>
          <p:cNvSpPr/>
          <p:nvPr/>
        </p:nvSpPr>
        <p:spPr>
          <a:xfrm>
            <a:off x="3717925" y="2658990"/>
            <a:ext cx="826718" cy="83298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왼쪽 중괄호 19">
            <a:extLst>
              <a:ext uri="{FF2B5EF4-FFF2-40B4-BE49-F238E27FC236}">
                <a16:creationId xmlns:a16="http://schemas.microsoft.com/office/drawing/2014/main" id="{2B31B71E-D83F-F003-7816-8A744D7E147B}"/>
              </a:ext>
            </a:extLst>
          </p:cNvPr>
          <p:cNvSpPr/>
          <p:nvPr/>
        </p:nvSpPr>
        <p:spPr>
          <a:xfrm rot="16200000">
            <a:off x="6091542" y="3043148"/>
            <a:ext cx="438150" cy="4358666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38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230D0-29FC-8B8F-AC05-962A76E5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E50CBD7-7BE0-4713-6601-6C15BB368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8771" y="1790860"/>
            <a:ext cx="5153309" cy="458930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70B49-416E-52A2-C6FD-5C5A33C4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26D253-A515-402A-2504-06F4E5C40E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E3A1AD-7B34-9663-0EB5-7C7AFB1F8AC5}"/>
              </a:ext>
            </a:extLst>
          </p:cNvPr>
          <p:cNvSpPr/>
          <p:nvPr/>
        </p:nvSpPr>
        <p:spPr>
          <a:xfrm>
            <a:off x="3954118" y="1790860"/>
            <a:ext cx="1107440" cy="8396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7D1CF8-25DC-F500-E27D-A11F7E0BCDB7}"/>
              </a:ext>
            </a:extLst>
          </p:cNvPr>
          <p:cNvSpPr/>
          <p:nvPr/>
        </p:nvSpPr>
        <p:spPr>
          <a:xfrm>
            <a:off x="5647220" y="1790860"/>
            <a:ext cx="1107440" cy="8396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66565-CDA5-DBC4-F6B5-DC9366F6E517}"/>
              </a:ext>
            </a:extLst>
          </p:cNvPr>
          <p:cNvSpPr txBox="1"/>
          <p:nvPr/>
        </p:nvSpPr>
        <p:spPr>
          <a:xfrm>
            <a:off x="536460" y="1905590"/>
            <a:ext cx="3069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Arial" panose="020B0604020202020204" pitchFamily="34" charset="0"/>
              </a:rPr>
              <a:t>-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Slew-rate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신호의 속도를 제어하여 노이즈를 줄이고 안정적인 통신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보장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en-US" altLang="ko-KR" b="1" dirty="0"/>
              <a:t>Spike Filter</a:t>
            </a:r>
            <a:r>
              <a:rPr lang="en-US" altLang="ko-KR" dirty="0"/>
              <a:t>: </a:t>
            </a:r>
            <a:r>
              <a:rPr lang="ko-KR" altLang="en-US" dirty="0"/>
              <a:t>신호의 짧은 스파이크를 필터링</a:t>
            </a:r>
            <a:endParaRPr lang="en-US" altLang="ko-KR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0A33E87-3F3F-5E9A-BC95-BE7FB10A0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Slew-rate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신호의 상승 및 하강 속도를 제어하여 노이즈를 줄이고 안정적인 통신을 보장합니다.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E05512-5CB1-CA5F-250D-6352EDCD527A}"/>
              </a:ext>
            </a:extLst>
          </p:cNvPr>
          <p:cNvSpPr/>
          <p:nvPr/>
        </p:nvSpPr>
        <p:spPr>
          <a:xfrm>
            <a:off x="5176520" y="3937000"/>
            <a:ext cx="1422400" cy="4724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E3BD79-A08C-489F-AD64-9F957E22F1D0}"/>
              </a:ext>
            </a:extLst>
          </p:cNvPr>
          <p:cNvSpPr/>
          <p:nvPr/>
        </p:nvSpPr>
        <p:spPr>
          <a:xfrm>
            <a:off x="7122160" y="3937000"/>
            <a:ext cx="1188720" cy="4724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61DA2-6F97-9398-8C3F-8CA8A93C4FEF}"/>
              </a:ext>
            </a:extLst>
          </p:cNvPr>
          <p:cNvSpPr txBox="1"/>
          <p:nvPr/>
        </p:nvSpPr>
        <p:spPr>
          <a:xfrm>
            <a:off x="683780" y="3738669"/>
            <a:ext cx="3069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/>
              <a:t>-</a:t>
            </a:r>
            <a:r>
              <a:rPr lang="ko-KR" altLang="en-US"/>
              <a:t>데이터 또는 주소를 전송하거나 수신할 때 사용하는 레지스터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AF5BC-484C-A826-334E-88725555589C}"/>
              </a:ext>
            </a:extLst>
          </p:cNvPr>
          <p:cNvSpPr txBox="1"/>
          <p:nvPr/>
        </p:nvSpPr>
        <p:spPr>
          <a:xfrm>
            <a:off x="8722080" y="3937000"/>
            <a:ext cx="3069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/>
              <a:t>-</a:t>
            </a:r>
            <a:r>
              <a:rPr lang="ko-KR" altLang="en-US" dirty="0"/>
              <a:t>통신 속도를 설정하기 위해 사용되는 레지스터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3DC8FA-C5AC-1D9F-2796-FB0E7864F82E}"/>
              </a:ext>
            </a:extLst>
          </p:cNvPr>
          <p:cNvSpPr txBox="1"/>
          <p:nvPr/>
        </p:nvSpPr>
        <p:spPr>
          <a:xfrm>
            <a:off x="8877326" y="5117057"/>
            <a:ext cx="3069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/>
              <a:t>-TWI </a:t>
            </a:r>
            <a:r>
              <a:rPr lang="ko-KR" altLang="en-US" dirty="0"/>
              <a:t>작동을 제어하는 레지스터입니다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인터럽트 활성화</a:t>
            </a:r>
            <a:r>
              <a:rPr lang="en-US" altLang="ko-KR" dirty="0"/>
              <a:t>, ACK </a:t>
            </a:r>
            <a:r>
              <a:rPr lang="ko-KR" altLang="en-US" dirty="0"/>
              <a:t>전송 제어 등</a:t>
            </a:r>
            <a:r>
              <a:rPr lang="en-US" altLang="ko-KR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33BDF-E5ED-3BB1-2332-C975250648F6}"/>
              </a:ext>
            </a:extLst>
          </p:cNvPr>
          <p:cNvSpPr txBox="1"/>
          <p:nvPr/>
        </p:nvSpPr>
        <p:spPr>
          <a:xfrm>
            <a:off x="591773" y="5017750"/>
            <a:ext cx="3069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/>
              <a:t>-</a:t>
            </a:r>
            <a:r>
              <a:rPr lang="ko-KR" altLang="en-US" dirty="0" err="1"/>
              <a:t>슬레이브</a:t>
            </a:r>
            <a:r>
              <a:rPr lang="ko-KR" altLang="en-US" dirty="0"/>
              <a:t> 모드에서 사용되는 고유한 </a:t>
            </a:r>
            <a:r>
              <a:rPr lang="en-US" altLang="ko-KR" dirty="0"/>
              <a:t>I²C </a:t>
            </a:r>
            <a:r>
              <a:rPr lang="ko-KR" altLang="en-US" dirty="0"/>
              <a:t>주소를 저장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BE3F0-8892-0015-D9E7-C5E1AA9C3ED2}"/>
              </a:ext>
            </a:extLst>
          </p:cNvPr>
          <p:cNvSpPr txBox="1"/>
          <p:nvPr/>
        </p:nvSpPr>
        <p:spPr>
          <a:xfrm>
            <a:off x="5002608" y="6137338"/>
            <a:ext cx="3069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/>
              <a:t>TWI</a:t>
            </a:r>
            <a:r>
              <a:rPr lang="ko-KR" altLang="en-US" dirty="0"/>
              <a:t>의 상태 정보를 저장하는 레지스터입니다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START/STOP </a:t>
            </a:r>
            <a:r>
              <a:rPr lang="ko-KR" altLang="en-US" dirty="0"/>
              <a:t>상태</a:t>
            </a:r>
            <a:r>
              <a:rPr lang="en-US" altLang="ko-KR" dirty="0"/>
              <a:t>, </a:t>
            </a:r>
            <a:r>
              <a:rPr lang="ko-KR" altLang="en-US" dirty="0"/>
              <a:t>데이터 전송 상태 등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903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CCA4D-5DD0-C115-6A40-C7014AA5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 </a:t>
            </a:r>
            <a:r>
              <a:rPr lang="ko-KR" altLang="en-US" dirty="0" err="1"/>
              <a:t>아두이노</a:t>
            </a:r>
            <a:r>
              <a:rPr lang="ko-KR" altLang="en-US" dirty="0"/>
              <a:t> 라이브러리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064E5D8-2B52-8BEB-84DC-7E6635A69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2159" y="1867397"/>
            <a:ext cx="6208919" cy="348738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54BB77-CF5B-EC02-0A4F-D7458D13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7C6D68-2691-10D3-74C4-D88A5BED8B5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5FFFE-13F8-D228-4A0A-07F804F2A046}"/>
              </a:ext>
            </a:extLst>
          </p:cNvPr>
          <p:cNvSpPr txBox="1">
            <a:spLocks/>
          </p:cNvSpPr>
          <p:nvPr/>
        </p:nvSpPr>
        <p:spPr>
          <a:xfrm>
            <a:off x="974872" y="1867489"/>
            <a:ext cx="2332000" cy="238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&lt;</a:t>
            </a:r>
            <a:r>
              <a:rPr lang="en-US" altLang="ko-KR" dirty="0" err="1"/>
              <a:t>Wire.h</a:t>
            </a:r>
            <a:r>
              <a:rPr lang="en-US" altLang="ko-KR" dirty="0"/>
              <a:t>&gt;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21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C3782-17B7-5D31-7183-5B7CC2B6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 </a:t>
            </a:r>
            <a:r>
              <a:rPr lang="en-US" altLang="ko-KR" dirty="0"/>
              <a:t>LCD </a:t>
            </a:r>
            <a:r>
              <a:rPr lang="ko-KR" altLang="en-US" dirty="0"/>
              <a:t>라이브러리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D8248-2BB6-2C9E-46EA-916A76C59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 </a:t>
            </a:r>
            <a:r>
              <a:rPr lang="en-US" altLang="ko-KR" dirty="0"/>
              <a:t>LCD</a:t>
            </a:r>
            <a:r>
              <a:rPr lang="ko-KR" altLang="en-US" dirty="0"/>
              <a:t>에 문구 써보기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E03BEF-292C-6106-B232-E34A69E4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14F258-9278-7A4A-EA9C-A30D3B0997F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241B0E-2B11-5395-0490-CBA42270E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37" y="2106244"/>
            <a:ext cx="6390445" cy="285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6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47BAD-CC7C-5C2E-5203-2EBCDC58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F634BC7-754C-AEA0-B90C-A172B9963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60" y="1620511"/>
            <a:ext cx="5139265" cy="49269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9614E5-A94E-AA86-A762-B16C97A2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 </a:t>
            </a:r>
            <a:r>
              <a:rPr lang="en-US" altLang="ko-KR" dirty="0"/>
              <a:t>LCD </a:t>
            </a:r>
            <a:r>
              <a:rPr lang="ko-KR" altLang="en-US" dirty="0"/>
              <a:t>라이브러리 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415F7-7ADD-FE20-DFD7-2237F305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A6F987-CF55-44D8-7731-2AEC649B7D5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93D826-2A30-6B52-70B8-58B013A4087B}"/>
              </a:ext>
            </a:extLst>
          </p:cNvPr>
          <p:cNvSpPr/>
          <p:nvPr/>
        </p:nvSpPr>
        <p:spPr>
          <a:xfrm>
            <a:off x="3144967" y="2133266"/>
            <a:ext cx="1841728" cy="42450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9EC7FC-72C6-93AA-96D5-BC9C0F48ABEE}"/>
              </a:ext>
            </a:extLst>
          </p:cNvPr>
          <p:cNvSpPr/>
          <p:nvPr/>
        </p:nvSpPr>
        <p:spPr>
          <a:xfrm>
            <a:off x="1173269" y="3070523"/>
            <a:ext cx="2070601" cy="8427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830823-C759-715F-F189-0D741BE5F1B5}"/>
              </a:ext>
            </a:extLst>
          </p:cNvPr>
          <p:cNvSpPr/>
          <p:nvPr/>
        </p:nvSpPr>
        <p:spPr>
          <a:xfrm>
            <a:off x="1173270" y="4007779"/>
            <a:ext cx="3148228" cy="124816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A119D7-3BAC-F77F-D250-677AD63C88BA}"/>
              </a:ext>
            </a:extLst>
          </p:cNvPr>
          <p:cNvSpPr txBox="1"/>
          <p:nvPr/>
        </p:nvSpPr>
        <p:spPr>
          <a:xfrm>
            <a:off x="5116795" y="2199323"/>
            <a:ext cx="3514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-lcd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초기화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(i2c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주소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열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1FA51-37C0-BE6C-FF83-40784D988534}"/>
              </a:ext>
            </a:extLst>
          </p:cNvPr>
          <p:cNvSpPr txBox="1"/>
          <p:nvPr/>
        </p:nvSpPr>
        <p:spPr>
          <a:xfrm>
            <a:off x="3383147" y="3070522"/>
            <a:ext cx="3069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-lcd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초기화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-lcd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버퍼 지우기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-lcd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배경 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led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점등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5D4C72-A334-B417-2FEC-AF54C936263C}"/>
              </a:ext>
            </a:extLst>
          </p:cNvPr>
          <p:cNvSpPr txBox="1"/>
          <p:nvPr/>
        </p:nvSpPr>
        <p:spPr>
          <a:xfrm>
            <a:off x="4432014" y="4037679"/>
            <a:ext cx="3069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작성할 위치 설정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열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작성할 문자열 쓰기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C6CAE1-E7DD-3E54-CC14-2B10D71F4D84}"/>
              </a:ext>
            </a:extLst>
          </p:cNvPr>
          <p:cNvSpPr/>
          <p:nvPr/>
        </p:nvSpPr>
        <p:spPr>
          <a:xfrm>
            <a:off x="1173270" y="6048465"/>
            <a:ext cx="1233209" cy="3115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C17814-FB66-41CA-EC0A-901338DBE445}"/>
              </a:ext>
            </a:extLst>
          </p:cNvPr>
          <p:cNvSpPr txBox="1"/>
          <p:nvPr/>
        </p:nvSpPr>
        <p:spPr>
          <a:xfrm>
            <a:off x="2432789" y="6020499"/>
            <a:ext cx="3069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반복할 코드 작성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983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A207B-05A9-2C25-22C1-AE7EEABB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MPU6050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46A000-54D4-920B-602C-419BA612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56BC47-8473-E4B9-51BC-90250F95177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1026" name="Picture 2" descr="아두이노 3축자이로센서(MPU-6050)사용 예제설명 : 네이버 블로그">
            <a:extLst>
              <a:ext uri="{FF2B5EF4-FFF2-40B4-BE49-F238E27FC236}">
                <a16:creationId xmlns:a16="http://schemas.microsoft.com/office/drawing/2014/main" id="{F12FD5F3-1F6C-732A-2FF1-FB55921B94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273" y="2164299"/>
            <a:ext cx="3927388" cy="235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4445AA-A7B1-1523-96F1-9333D3ABD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683" y="2282010"/>
            <a:ext cx="2959252" cy="2121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3D131C-5C75-F6C3-1552-19FB1D8509B2}"/>
              </a:ext>
            </a:extLst>
          </p:cNvPr>
          <p:cNvSpPr txBox="1"/>
          <p:nvPr/>
        </p:nvSpPr>
        <p:spPr>
          <a:xfrm>
            <a:off x="1617268" y="4892562"/>
            <a:ext cx="84477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가속도 센서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시간에 따른 속도의 변화 비율</a:t>
            </a:r>
            <a:endParaRPr lang="en-US" altLang="ko-KR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32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자이로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센서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각속도 측정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기울기 측정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647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52312-E2A2-9B2B-A1A9-8185FC3C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MPU6050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C9CA5B-6861-66F5-3BFE-451A742C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DF60E7-C62F-1530-FEA0-33579BCD099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579BFF8D-0C89-724B-BB8C-703A2D565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215206" y="1965568"/>
            <a:ext cx="4266401" cy="187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8">
            <a:extLst>
              <a:ext uri="{FF2B5EF4-FFF2-40B4-BE49-F238E27FC236}">
                <a16:creationId xmlns:a16="http://schemas.microsoft.com/office/drawing/2014/main" id="{41C5BF10-3B54-BFFE-BBAC-D35A4B5376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47318" y="4156624"/>
            <a:ext cx="2141620" cy="214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DE4398F-4F9A-DAF1-930E-2A130F378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93" y="1747267"/>
            <a:ext cx="6178545" cy="412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23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F62DD-596F-2040-7544-04288A71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MPU6050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1657955-47E6-5027-2047-492E2F065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092" y="1549839"/>
            <a:ext cx="3411401" cy="430420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F28877-8750-1000-7C4E-4A5B14C8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D50677-1BF7-C8E7-AF41-327EB5636BD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0E1308-BC6F-A5F9-7567-672C5B97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025" y="1549839"/>
            <a:ext cx="3177335" cy="32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97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FED5D-E49F-E63A-757F-AA806384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r>
              <a:rPr lang="ko-KR" altLang="en-US" dirty="0"/>
              <a:t>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124B5-5F20-1812-6EDB-C6BD6FB1D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캐릭터 </a:t>
            </a:r>
            <a:r>
              <a:rPr lang="en-US" altLang="ko-KR" dirty="0"/>
              <a:t>LCD</a:t>
            </a:r>
            <a:r>
              <a:rPr lang="ko-KR" altLang="en-US" dirty="0"/>
              <a:t>를 실제 사용하여 </a:t>
            </a:r>
            <a:r>
              <a:rPr lang="ko-KR" altLang="en-US" dirty="0" err="1"/>
              <a:t>온습도</a:t>
            </a:r>
            <a:r>
              <a:rPr lang="ko-KR" altLang="en-US" dirty="0"/>
              <a:t> 센서와 조도 센서 값을 측정 후  출력해 </a:t>
            </a:r>
            <a:r>
              <a:rPr lang="ko-KR" altLang="en-US" dirty="0" err="1"/>
              <a:t>보시오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DC7587-3F28-420F-1799-23AF971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51B207-144A-8698-788C-22AAE12F0CB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43080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10180</TotalTime>
  <Words>439</Words>
  <Application>Microsoft Office PowerPoint</Application>
  <PresentationFormat>와이드스크린</PresentationFormat>
  <Paragraphs>90</Paragraphs>
  <Slides>12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G마켓 산스 Medium</vt:lpstr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I2C</vt:lpstr>
      <vt:lpstr>I2C</vt:lpstr>
      <vt:lpstr>I2C</vt:lpstr>
      <vt:lpstr>I2C</vt:lpstr>
      <vt:lpstr>I2C</vt:lpstr>
      <vt:lpstr>I2C 아두이노 라이브러리</vt:lpstr>
      <vt:lpstr>캐릭터 LCD 라이브러리 실습</vt:lpstr>
      <vt:lpstr>캐릭터 LCD 라이브러리 실습</vt:lpstr>
      <vt:lpstr>MPU6050</vt:lpstr>
      <vt:lpstr>MPU6050</vt:lpstr>
      <vt:lpstr>MPU6050</vt:lpstr>
      <vt:lpstr>I2C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389</cp:revision>
  <dcterms:created xsi:type="dcterms:W3CDTF">2024-10-23T01:56:35Z</dcterms:created>
  <dcterms:modified xsi:type="dcterms:W3CDTF">2025-02-19T09:31:44Z</dcterms:modified>
</cp:coreProperties>
</file>